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5"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12192000"/>
  <p:notesSz cx="6858000" cy="9144000"/>
  <p:embeddedFontLst>
    <p:embeddedFont>
      <p:font typeface="Inter SemiBold"/>
      <p:regular r:id="rId52"/>
      <p:bold r:id="rId53"/>
      <p:italic r:id="rId54"/>
      <p:boldItalic r:id="rId55"/>
    </p:embeddedFont>
    <p:embeddedFont>
      <p:font typeface="Poppins"/>
      <p:regular r:id="rId56"/>
      <p:bold r:id="rId57"/>
      <p:italic r:id="rId58"/>
      <p:boldItalic r:id="rId59"/>
    </p:embeddedFont>
    <p:embeddedFont>
      <p:font typeface="Inter"/>
      <p:regular r:id="rId60"/>
      <p:bold r:id="rId61"/>
      <p:italic r:id="rId62"/>
      <p:boldItalic r:id="rId63"/>
    </p:embeddedFont>
    <p:embeddedFont>
      <p:font typeface="Bebas Neue"/>
      <p:regular r:id="rId64"/>
    </p:embeddedFont>
    <p:embeddedFont>
      <p:font typeface="Syne ExtraBold"/>
      <p:bold r:id="rId65"/>
    </p:embeddedFont>
    <p:embeddedFont>
      <p:font typeface="DM Sans SemiBold"/>
      <p:regular r:id="rId66"/>
      <p:bold r:id="rId67"/>
      <p:italic r:id="rId68"/>
      <p:boldItalic r:id="rId69"/>
    </p:embeddedFont>
    <p:embeddedFont>
      <p:font typeface="Syne"/>
      <p:regular r:id="rId70"/>
      <p:bold r:id="rId71"/>
    </p:embeddedFont>
    <p:embeddedFont>
      <p:font typeface="DM Sans"/>
      <p:regular r:id="rId72"/>
      <p:bold r:id="rId73"/>
      <p:italic r:id="rId74"/>
      <p:boldItalic r:id="rId75"/>
    </p:embeddedFont>
    <p:embeddedFont>
      <p:font typeface="Syne Medium"/>
      <p:regular r:id="rId76"/>
      <p:bold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DMSans-bold.fntdata"/><Relationship Id="rId72" Type="http://schemas.openxmlformats.org/officeDocument/2006/relationships/font" Target="fonts/DMSans-regular.fntdata"/><Relationship Id="rId31" Type="http://schemas.openxmlformats.org/officeDocument/2006/relationships/slide" Target="slides/slide25.xml"/><Relationship Id="rId75" Type="http://schemas.openxmlformats.org/officeDocument/2006/relationships/font" Target="fonts/DMSans-boldItalic.fntdata"/><Relationship Id="rId30" Type="http://schemas.openxmlformats.org/officeDocument/2006/relationships/slide" Target="slides/slide24.xml"/><Relationship Id="rId74" Type="http://schemas.openxmlformats.org/officeDocument/2006/relationships/font" Target="fonts/DMSans-italic.fntdata"/><Relationship Id="rId33" Type="http://schemas.openxmlformats.org/officeDocument/2006/relationships/slide" Target="slides/slide27.xml"/><Relationship Id="rId77" Type="http://schemas.openxmlformats.org/officeDocument/2006/relationships/font" Target="fonts/SyneMedium-bold.fntdata"/><Relationship Id="rId32" Type="http://schemas.openxmlformats.org/officeDocument/2006/relationships/slide" Target="slides/slide26.xml"/><Relationship Id="rId76" Type="http://schemas.openxmlformats.org/officeDocument/2006/relationships/font" Target="fonts/SyneMedium-regular.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Syne-bold.fntdata"/><Relationship Id="rId70" Type="http://schemas.openxmlformats.org/officeDocument/2006/relationships/font" Target="fonts/Syne-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Inter-italic.fntdata"/><Relationship Id="rId61" Type="http://schemas.openxmlformats.org/officeDocument/2006/relationships/font" Target="fonts/Inter-bold.fntdata"/><Relationship Id="rId20" Type="http://schemas.openxmlformats.org/officeDocument/2006/relationships/slide" Target="slides/slide14.xml"/><Relationship Id="rId64" Type="http://schemas.openxmlformats.org/officeDocument/2006/relationships/font" Target="fonts/BebasNeue-regular.fntdata"/><Relationship Id="rId63" Type="http://schemas.openxmlformats.org/officeDocument/2006/relationships/font" Target="fonts/Inter-boldItalic.fntdata"/><Relationship Id="rId22" Type="http://schemas.openxmlformats.org/officeDocument/2006/relationships/slide" Target="slides/slide16.xml"/><Relationship Id="rId66" Type="http://schemas.openxmlformats.org/officeDocument/2006/relationships/font" Target="fonts/DMSansSemiBold-regular.fntdata"/><Relationship Id="rId21" Type="http://schemas.openxmlformats.org/officeDocument/2006/relationships/slide" Target="slides/slide15.xml"/><Relationship Id="rId65" Type="http://schemas.openxmlformats.org/officeDocument/2006/relationships/font" Target="fonts/SyneExtraBold-bold.fntdata"/><Relationship Id="rId24" Type="http://schemas.openxmlformats.org/officeDocument/2006/relationships/slide" Target="slides/slide18.xml"/><Relationship Id="rId68" Type="http://schemas.openxmlformats.org/officeDocument/2006/relationships/font" Target="fonts/DMSansSemiBold-italic.fntdata"/><Relationship Id="rId23" Type="http://schemas.openxmlformats.org/officeDocument/2006/relationships/slide" Target="slides/slide17.xml"/><Relationship Id="rId67" Type="http://schemas.openxmlformats.org/officeDocument/2006/relationships/font" Target="fonts/DMSansSemiBold-bold.fntdata"/><Relationship Id="rId60" Type="http://schemas.openxmlformats.org/officeDocument/2006/relationships/font" Target="fonts/Inter-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DMSansSemiBold-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InterSemiBold-bold.fntdata"/><Relationship Id="rId52" Type="http://schemas.openxmlformats.org/officeDocument/2006/relationships/font" Target="fonts/InterSemiBold-regular.fntdata"/><Relationship Id="rId11" Type="http://schemas.openxmlformats.org/officeDocument/2006/relationships/slide" Target="slides/slide5.xml"/><Relationship Id="rId55" Type="http://schemas.openxmlformats.org/officeDocument/2006/relationships/font" Target="fonts/InterSemiBold-boldItalic.fntdata"/><Relationship Id="rId10" Type="http://schemas.openxmlformats.org/officeDocument/2006/relationships/slide" Target="slides/slide4.xml"/><Relationship Id="rId54" Type="http://schemas.openxmlformats.org/officeDocument/2006/relationships/font" Target="fonts/InterSemiBold-italic.fntdata"/><Relationship Id="rId13" Type="http://schemas.openxmlformats.org/officeDocument/2006/relationships/slide" Target="slides/slide7.xml"/><Relationship Id="rId57" Type="http://schemas.openxmlformats.org/officeDocument/2006/relationships/font" Target="fonts/Poppins-bold.fntdata"/><Relationship Id="rId12" Type="http://schemas.openxmlformats.org/officeDocument/2006/relationships/slide" Target="slides/slide6.xml"/><Relationship Id="rId56" Type="http://schemas.openxmlformats.org/officeDocument/2006/relationships/font" Target="fonts/Poppins-regular.fntdata"/><Relationship Id="rId15" Type="http://schemas.openxmlformats.org/officeDocument/2006/relationships/slide" Target="slides/slide9.xml"/><Relationship Id="rId59" Type="http://schemas.openxmlformats.org/officeDocument/2006/relationships/font" Target="fonts/Poppins-boldItalic.fntdata"/><Relationship Id="rId14" Type="http://schemas.openxmlformats.org/officeDocument/2006/relationships/slide" Target="slides/slide8.xml"/><Relationship Id="rId58" Type="http://schemas.openxmlformats.org/officeDocument/2006/relationships/font" Target="fonts/Poppi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P1</a:t>
            </a:r>
            <a:endParaRPr/>
          </a:p>
        </p:txBody>
      </p:sp>
      <p:sp>
        <p:nvSpPr>
          <p:cNvPr id="150" name="Google Shape;15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P1</a:t>
            </a:r>
            <a:endParaRPr/>
          </a:p>
          <a:p>
            <a:pPr indent="0" lvl="0" marL="0" rtl="0" algn="l">
              <a:spcBef>
                <a:spcPts val="0"/>
              </a:spcBef>
              <a:spcAft>
                <a:spcPts val="0"/>
              </a:spcAft>
              <a:buNone/>
            </a:pPr>
            <a:r>
              <a:rPr lang="en-US"/>
              <a:t>hablar de q team es cada y poner orden segun hablamos</a:t>
            </a:r>
            <a:endParaRPr/>
          </a:p>
        </p:txBody>
      </p:sp>
      <p:sp>
        <p:nvSpPr>
          <p:cNvPr id="158" name="Google Shape;15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d4c2767d4_25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P1</a:t>
            </a:r>
            <a:endParaRPr sz="1200">
              <a:solidFill>
                <a:schemeClr val="dk1"/>
              </a:solidFill>
              <a:latin typeface="DM Sans"/>
              <a:ea typeface="DM Sans"/>
              <a:cs typeface="DM Sans"/>
              <a:sym typeface="DM Sans"/>
            </a:endParaRPr>
          </a:p>
          <a:p>
            <a:pPr indent="0" lvl="0" marL="0" rtl="0" algn="l">
              <a:lnSpc>
                <a:spcPct val="149960"/>
              </a:lnSpc>
              <a:spcBef>
                <a:spcPts val="0"/>
              </a:spcBef>
              <a:spcAft>
                <a:spcPts val="0"/>
              </a:spcAft>
              <a:buClr>
                <a:schemeClr val="dk1"/>
              </a:buClr>
              <a:buFont typeface="Arial"/>
              <a:buNone/>
            </a:pPr>
            <a:r>
              <a:rPr lang="en-US" sz="1200">
                <a:solidFill>
                  <a:schemeClr val="dk1"/>
                </a:solidFill>
                <a:latin typeface="DM Sans"/>
                <a:ea typeface="DM Sans"/>
                <a:cs typeface="DM Sans"/>
                <a:sym typeface="DM Sans"/>
              </a:rPr>
              <a:t>Traditional guidance systems rely on archaic, static, and generalized tests. Students face structural disorientation, leading to high friction in their career paths.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lnSpc>
                <a:spcPct val="140000"/>
              </a:lnSpc>
              <a:spcBef>
                <a:spcPts val="0"/>
              </a:spcBef>
              <a:spcAft>
                <a:spcPts val="0"/>
              </a:spcAft>
              <a:buClr>
                <a:schemeClr val="dk1"/>
              </a:buClr>
              <a:buFont typeface="Arial"/>
              <a:buNone/>
            </a:pPr>
            <a:r>
              <a:rPr b="1" lang="en-US" sz="1200">
                <a:solidFill>
                  <a:schemeClr val="dk1"/>
                </a:solidFill>
                <a:latin typeface="DM Sans"/>
                <a:ea typeface="DM Sans"/>
                <a:cs typeface="DM Sans"/>
                <a:sym typeface="DM Sans"/>
              </a:rPr>
              <a:t>Outdated, Static Instruments:</a:t>
            </a:r>
            <a:r>
              <a:rPr lang="en-US" sz="1200">
                <a:solidFill>
                  <a:schemeClr val="dk1"/>
                </a:solidFill>
                <a:latin typeface="DM Sans"/>
                <a:ea typeface="DM Sans"/>
                <a:cs typeface="DM Sans"/>
                <a:sym typeface="DM Sans"/>
              </a:rPr>
              <a:t> Existing counseling tools are simple rule-based templates that fail to capture modern multi-dimensional interests.</a:t>
            </a:r>
            <a:endParaRPr sz="1200">
              <a:solidFill>
                <a:schemeClr val="dk1"/>
              </a:solidFill>
            </a:endParaRPr>
          </a:p>
          <a:p>
            <a:pPr indent="0" lvl="0" marL="0" rtl="0" algn="l">
              <a:spcBef>
                <a:spcPts val="0"/>
              </a:spcBef>
              <a:spcAft>
                <a:spcPts val="0"/>
              </a:spcAft>
              <a:buNone/>
            </a:pPr>
            <a:r>
              <a:rPr lang="en-US" sz="1200">
                <a:solidFill>
                  <a:schemeClr val="dk1"/>
                </a:solidFill>
              </a:rPr>
              <a:t>"The Elimination Strategy": Students blindly discard hated subjects or yield to external societal or parental expectations.</a:t>
            </a:r>
            <a:endParaRPr sz="1200">
              <a:solidFill>
                <a:schemeClr val="dk1"/>
              </a:solidFill>
            </a:endParaRPr>
          </a:p>
          <a:p>
            <a:pPr indent="0" lvl="0" marL="0" rtl="0" algn="l">
              <a:spcBef>
                <a:spcPts val="0"/>
              </a:spcBef>
              <a:spcAft>
                <a:spcPts val="0"/>
              </a:spcAft>
              <a:buNone/>
            </a:pPr>
            <a:r>
              <a:rPr lang="en-US" sz="1200">
                <a:solidFill>
                  <a:schemeClr val="dk1"/>
                </a:solidFill>
              </a:rPr>
              <a:t>Severe personalImpact: High drop-out rates, acute personal frustration, and resource-intensive academic abandonment.</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
        <p:nvSpPr>
          <p:cNvPr id="201" name="Google Shape;201;g3fd4c2767d4_25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409577ab98a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409577ab98a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P1</a:t>
            </a:r>
            <a:endParaRPr>
              <a:solidFill>
                <a:schemeClr val="dk1"/>
              </a:solidFill>
            </a:endParaRPr>
          </a:p>
          <a:p>
            <a:pPr indent="0" lvl="0" marL="0" rtl="0" algn="just">
              <a:lnSpc>
                <a:spcPct val="115000"/>
              </a:lnSpc>
              <a:spcBef>
                <a:spcPts val="0"/>
              </a:spcBef>
              <a:spcAft>
                <a:spcPts val="0"/>
              </a:spcAft>
              <a:buNone/>
            </a:pPr>
            <a:r>
              <a:rPr lang="en-US">
                <a:solidFill>
                  <a:schemeClr val="dk1"/>
                </a:solidFill>
              </a:rPr>
              <a:t>So, as we mentioned, there is a clear demand for a new type of solution, so we looked at what already exists in the market. There are several interesting approaches using AI in career guidance.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n-US">
                <a:solidFill>
                  <a:schemeClr val="dk1"/>
                </a:solidFill>
              </a:rPr>
              <a:t>For example, some platforms like Pymetrics use neuroscience-based games to assess cognitive and emotional traits. Others, like AI career coaches, use conversational AI to guide users. We also see solutions based on big data, which analyze the career paths of millions of professionals to suggest possible futures. So overall, these tools are clearly moving in the right direction, they use AI, personalization, and data.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n-US">
                <a:solidFill>
                  <a:schemeClr val="dk1"/>
                </a:solidFill>
              </a:rPr>
              <a:t>However, despite these advances, they still don’t fully solve the problem we identified.</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P1</a:t>
            </a:r>
            <a:endParaRPr sz="1600">
              <a:solidFill>
                <a:schemeClr val="dk1"/>
              </a:solidFill>
              <a:latin typeface="DM Sans"/>
              <a:ea typeface="DM Sans"/>
              <a:cs typeface="DM Sans"/>
              <a:sym typeface="DM Sans"/>
            </a:endParaRPr>
          </a:p>
          <a:p>
            <a:pPr indent="0" lvl="0" marL="0" rtl="0" algn="l">
              <a:lnSpc>
                <a:spcPct val="149960"/>
              </a:lnSpc>
              <a:spcBef>
                <a:spcPts val="0"/>
              </a:spcBef>
              <a:spcAft>
                <a:spcPts val="0"/>
              </a:spcAft>
              <a:buClr>
                <a:schemeClr val="dk1"/>
              </a:buClr>
              <a:buFont typeface="Arial"/>
              <a:buNone/>
            </a:pPr>
            <a:r>
              <a:t/>
            </a:r>
            <a:endParaRPr sz="1600">
              <a:solidFill>
                <a:srgbClr val="94A3B8"/>
              </a:solidFill>
              <a:latin typeface="DM Sans"/>
              <a:ea typeface="DM Sans"/>
              <a:cs typeface="DM Sans"/>
              <a:sym typeface="DM Sans"/>
            </a:endParaRPr>
          </a:p>
          <a:p>
            <a:pPr indent="0" lvl="0" marL="0" rtl="0" algn="l">
              <a:lnSpc>
                <a:spcPct val="149960"/>
              </a:lnSpc>
              <a:spcBef>
                <a:spcPts val="0"/>
              </a:spcBef>
              <a:spcAft>
                <a:spcPts val="0"/>
              </a:spcAft>
              <a:buClr>
                <a:schemeClr val="dk1"/>
              </a:buClr>
              <a:buFont typeface="Arial"/>
              <a:buNone/>
            </a:pPr>
            <a:r>
              <a:rPr lang="en-US" sz="1600">
                <a:solidFill>
                  <a:srgbClr val="94A3B8"/>
                </a:solidFill>
                <a:latin typeface="DM Sans"/>
                <a:ea typeface="DM Sans"/>
                <a:cs typeface="DM Sans"/>
                <a:sym typeface="DM Sans"/>
              </a:rPr>
              <a:t>as presented on the mid presentation- We conducted exhaustive research at Lodz University of Technology to confirm the theoretical crisis through real student experiences.</a:t>
            </a:r>
            <a:endParaRPr sz="1600">
              <a:solidFill>
                <a:schemeClr val="dk1"/>
              </a:solidFill>
            </a:endParaRPr>
          </a:p>
          <a:p>
            <a:pPr indent="0" lvl="0" marL="0" rtl="0" algn="l">
              <a:lnSpc>
                <a:spcPct val="150000"/>
              </a:lnSpc>
              <a:spcBef>
                <a:spcPts val="0"/>
              </a:spcBef>
              <a:spcAft>
                <a:spcPts val="0"/>
              </a:spcAft>
              <a:buNone/>
            </a:pPr>
            <a:r>
              <a:t/>
            </a:r>
            <a:endParaRPr sz="1050">
              <a:solidFill>
                <a:srgbClr val="94A3B8"/>
              </a:solidFill>
              <a:latin typeface="DM Sans"/>
              <a:ea typeface="DM Sans"/>
              <a:cs typeface="DM Sans"/>
              <a:sym typeface="DM Sans"/>
            </a:endParaRPr>
          </a:p>
          <a:p>
            <a:pPr indent="0" lvl="0" marL="0" rtl="0" algn="l">
              <a:lnSpc>
                <a:spcPct val="150000"/>
              </a:lnSpc>
              <a:spcBef>
                <a:spcPts val="0"/>
              </a:spcBef>
              <a:spcAft>
                <a:spcPts val="0"/>
              </a:spcAft>
              <a:buNone/>
            </a:pPr>
            <a:r>
              <a:rPr lang="en-US" sz="1050">
                <a:solidFill>
                  <a:srgbClr val="94A3B8"/>
                </a:solidFill>
                <a:latin typeface="DM Sans"/>
                <a:ea typeface="DM Sans"/>
                <a:cs typeface="DM Sans"/>
                <a:sym typeface="DM Sans"/>
              </a:rPr>
              <a:t>Qualitative validation: Conducted deep group interviews with active university students. Results showed a severe information gap: students were completely overwhelmed by academic offerings and lacked clear ways to translate high school traits into specific engineering degrees.</a:t>
            </a:r>
            <a:endParaRPr sz="1050">
              <a:solidFill>
                <a:srgbClr val="94A3B8"/>
              </a:solidFill>
              <a:latin typeface="DM Sans"/>
              <a:ea typeface="DM Sans"/>
              <a:cs typeface="DM Sans"/>
              <a:sym typeface="DM Sans"/>
            </a:endParaRPr>
          </a:p>
          <a:p>
            <a:pPr indent="0" lvl="0" marL="0" rtl="0" algn="l">
              <a:lnSpc>
                <a:spcPct val="150000"/>
              </a:lnSpc>
              <a:spcBef>
                <a:spcPts val="0"/>
              </a:spcBef>
              <a:spcAft>
                <a:spcPts val="0"/>
              </a:spcAft>
              <a:buNone/>
            </a:pPr>
            <a:r>
              <a:rPr lang="en-US" sz="1050">
                <a:solidFill>
                  <a:srgbClr val="94A3B8"/>
                </a:solidFill>
                <a:latin typeface="DM Sans"/>
                <a:ea typeface="DM Sans"/>
                <a:cs typeface="DM Sans"/>
                <a:sym typeface="DM Sans"/>
              </a:rPr>
              <a:t>Quantitative survey: Deployed a structured Google Forms survey across Lodz. Gathered 238 initial student datasets containing 25 Likert-scale questions on task preferences, current fields, and a self-reported 0–100 career satisfaction score.</a:t>
            </a:r>
            <a:endParaRPr sz="1400">
              <a:solidFill>
                <a:schemeClr val="dk1"/>
              </a:solidFill>
            </a:endParaRPr>
          </a:p>
          <a:p>
            <a:pPr indent="0" lvl="0" marL="0" rtl="0" algn="l">
              <a:lnSpc>
                <a:spcPct val="150000"/>
              </a:lnSpc>
              <a:spcBef>
                <a:spcPts val="0"/>
              </a:spcBef>
              <a:spcAft>
                <a:spcPts val="0"/>
              </a:spcAft>
              <a:buClr>
                <a:schemeClr val="dk1"/>
              </a:buClr>
              <a:buFont typeface="Arial"/>
              <a:buNone/>
            </a:pPr>
            <a:r>
              <a:t/>
            </a:r>
            <a:endParaRPr sz="1050">
              <a:solidFill>
                <a:srgbClr val="94A3B8"/>
              </a:solidFill>
              <a:latin typeface="DM Sans"/>
              <a:ea typeface="DM Sans"/>
              <a:cs typeface="DM Sans"/>
              <a:sym typeface="DM Sans"/>
            </a:endParaRPr>
          </a:p>
        </p:txBody>
      </p:sp>
      <p:sp>
        <p:nvSpPr>
          <p:cNvPr id="243" name="Google Shape;24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4095939e25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P1</a:t>
            </a:r>
            <a:endParaRPr sz="1600">
              <a:solidFill>
                <a:schemeClr val="dk1"/>
              </a:solidFill>
              <a:latin typeface="DM Sans"/>
              <a:ea typeface="DM Sans"/>
              <a:cs typeface="DM Sans"/>
              <a:sym typeface="DM Sans"/>
            </a:endParaRPr>
          </a:p>
          <a:p>
            <a:pPr indent="0" lvl="0" marL="0" rtl="0" algn="l">
              <a:lnSpc>
                <a:spcPct val="149960"/>
              </a:lnSpc>
              <a:spcBef>
                <a:spcPts val="0"/>
              </a:spcBef>
              <a:spcAft>
                <a:spcPts val="0"/>
              </a:spcAft>
              <a:buClr>
                <a:schemeClr val="dk1"/>
              </a:buClr>
              <a:buFont typeface="Arial"/>
              <a:buNone/>
            </a:pPr>
            <a:r>
              <a:t/>
            </a:r>
            <a:endParaRPr sz="1600">
              <a:solidFill>
                <a:srgbClr val="94A3B8"/>
              </a:solidFill>
              <a:latin typeface="DM Sans"/>
              <a:ea typeface="DM Sans"/>
              <a:cs typeface="DM Sans"/>
              <a:sym typeface="DM Sans"/>
            </a:endParaRPr>
          </a:p>
          <a:p>
            <a:pPr indent="0" lvl="0" marL="0" rtl="0" algn="l">
              <a:lnSpc>
                <a:spcPct val="149960"/>
              </a:lnSpc>
              <a:spcBef>
                <a:spcPts val="0"/>
              </a:spcBef>
              <a:spcAft>
                <a:spcPts val="0"/>
              </a:spcAft>
              <a:buClr>
                <a:schemeClr val="dk1"/>
              </a:buClr>
              <a:buFont typeface="Arial"/>
              <a:buNone/>
            </a:pPr>
            <a:r>
              <a:rPr lang="en-US" sz="1600">
                <a:solidFill>
                  <a:srgbClr val="94A3B8"/>
                </a:solidFill>
                <a:latin typeface="DM Sans"/>
                <a:ea typeface="DM Sans"/>
                <a:cs typeface="DM Sans"/>
                <a:sym typeface="DM Sans"/>
              </a:rPr>
              <a:t>as presented on the mid presentation- We conducted exhaustive research at Lodz University of Technology to confirm the theoretical crisis through real student experiences.</a:t>
            </a:r>
            <a:endParaRPr sz="1600">
              <a:solidFill>
                <a:schemeClr val="dk1"/>
              </a:solidFill>
            </a:endParaRPr>
          </a:p>
          <a:p>
            <a:pPr indent="0" lvl="0" marL="0" rtl="0" algn="l">
              <a:lnSpc>
                <a:spcPct val="150000"/>
              </a:lnSpc>
              <a:spcBef>
                <a:spcPts val="0"/>
              </a:spcBef>
              <a:spcAft>
                <a:spcPts val="0"/>
              </a:spcAft>
              <a:buNone/>
            </a:pPr>
            <a:r>
              <a:t/>
            </a:r>
            <a:endParaRPr sz="1050">
              <a:solidFill>
                <a:srgbClr val="94A3B8"/>
              </a:solidFill>
              <a:latin typeface="DM Sans"/>
              <a:ea typeface="DM Sans"/>
              <a:cs typeface="DM Sans"/>
              <a:sym typeface="DM Sans"/>
            </a:endParaRPr>
          </a:p>
          <a:p>
            <a:pPr indent="0" lvl="0" marL="0" rtl="0" algn="l">
              <a:lnSpc>
                <a:spcPct val="150000"/>
              </a:lnSpc>
              <a:spcBef>
                <a:spcPts val="0"/>
              </a:spcBef>
              <a:spcAft>
                <a:spcPts val="0"/>
              </a:spcAft>
              <a:buNone/>
            </a:pPr>
            <a:r>
              <a:rPr lang="en-US" sz="1050">
                <a:solidFill>
                  <a:srgbClr val="94A3B8"/>
                </a:solidFill>
                <a:latin typeface="DM Sans"/>
                <a:ea typeface="DM Sans"/>
                <a:cs typeface="DM Sans"/>
                <a:sym typeface="DM Sans"/>
              </a:rPr>
              <a:t>Qualitative validation: Conducted deep group interviews with active university students. Results showed a severe information gap: students were completely overwhelmed by academic offerings and lacked clear ways to translate high school traits into specific engineering degrees.</a:t>
            </a:r>
            <a:endParaRPr sz="1050">
              <a:solidFill>
                <a:srgbClr val="94A3B8"/>
              </a:solidFill>
              <a:latin typeface="DM Sans"/>
              <a:ea typeface="DM Sans"/>
              <a:cs typeface="DM Sans"/>
              <a:sym typeface="DM Sans"/>
            </a:endParaRPr>
          </a:p>
          <a:p>
            <a:pPr indent="0" lvl="0" marL="0" rtl="0" algn="l">
              <a:lnSpc>
                <a:spcPct val="150000"/>
              </a:lnSpc>
              <a:spcBef>
                <a:spcPts val="0"/>
              </a:spcBef>
              <a:spcAft>
                <a:spcPts val="0"/>
              </a:spcAft>
              <a:buNone/>
            </a:pPr>
            <a:r>
              <a:rPr lang="en-US" sz="1050">
                <a:solidFill>
                  <a:srgbClr val="94A3B8"/>
                </a:solidFill>
                <a:latin typeface="DM Sans"/>
                <a:ea typeface="DM Sans"/>
                <a:cs typeface="DM Sans"/>
                <a:sym typeface="DM Sans"/>
              </a:rPr>
              <a:t>Quantitative survey: Deployed a structured Google Forms survey across Lodz. Gathered 238 initial student datasets containing 25 Likert-scale questions on task preferences, current fields, and a self-reported 0–100 career satisfaction score.</a:t>
            </a:r>
            <a:endParaRPr sz="1400">
              <a:solidFill>
                <a:schemeClr val="dk1"/>
              </a:solidFill>
            </a:endParaRPr>
          </a:p>
          <a:p>
            <a:pPr indent="0" lvl="0" marL="0" rtl="0" algn="l">
              <a:lnSpc>
                <a:spcPct val="150000"/>
              </a:lnSpc>
              <a:spcBef>
                <a:spcPts val="0"/>
              </a:spcBef>
              <a:spcAft>
                <a:spcPts val="0"/>
              </a:spcAft>
              <a:buClr>
                <a:schemeClr val="dk1"/>
              </a:buClr>
              <a:buFont typeface="Arial"/>
              <a:buNone/>
            </a:pPr>
            <a:r>
              <a:t/>
            </a:r>
            <a:endParaRPr sz="1050">
              <a:solidFill>
                <a:srgbClr val="94A3B8"/>
              </a:solidFill>
              <a:latin typeface="DM Sans"/>
              <a:ea typeface="DM Sans"/>
              <a:cs typeface="DM Sans"/>
              <a:sym typeface="DM Sans"/>
            </a:endParaRPr>
          </a:p>
        </p:txBody>
      </p:sp>
      <p:sp>
        <p:nvSpPr>
          <p:cNvPr id="259" name="Google Shape;259;g4095939e25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4eca2cd5a_0_2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P1</a:t>
            </a:r>
            <a:endParaRPr/>
          </a:p>
          <a:p>
            <a:pPr indent="0" lvl="0" marL="0" rtl="0" algn="l">
              <a:spcBef>
                <a:spcPts val="0"/>
              </a:spcBef>
              <a:spcAft>
                <a:spcPts val="0"/>
              </a:spcAft>
              <a:buNone/>
            </a:pPr>
            <a:r>
              <a:rPr lang="en-US"/>
              <a:t>need of an ai model that not only guides into the area of study but also helps predict satisfcation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Instead of relying on single categorical labels, our intelligent model maps student profiles dynamically onto multiple dimensions.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"Where" &amp; "How Much" Concept:</a:t>
            </a:r>
            <a:endParaRPr/>
          </a:p>
          <a:p>
            <a:pPr indent="0" lvl="0" marL="0" rtl="0" algn="l">
              <a:spcBef>
                <a:spcPts val="0"/>
              </a:spcBef>
              <a:spcAft>
                <a:spcPts val="0"/>
              </a:spcAft>
              <a:buNone/>
            </a:pPr>
            <a:r>
              <a:rPr lang="en-US">
                <a:solidFill>
                  <a:schemeClr val="dk1"/>
                </a:solidFill>
              </a:rPr>
              <a:t> Our system predicts both the most compatible overarching academic area (Stage 1) and a continuous expected satisfaction score from 0% to 100% (Stage 2) to proactively mitigate university dropout risk.</a:t>
            </a:r>
            <a:br>
              <a:rPr lang="en-US">
                <a:solidFill>
                  <a:schemeClr val="dk1"/>
                </a:solidFill>
              </a:rPr>
            </a:br>
            <a:br>
              <a:rPr lang="en-US">
                <a:solidFill>
                  <a:schemeClr val="dk1"/>
                </a:solidFill>
              </a:rPr>
            </a:br>
            <a:r>
              <a:rPr lang="en-US">
                <a:solidFill>
                  <a:schemeClr val="dk1"/>
                </a:solidFill>
              </a:rPr>
              <a:t>Predict “Where”: </a:t>
            </a:r>
            <a:r>
              <a:rPr lang="en-US" sz="1350">
                <a:solidFill>
                  <a:schemeClr val="dk1"/>
                </a:solidFill>
                <a:latin typeface="DM Sans"/>
                <a:ea typeface="DM Sans"/>
                <a:cs typeface="DM Sans"/>
                <a:sym typeface="DM Sans"/>
              </a:rPr>
              <a:t>ptitude Mapping: Identifies the most compatible Field of Study based on behavioral indicators.</a:t>
            </a:r>
            <a:endParaRPr sz="1350">
              <a:solidFill>
                <a:schemeClr val="dk1"/>
              </a:solidFill>
              <a:latin typeface="DM Sans"/>
              <a:ea typeface="DM Sans"/>
              <a:cs typeface="DM Sans"/>
              <a:sym typeface="DM Sans"/>
            </a:endParaRPr>
          </a:p>
          <a:p>
            <a:pPr indent="0" lvl="0" marL="0" rtl="0" algn="l">
              <a:spcBef>
                <a:spcPts val="0"/>
              </a:spcBef>
              <a:spcAft>
                <a:spcPts val="0"/>
              </a:spcAft>
              <a:buNone/>
            </a:pPr>
            <a:r>
              <a:rPr lang="en-US" sz="1350">
                <a:solidFill>
                  <a:schemeClr val="dk1"/>
                </a:solidFill>
                <a:latin typeface="DM Sans"/>
                <a:ea typeface="DM Sans"/>
                <a:cs typeface="DM Sans"/>
                <a:sym typeface="DM Sans"/>
              </a:rPr>
              <a:t>Predict “How Much”: Fulfillment Score: Forecasts a Satisfaction Score (0-100) to mitigate dropout risk.</a:t>
            </a:r>
            <a:endParaRPr sz="1350">
              <a:solidFill>
                <a:schemeClr val="dk1"/>
              </a:solidFill>
              <a:latin typeface="DM Sans"/>
              <a:ea typeface="DM Sans"/>
              <a:cs typeface="DM Sans"/>
              <a:sym typeface="DM Sans"/>
            </a:endParaRPr>
          </a:p>
          <a:p>
            <a:pPr indent="0" lvl="0" marL="0" rtl="0" algn="l">
              <a:spcBef>
                <a:spcPts val="0"/>
              </a:spcBef>
              <a:spcAft>
                <a:spcPts val="0"/>
              </a:spcAft>
              <a:buNone/>
            </a:pPr>
            <a:r>
              <a:rPr lang="en-US" sz="1350">
                <a:solidFill>
                  <a:schemeClr val="dk1"/>
                </a:solidFill>
                <a:latin typeface="DM Sans"/>
                <a:ea typeface="DM Sans"/>
                <a:cs typeface="DM Sans"/>
                <a:sym typeface="DM Sans"/>
              </a:rPr>
              <a:t>Predict “What”: Concrete Roadmap: Routes technical profiles to specific faculties at Lodz University of Technology.</a:t>
            </a:r>
            <a:endParaRPr sz="1350">
              <a:solidFill>
                <a:schemeClr val="dk1"/>
              </a:solidFill>
              <a:latin typeface="DM Sans"/>
              <a:ea typeface="DM Sans"/>
              <a:cs typeface="DM Sans"/>
              <a:sym typeface="DM San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6" name="Google Shape;276;g3e4eca2cd5a_0_27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409577ab98a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409577ab98a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 que digo: </a:t>
            </a:r>
            <a:r>
              <a:rPr lang="en-US">
                <a:solidFill>
                  <a:schemeClr val="dk1"/>
                </a:solidFill>
              </a:rPr>
              <a:t>To understand our impact, we must look at who we are building for.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Our </a:t>
            </a:r>
            <a:r>
              <a:rPr b="1" lang="en-US">
                <a:solidFill>
                  <a:schemeClr val="dk1"/>
                </a:solidFill>
              </a:rPr>
              <a:t>Primary users</a:t>
            </a:r>
            <a:r>
              <a:rPr lang="en-US">
                <a:solidFill>
                  <a:schemeClr val="dk1"/>
                </a:solidFill>
              </a:rPr>
              <a:t> are students who are facing 'choice paralysis' and need personalized, data-backed guidance.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Secondary stakeholders</a:t>
            </a:r>
            <a:r>
              <a:rPr lang="en-US">
                <a:solidFill>
                  <a:schemeClr val="dk1"/>
                </a:solidFill>
              </a:rPr>
              <a:t> include parents and counselors, who need objective metrics to support student wellbeing and remove the guesswork from the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Finally, we provide massive value to </a:t>
            </a:r>
            <a:r>
              <a:rPr b="1" lang="en-US">
                <a:solidFill>
                  <a:schemeClr val="dk1"/>
                </a:solidFill>
              </a:rPr>
              <a:t>Universities and Employers</a:t>
            </a:r>
            <a:r>
              <a:rPr lang="en-US">
                <a:solidFill>
                  <a:schemeClr val="dk1"/>
                </a:solidFill>
              </a:rPr>
              <a:t>. By ensuring a genuine 'Person-Environment Fit,' we help them drastically reduce dropout rates and hire professionals who are actually aligned with their roles."</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US"/>
            </a:br>
            <a:r>
              <a:rPr lang="en-US"/>
              <a:t>Our solution targets three main groups: First, students, who need personalized guidance. Second, counselors and parents, who want objective data. And third, universities and employers, who want better alignment and lower dropout rates.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just">
              <a:lnSpc>
                <a:spcPct val="162857"/>
              </a:lnSpc>
              <a:spcBef>
                <a:spcPts val="0"/>
              </a:spcBef>
              <a:spcAft>
                <a:spcPts val="0"/>
              </a:spcAft>
              <a:buNone/>
            </a:pPr>
            <a:r>
              <a:rPr lang="en-US" sz="1096">
                <a:solidFill>
                  <a:schemeClr val="dk1"/>
                </a:solidFill>
                <a:latin typeface="Poppins"/>
                <a:ea typeface="Poppins"/>
                <a:cs typeface="Poppins"/>
                <a:sym typeface="Poppins"/>
              </a:rPr>
              <a:t>Pre-university or university students with doubts seeking data-validated, personalized career recommendations.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rPr lang="en-US" sz="1096">
                <a:solidFill>
                  <a:schemeClr val="dk1"/>
                </a:solidFill>
                <a:latin typeface="Poppins"/>
                <a:ea typeface="Poppins"/>
                <a:cs typeface="Poppins"/>
                <a:sym typeface="Poppins"/>
              </a:rPr>
              <a:t>School counselors and families seeking objective data to reduce uncertainty and support student wellbeing.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rPr lang="en-US" sz="1096">
                <a:solidFill>
                  <a:schemeClr val="dk1"/>
                </a:solidFill>
                <a:latin typeface="Poppins"/>
                <a:ea typeface="Poppins"/>
                <a:cs typeface="Poppins"/>
                <a:sym typeface="Poppins"/>
              </a:rPr>
              <a:t>Institutions seeking to reduce dropout rates and hire professionals with genuine Person-Environment Fit.</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None/>
            </a:pPr>
            <a:r>
              <a:t/>
            </a:r>
            <a:endParaRPr sz="1096">
              <a:solidFill>
                <a:schemeClr val="dk1"/>
              </a:solidFill>
              <a:latin typeface="Poppins"/>
              <a:ea typeface="Poppins"/>
              <a:cs typeface="Poppins"/>
              <a:sym typeface="Poppins"/>
            </a:endParaRPr>
          </a:p>
          <a:p>
            <a:pPr indent="0" lvl="0" marL="0" rtl="0" algn="just">
              <a:lnSpc>
                <a:spcPct val="162857"/>
              </a:lnSpc>
              <a:spcBef>
                <a:spcPts val="0"/>
              </a:spcBef>
              <a:spcAft>
                <a:spcPts val="0"/>
              </a:spcAft>
              <a:buClr>
                <a:srgbClr val="4C4C4C"/>
              </a:buClr>
              <a:buSzPts val="1096"/>
              <a:buFont typeface="Arial"/>
              <a:buNone/>
            </a:pPr>
            <a:r>
              <a:t/>
            </a:r>
            <a:endParaRPr sz="1096">
              <a:solidFill>
                <a:schemeClr val="dk1"/>
              </a:solidFill>
              <a:latin typeface="Poppins"/>
              <a:ea typeface="Poppins"/>
              <a:cs typeface="Poppins"/>
              <a:sym typeface="Poppi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4095939e25a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P2</a:t>
            </a:r>
            <a:endParaRPr/>
          </a:p>
          <a:p>
            <a:pPr indent="0" lvl="0" marL="0" rtl="0" algn="l">
              <a:spcBef>
                <a:spcPts val="0"/>
              </a:spcBef>
              <a:spcAft>
                <a:spcPts val="0"/>
              </a:spcAft>
              <a:buNone/>
            </a:pPr>
            <a:r>
              <a:rPr lang="en-US"/>
              <a:t>AÑADIR FOTOS DDE CADA UNO</a:t>
            </a:r>
            <a:endParaRPr/>
          </a:p>
          <a:p>
            <a:pPr indent="0" lvl="0" marL="0" rtl="0" algn="l">
              <a:spcBef>
                <a:spcPts val="0"/>
              </a:spcBef>
              <a:spcAft>
                <a:spcPts val="0"/>
              </a:spcAft>
              <a:buNone/>
            </a:pPr>
            <a:r>
              <a:rPr lang="en-US"/>
              <a:t>Software Development Team: </a:t>
            </a:r>
            <a:r>
              <a:rPr lang="en-US" sz="1125">
                <a:solidFill>
                  <a:srgbClr val="94A3B8"/>
                </a:solidFill>
                <a:latin typeface="Inter"/>
                <a:ea typeface="Inter"/>
                <a:cs typeface="Inter"/>
                <a:sym typeface="Inter"/>
              </a:rPr>
              <a:t>Engineered the client-facing architecture. Built the pure-Python Streamlit web interface with a dark-navy design system. Implemented Google Fonts styling (Syne &amp; DM Sans), real-time progress indicators, custom reactive star-rating selectors, and a zero-loss JSON output handoff module to save user features silently.</a:t>
            </a:r>
            <a:endParaRPr sz="1400">
              <a:solidFill>
                <a:schemeClr val="dk1"/>
              </a:solidFill>
            </a:endParaRPr>
          </a:p>
          <a:p>
            <a:pPr indent="0" lvl="0" marL="0" rtl="0" algn="l">
              <a:spcBef>
                <a:spcPts val="0"/>
              </a:spcBef>
              <a:spcAft>
                <a:spcPts val="0"/>
              </a:spcAft>
              <a:buNone/>
            </a:pPr>
            <a:r>
              <a:rPr lang="en-US"/>
              <a:t>Machine LearningSub-team: </a:t>
            </a:r>
            <a:r>
              <a:rPr lang="en-US" sz="1125">
                <a:solidFill>
                  <a:srgbClr val="94A3B8"/>
                </a:solidFill>
                <a:latin typeface="Inter"/>
                <a:ea typeface="Inter"/>
                <a:cs typeface="Inter"/>
                <a:sym typeface="Inter"/>
              </a:rPr>
              <a:t>Executed extensive data engineering on 145,000 baseline OpenPsychometrics records. Developed standard normalization scripts, executed dimensionality reduction, applied statistical ranking metrics, trained multi-model classification/regression networks, and exported production-ready serialization wrappers.</a:t>
            </a:r>
            <a:endParaRPr/>
          </a:p>
        </p:txBody>
      </p:sp>
      <p:sp>
        <p:nvSpPr>
          <p:cNvPr id="308" name="Google Shape;308;g4095939e25a_0_3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4095939e25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P2</a:t>
            </a:r>
            <a:endParaRPr/>
          </a:p>
          <a:p>
            <a:pPr indent="0" lvl="0" marL="0" rtl="0" algn="l">
              <a:spcBef>
                <a:spcPts val="0"/>
              </a:spcBef>
              <a:spcAft>
                <a:spcPts val="0"/>
              </a:spcAft>
              <a:buNone/>
            </a:pPr>
            <a:r>
              <a:rPr lang="en-US"/>
              <a:t>AÑADIR FOTOS DDE CADA UNO</a:t>
            </a:r>
            <a:endParaRPr/>
          </a:p>
          <a:p>
            <a:pPr indent="0" lvl="0" marL="0" rtl="0" algn="l">
              <a:spcBef>
                <a:spcPts val="0"/>
              </a:spcBef>
              <a:spcAft>
                <a:spcPts val="0"/>
              </a:spcAft>
              <a:buNone/>
            </a:pPr>
            <a:r>
              <a:rPr lang="en-US"/>
              <a:t>Software Development Team: </a:t>
            </a:r>
            <a:r>
              <a:rPr lang="en-US" sz="1125">
                <a:solidFill>
                  <a:srgbClr val="94A3B8"/>
                </a:solidFill>
                <a:latin typeface="Inter"/>
                <a:ea typeface="Inter"/>
                <a:cs typeface="Inter"/>
                <a:sym typeface="Inter"/>
              </a:rPr>
              <a:t>Engineered the client-facing architecture. Built the pure-Python Streamlit web interface with a dark-navy design system. Implemented Google Fonts styling (Syne &amp; DM Sans), real-time progress indicators, custom reactive star-rating selectors, and a zero-loss JSON output handoff module to save user features silently.</a:t>
            </a:r>
            <a:endParaRPr sz="1400">
              <a:solidFill>
                <a:schemeClr val="dk1"/>
              </a:solidFill>
            </a:endParaRPr>
          </a:p>
          <a:p>
            <a:pPr indent="0" lvl="0" marL="0" rtl="0" algn="l">
              <a:spcBef>
                <a:spcPts val="0"/>
              </a:spcBef>
              <a:spcAft>
                <a:spcPts val="0"/>
              </a:spcAft>
              <a:buNone/>
            </a:pPr>
            <a:r>
              <a:rPr lang="en-US"/>
              <a:t>Machine LearningSub-team: </a:t>
            </a:r>
            <a:r>
              <a:rPr lang="en-US" sz="1125">
                <a:solidFill>
                  <a:srgbClr val="94A3B8"/>
                </a:solidFill>
                <a:latin typeface="Inter"/>
                <a:ea typeface="Inter"/>
                <a:cs typeface="Inter"/>
                <a:sym typeface="Inter"/>
              </a:rPr>
              <a:t>Executed extensive data engineering on 145,000 baseline OpenPsychometrics records. Developed standard normalization scripts, executed dimensionality reduction, applied statistical ranking metrics, trained multi-model classification/regression networks, and exported production-ready serialization wrappers.</a:t>
            </a:r>
            <a:endParaRPr/>
          </a:p>
        </p:txBody>
      </p:sp>
      <p:sp>
        <p:nvSpPr>
          <p:cNvPr id="332" name="Google Shape;332;g4095939e25a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e4eca2cd5a_0_2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e4eca2cd5a_0_24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40958b7c8e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40958b7c8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40958b7c8e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40958b7c8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40958b7c8ef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40958b7c8e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e70c4544c5_3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e70c4544c5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"You might wonder why we pushed for a web-first approach rather than a mobile app or desktop software. The answer comes down to reducing user friction. Desktop applications require downloads, installations, and operating system compatibility checks—all barriers for a high school student looking for quick guidance. By building Orient AI as a web application, we achieved zero installation friction. Students can access it instantly from any browser, whether on a school Chromebook or their personal smartphone. Furthermore, from an engineering standpoint, web deployment allows us to push updates, fix bugs, and deploy new machine learning models instantly to all users without requiring them to download patches."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40958b7c8ef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40958b7c8e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40958b7c8ef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40958b7c8e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70c4544c5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e70c4544c5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"Machine learning models are incredibly powerful, but they share one universal weakness: 'garbage in, garbage out.' To protect our predictive engine, the software team implemented a rigorous Validation Strategy. Our validation layer actively monitors user input in real-time. It catches missing answers, blocks invalid or out-of-bounds values, and tracks the session state to prevent incomplete submissions from triggering an API call. Finally, it enforces strict data consistency, ensuring that strings are strings and integers are integers. By building this digital firewall, we guarantee that the Machine Learning models only ever compute clean, 100% reliable data."</a:t>
            </a:r>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70c4544c5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e70c4544c5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"Once the data is collected and validated, it must be handed over to the AI. We built a custom JSON handoff logic for Stage 1 and Stage 2 fusion. Why JSON? Because it acts as the perfect universal translator. The frontend packages the exact features extracted from the questionnaire into a lightweight JSON payload. This standardized structure guarantees interoperability between our web framework and our machine learning scripts. It is incredibly fast, highly secure, and scales effortlessly. This JSON bridge is the exact point where our software engineering successfully hands the baton over to data science."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70c4544c5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e70c4544c5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"To summarize the software development lifecycle of Orient AI: our objective was to build the tracks upon which the AI train could run. We built a robust system to collect nuanced human input, aggressively validate it to protect the database, structure it mathematically, and seamlessly transfer it. The ultimate achievement of the software team was creating an environment that transforms subjective student anxiety and survey responses into reliable, structured, AI-ready data. The platform is built, the pipeline is secure, and the data is ready. Now, I will pass the floor to the Machine Learning team to explain what the AI does with that data."</a:t>
            </a:r>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e4eca2cd5a_0_2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g3e4eca2cd5a_0_23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e4eca2cd5a_0_2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e4eca2cd5a_0_2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P2</a:t>
            </a:r>
            <a:endParaRPr sz="2000">
              <a:solidFill>
                <a:srgbClr val="94A3B8"/>
              </a:solidFill>
              <a:latin typeface="Inter SemiBold"/>
              <a:ea typeface="Inter SemiBold"/>
              <a:cs typeface="Inter SemiBold"/>
              <a:sym typeface="Inter SemiBold"/>
            </a:endParaRPr>
          </a:p>
          <a:p>
            <a:pPr indent="0" lvl="0" marL="0" rtl="0" algn="l">
              <a:spcBef>
                <a:spcPts val="0"/>
              </a:spcBef>
              <a:spcAft>
                <a:spcPts val="0"/>
              </a:spcAft>
              <a:buClr>
                <a:schemeClr val="dk1"/>
              </a:buClr>
              <a:buSzPts val="1100"/>
              <a:buFont typeface="Arial"/>
              <a:buNone/>
            </a:pPr>
            <a:r>
              <a:rPr lang="en-US" sz="2000">
                <a:solidFill>
                  <a:srgbClr val="94A3B8"/>
                </a:solidFill>
                <a:latin typeface="Inter SemiBold"/>
                <a:ea typeface="Inter SemiBold"/>
                <a:cs typeface="Inter SemiBold"/>
                <a:sym typeface="Inter SemiBold"/>
              </a:rPr>
              <a:t>Feature Selection Pipeline: </a:t>
            </a:r>
            <a:endParaRPr sz="2000">
              <a:solidFill>
                <a:srgbClr val="94A3B8"/>
              </a:solidFill>
              <a:latin typeface="Inter SemiBold"/>
              <a:ea typeface="Inter SemiBold"/>
              <a:cs typeface="Inter SemiBold"/>
              <a:sym typeface="Inter SemiBold"/>
            </a:endParaRPr>
          </a:p>
          <a:p>
            <a:pPr indent="-390938" lvl="0" marL="527876" rtl="0" algn="l">
              <a:spcBef>
                <a:spcPts val="866"/>
              </a:spcBef>
              <a:spcAft>
                <a:spcPts val="0"/>
              </a:spcAft>
              <a:buClr>
                <a:srgbClr val="CBD5E1"/>
              </a:buClr>
              <a:buSzPts val="2000"/>
              <a:buFont typeface="Inter"/>
              <a:buChar char="●"/>
            </a:pPr>
            <a:r>
              <a:rPr lang="en-US" sz="2000">
                <a:solidFill>
                  <a:srgbClr val="CBD5E1"/>
                </a:solidFill>
                <a:latin typeface="Inter"/>
                <a:ea typeface="Inter"/>
                <a:cs typeface="Inter"/>
                <a:sym typeface="Inter"/>
              </a:rPr>
              <a:t>Thorough preprocessing and data cleaning </a:t>
            </a:r>
            <a:endParaRPr sz="2000">
              <a:solidFill>
                <a:srgbClr val="CBD5E1"/>
              </a:solidFill>
              <a:latin typeface="Inter"/>
              <a:ea typeface="Inter"/>
              <a:cs typeface="Inter"/>
              <a:sym typeface="Inter"/>
            </a:endParaRPr>
          </a:p>
          <a:p>
            <a:pPr indent="-390938" lvl="0" marL="527876" rtl="0" algn="l">
              <a:spcBef>
                <a:spcPts val="693"/>
              </a:spcBef>
              <a:spcAft>
                <a:spcPts val="0"/>
              </a:spcAft>
              <a:buClr>
                <a:srgbClr val="CBD5E1"/>
              </a:buClr>
              <a:buSzPts val="2000"/>
              <a:buFont typeface="Inter"/>
              <a:buChar char="●"/>
            </a:pPr>
            <a:r>
              <a:rPr lang="en-US" sz="2000">
                <a:solidFill>
                  <a:srgbClr val="CBD5E1"/>
                </a:solidFill>
                <a:latin typeface="Inter"/>
                <a:ea typeface="Inter"/>
                <a:cs typeface="Inter"/>
                <a:sym typeface="Inter"/>
              </a:rPr>
              <a:t>Filtering with Python (145k → 72k records) </a:t>
            </a:r>
            <a:endParaRPr sz="2000">
              <a:solidFill>
                <a:srgbClr val="CBD5E1"/>
              </a:solidFill>
              <a:latin typeface="Inter"/>
              <a:ea typeface="Inter"/>
              <a:cs typeface="Inter"/>
              <a:sym typeface="Inter"/>
            </a:endParaRPr>
          </a:p>
          <a:p>
            <a:pPr indent="-390938" lvl="0" marL="527876" rtl="0" algn="l">
              <a:lnSpc>
                <a:spcPct val="115000"/>
              </a:lnSpc>
              <a:spcBef>
                <a:spcPts val="693"/>
              </a:spcBef>
              <a:spcAft>
                <a:spcPts val="0"/>
              </a:spcAft>
              <a:buClr>
                <a:srgbClr val="CBD5E1"/>
              </a:buClr>
              <a:buSzPts val="2000"/>
              <a:buFont typeface="Inter"/>
              <a:buChar char="●"/>
            </a:pPr>
            <a:r>
              <a:rPr lang="en-US" sz="2000">
                <a:solidFill>
                  <a:srgbClr val="CBD5E1"/>
                </a:solidFill>
                <a:latin typeface="Inter"/>
                <a:ea typeface="Inter"/>
                <a:cs typeface="Inter"/>
                <a:sym typeface="Inter"/>
              </a:rPr>
              <a:t>Selection using Orange Rank Widget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d4c2767d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d4c2767d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P2</a:t>
            </a:r>
            <a:endParaRPr sz="1400">
              <a:solidFill>
                <a:schemeClr val="dk1"/>
              </a:solidFill>
              <a:latin typeface="Inter SemiBold"/>
              <a:ea typeface="Inter SemiBold"/>
              <a:cs typeface="Inter SemiBold"/>
              <a:sym typeface="Inter SemiBold"/>
            </a:endParaRPr>
          </a:p>
          <a:p>
            <a:pPr indent="0" lvl="0" marL="0" rtl="0" algn="l">
              <a:lnSpc>
                <a:spcPct val="115000"/>
              </a:lnSpc>
              <a:spcBef>
                <a:spcPts val="1386"/>
              </a:spcBef>
              <a:spcAft>
                <a:spcPts val="1386"/>
              </a:spcAft>
              <a:buNone/>
            </a:pPr>
            <a:r>
              <a:rPr lang="en-US" sz="1400">
                <a:solidFill>
                  <a:schemeClr val="dk1"/>
                </a:solidFill>
                <a:latin typeface="Inter SemiBold"/>
                <a:ea typeface="Inter SemiBold"/>
                <a:cs typeface="Inter SemiBold"/>
                <a:sym typeface="Inter SemiBold"/>
              </a:rPr>
              <a:t>DECIR Q SOLO ESTE PQ NO TENIAMOS DATA SUCFICIENTE, Y LO BUENO Q ES UN MODELO DEPENDE DE DATSET ENTRENAMIENTO, y admeas q no teniamos de donde sacar preguntas las generamos nosotros</a:t>
            </a:r>
            <a:endParaRPr sz="14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fd483b7cb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fd483b7cb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P3</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d483b7cb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fd483b7cb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P3</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e70c4544c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e70c4544c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P3</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4eca2cd5a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P3</a:t>
            </a:r>
            <a:endParaRPr sz="1600">
              <a:solidFill>
                <a:srgbClr val="94A3B8"/>
              </a:solidFill>
              <a:latin typeface="Inter"/>
              <a:ea typeface="Inter"/>
              <a:cs typeface="Inter"/>
              <a:sym typeface="Inter"/>
            </a:endParaRPr>
          </a:p>
          <a:p>
            <a:pPr indent="0" lvl="0" marL="0" rtl="0" algn="l">
              <a:lnSpc>
                <a:spcPct val="160000"/>
              </a:lnSpc>
              <a:spcBef>
                <a:spcPts val="0"/>
              </a:spcBef>
              <a:spcAft>
                <a:spcPts val="0"/>
              </a:spcAft>
              <a:buClr>
                <a:schemeClr val="dk1"/>
              </a:buClr>
              <a:buFont typeface="Arial"/>
              <a:buNone/>
            </a:pPr>
            <a:r>
              <a:rPr lang="en-US" sz="1600">
                <a:solidFill>
                  <a:srgbClr val="94A3B8"/>
                </a:solidFill>
                <a:latin typeface="Inter"/>
                <a:ea typeface="Inter"/>
                <a:cs typeface="Inter"/>
                <a:sym typeface="Inter"/>
              </a:rPr>
              <a:t>Models were trained on 72,000 refined records (Gold Dataset) using cross-validation. While Naive Bayes showed high raw metrics, Random Forest was selected due to complex non-linear feature handling.</a:t>
            </a:r>
            <a:endParaRPr sz="1600">
              <a:solidFill>
                <a:schemeClr val="dk1"/>
              </a:solidFill>
            </a:endParaRPr>
          </a:p>
          <a:p>
            <a:pPr indent="0" lvl="0" marL="0" rtl="0" algn="l">
              <a:spcBef>
                <a:spcPts val="0"/>
              </a:spcBef>
              <a:spcAft>
                <a:spcPts val="0"/>
              </a:spcAft>
              <a:buNone/>
            </a:pPr>
            <a:r>
              <a:t/>
            </a:r>
            <a:endParaRPr/>
          </a:p>
        </p:txBody>
      </p:sp>
      <p:sp>
        <p:nvSpPr>
          <p:cNvPr id="499" name="Google Shape;499;g3e4eca2cd5a_0_13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d483b7cb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fd483b7cb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highlight>
                  <a:schemeClr val="accent4"/>
                </a:highlight>
              </a:rPr>
              <a:t>P3</a:t>
            </a:r>
            <a:endParaRPr>
              <a:solidFill>
                <a:schemeClr val="dk1"/>
              </a:solidFill>
            </a:endParaRPr>
          </a:p>
          <a:p>
            <a:pPr indent="-298450" lvl="0" marL="457200" rtl="0" algn="l">
              <a:spcBef>
                <a:spcPts val="0"/>
              </a:spcBef>
              <a:spcAft>
                <a:spcPts val="0"/>
              </a:spcAft>
              <a:buClr>
                <a:schemeClr val="dk1"/>
              </a:buClr>
              <a:buSzPts val="1100"/>
              <a:buAutoNum type="arabicPeriod"/>
            </a:pPr>
            <a:r>
              <a:rPr lang="en-US">
                <a:solidFill>
                  <a:schemeClr val="dk1"/>
                </a:solidFill>
              </a:rPr>
              <a:t>Random Forest effectively manages the intricate and intermingled patterns present in the fields like STEM and Health, which often share underlying characteristics, without getting confused by the overlap.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2.  By aggregating multiple decision trees, the ensemble method averages cut individual errors and idiosyncrasies, resulting in a model that generalizes better to new data and is less likely to memorize training noise.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3. The algorithm’s flexible architecture allows it to model complex, non-linear interactions and dependencies inherent in subjective survey data, which linear model struggle to capture accurately.</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fd483b7cb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highlight>
                  <a:schemeClr val="accent4"/>
                </a:highlight>
              </a:rPr>
              <a:t>P4</a:t>
            </a:r>
            <a:endParaRPr>
              <a:highlight>
                <a:schemeClr val="accent4"/>
              </a:highlight>
            </a:endParaRPr>
          </a:p>
        </p:txBody>
      </p:sp>
      <p:sp>
        <p:nvSpPr>
          <p:cNvPr id="529" name="Google Shape;529;g3fd483b7cb8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e4eca2cd5a_0_1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P4</a:t>
            </a:r>
            <a:endParaRPr/>
          </a:p>
        </p:txBody>
      </p:sp>
      <p:sp>
        <p:nvSpPr>
          <p:cNvPr id="537" name="Google Shape;537;g3e4eca2cd5a_0_17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4eca2cd5a_0_2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P4</a:t>
            </a:r>
            <a:endParaRPr/>
          </a:p>
          <a:p>
            <a:pPr indent="0" lvl="0" marL="0" rtl="0" algn="l">
              <a:spcBef>
                <a:spcPts val="0"/>
              </a:spcBef>
              <a:spcAft>
                <a:spcPts val="0"/>
              </a:spcAft>
              <a:buNone/>
            </a:pPr>
            <a:r>
              <a:rPr lang="en-US"/>
              <a:t>Initial surveys returned 238 responses, creating massive technology-major bias. To train unbiased models, we used 2 strategies to draw virtual profiles between real data points.</a:t>
            </a:r>
            <a:endParaRPr/>
          </a:p>
          <a:p>
            <a:pPr indent="0" lvl="0" marL="0" rtl="0" algn="l">
              <a:spcBef>
                <a:spcPts val="0"/>
              </a:spcBef>
              <a:spcAft>
                <a:spcPts val="0"/>
              </a:spcAft>
              <a:buNone/>
            </a:pPr>
            <a:r>
              <a:t/>
            </a:r>
            <a:endParaRPr/>
          </a:p>
        </p:txBody>
      </p:sp>
      <p:sp>
        <p:nvSpPr>
          <p:cNvPr id="546" name="Google Shape;546;g3e4eca2cd5a_0_29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fd4c2767d4_25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fd4c2767d4_25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P4</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fd4c2767d4_25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fd4c2767d4_25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highlight>
                  <a:schemeClr val="accent4"/>
                </a:highlight>
              </a:rPr>
              <a:t>P4</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e70c4544c5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g3e70c4544c5_6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e4eca2cd5a_0_2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e4eca2cd5a_0_2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70c4544c5_3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e70c4544c5_3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e70c4544c5_3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e70c4544c5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e70c4544c5_3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e70c4544c5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e70c4544c5_3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e70c4544c5_3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e70c4544c5_3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e70c4544c5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e70c4544c5_3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e70c4544c5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e70c4544c5_3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e70c4544c5_3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e70c4544c5_3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e70c4544c5_3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4eca2cd5a_0_3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highlight>
                  <a:schemeClr val="accent4"/>
                </a:highlight>
              </a:rPr>
              <a:t>P?</a:t>
            </a:r>
            <a:endParaRPr>
              <a:highlight>
                <a:schemeClr val="accent4"/>
              </a:highlight>
            </a:endParaRPr>
          </a:p>
        </p:txBody>
      </p:sp>
      <p:sp>
        <p:nvSpPr>
          <p:cNvPr id="651" name="Google Shape;651;g3e4eca2cd5a_0_30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1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p13"/>
          <p:cNvSpPr txBox="1"/>
          <p:nvPr>
            <p:ph type="title"/>
          </p:nvPr>
        </p:nvSpPr>
        <p:spPr>
          <a:xfrm>
            <a:off x="354000" y="1644233"/>
            <a:ext cx="5393700" cy="1976400"/>
          </a:xfrm>
          <a:prstGeom prst="rect">
            <a:avLst/>
          </a:prstGeom>
        </p:spPr>
        <p:txBody>
          <a:bodyPr anchorCtr="0" anchor="b" bIns="45700" lIns="91425" spcFirstLastPara="1" rIns="91425" wrap="square" tIns="457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83" name="Google Shape;83;p13"/>
          <p:cNvSpPr txBox="1"/>
          <p:nvPr>
            <p:ph idx="1" type="subTitle"/>
          </p:nvPr>
        </p:nvSpPr>
        <p:spPr>
          <a:xfrm>
            <a:off x="354000" y="3737433"/>
            <a:ext cx="5393700" cy="1646700"/>
          </a:xfrm>
          <a:prstGeom prst="rect">
            <a:avLst/>
          </a:prstGeom>
        </p:spPr>
        <p:txBody>
          <a:bodyPr anchorCtr="0" anchor="t" bIns="45700" lIns="91425" spcFirstLastPara="1" rIns="91425" wrap="square" tIns="45700">
            <a:normAutofit/>
          </a:bodyPr>
          <a:lstStyle>
            <a:lvl1pPr lvl="0" algn="ctr">
              <a:lnSpc>
                <a:spcPct val="100000"/>
              </a:lnSpc>
              <a:spcBef>
                <a:spcPts val="640"/>
              </a:spcBef>
              <a:spcAft>
                <a:spcPts val="0"/>
              </a:spcAft>
              <a:buSzPts val="2800"/>
              <a:buNone/>
              <a:defRPr sz="2800"/>
            </a:lvl1pPr>
            <a:lvl2pPr lvl="1" algn="ctr">
              <a:lnSpc>
                <a:spcPct val="100000"/>
              </a:lnSpc>
              <a:spcBef>
                <a:spcPts val="560"/>
              </a:spcBef>
              <a:spcAft>
                <a:spcPts val="0"/>
              </a:spcAft>
              <a:buSzPts val="2800"/>
              <a:buNone/>
              <a:defRPr sz="2800"/>
            </a:lvl2pPr>
            <a:lvl3pPr lvl="2" algn="ctr">
              <a:lnSpc>
                <a:spcPct val="100000"/>
              </a:lnSpc>
              <a:spcBef>
                <a:spcPts val="48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84" name="Google Shape;84;p13"/>
          <p:cNvSpPr txBox="1"/>
          <p:nvPr>
            <p:ph idx="2" type="body"/>
          </p:nvPr>
        </p:nvSpPr>
        <p:spPr>
          <a:xfrm>
            <a:off x="6586000" y="965433"/>
            <a:ext cx="5115900" cy="4926900"/>
          </a:xfrm>
          <a:prstGeom prst="rect">
            <a:avLst/>
          </a:prstGeom>
        </p:spPr>
        <p:txBody>
          <a:bodyPr anchorCtr="0" anchor="ctr"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85" name="Google Shape;85;p13"/>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6" name="Shape 86"/>
        <p:cNvGrpSpPr/>
        <p:nvPr/>
      </p:nvGrpSpPr>
      <p:grpSpPr>
        <a:xfrm>
          <a:off x="0" y="0"/>
          <a:ext cx="0" cy="0"/>
          <a:chOff x="0" y="0"/>
          <a:chExt cx="0" cy="0"/>
        </a:xfrm>
      </p:grpSpPr>
      <p:sp>
        <p:nvSpPr>
          <p:cNvPr id="87" name="Google Shape;87;p14"/>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4"/>
          <p:cNvSpPr txBox="1"/>
          <p:nvPr>
            <p:ph idx="1" type="body"/>
          </p:nvPr>
        </p:nvSpPr>
        <p:spPr>
          <a:xfrm>
            <a:off x="415600" y="1536633"/>
            <a:ext cx="5333100" cy="4555200"/>
          </a:xfrm>
          <a:prstGeom prst="rect">
            <a:avLst/>
          </a:prstGeom>
        </p:spPr>
        <p:txBody>
          <a:bodyPr anchorCtr="0" anchor="t" bIns="45700" lIns="91425" spcFirstLastPara="1" rIns="91425" wrap="square" tIns="45700">
            <a:normAutofit/>
          </a:bodyPr>
          <a:lstStyle>
            <a:lvl1pPr indent="-349250" lvl="0" marL="457200">
              <a:spcBef>
                <a:spcPts val="640"/>
              </a:spcBef>
              <a:spcAft>
                <a:spcPts val="0"/>
              </a:spcAft>
              <a:buSzPts val="1900"/>
              <a:buChar char="•"/>
              <a:defRPr sz="1900"/>
            </a:lvl1pPr>
            <a:lvl2pPr indent="-330200" lvl="1" marL="914400">
              <a:spcBef>
                <a:spcPts val="560"/>
              </a:spcBef>
              <a:spcAft>
                <a:spcPts val="0"/>
              </a:spcAft>
              <a:buSzPts val="1600"/>
              <a:buChar char="–"/>
              <a:defRPr sz="1600"/>
            </a:lvl2pPr>
            <a:lvl3pPr indent="-330200" lvl="2" marL="1371600">
              <a:spcBef>
                <a:spcPts val="480"/>
              </a:spcBef>
              <a:spcAft>
                <a:spcPts val="0"/>
              </a:spcAft>
              <a:buSzPts val="1600"/>
              <a:buChar char="•"/>
              <a:defRPr sz="1600"/>
            </a:lvl3pPr>
            <a:lvl4pPr indent="-330200" lvl="3" marL="1828800">
              <a:spcBef>
                <a:spcPts val="400"/>
              </a:spcBef>
              <a:spcAft>
                <a:spcPts val="0"/>
              </a:spcAft>
              <a:buSzPts val="1600"/>
              <a:buChar char="–"/>
              <a:defRPr sz="1600"/>
            </a:lvl4pPr>
            <a:lvl5pPr indent="-330200" lvl="4" marL="2286000">
              <a:spcBef>
                <a:spcPts val="400"/>
              </a:spcBef>
              <a:spcAft>
                <a:spcPts val="0"/>
              </a:spcAft>
              <a:buSzPts val="1600"/>
              <a:buChar char="»"/>
              <a:defRPr sz="1600"/>
            </a:lvl5pPr>
            <a:lvl6pPr indent="-330200" lvl="5" marL="2743200">
              <a:spcBef>
                <a:spcPts val="400"/>
              </a:spcBef>
              <a:spcAft>
                <a:spcPts val="0"/>
              </a:spcAft>
              <a:buSzPts val="1600"/>
              <a:buChar char="•"/>
              <a:defRPr sz="1600"/>
            </a:lvl6pPr>
            <a:lvl7pPr indent="-330200" lvl="6" marL="3200400">
              <a:spcBef>
                <a:spcPts val="400"/>
              </a:spcBef>
              <a:spcAft>
                <a:spcPts val="0"/>
              </a:spcAft>
              <a:buSzPts val="1600"/>
              <a:buChar char="•"/>
              <a:defRPr sz="1600"/>
            </a:lvl7pPr>
            <a:lvl8pPr indent="-330200" lvl="7" marL="3657600">
              <a:spcBef>
                <a:spcPts val="400"/>
              </a:spcBef>
              <a:spcAft>
                <a:spcPts val="0"/>
              </a:spcAft>
              <a:buSzPts val="1600"/>
              <a:buChar char="•"/>
              <a:defRPr sz="1600"/>
            </a:lvl8pPr>
            <a:lvl9pPr indent="-330200" lvl="8" marL="4114800">
              <a:spcBef>
                <a:spcPts val="400"/>
              </a:spcBef>
              <a:spcAft>
                <a:spcPts val="0"/>
              </a:spcAft>
              <a:buSzPts val="1600"/>
              <a:buChar char="•"/>
              <a:defRPr sz="1600"/>
            </a:lvl9pPr>
          </a:lstStyle>
          <a:p/>
        </p:txBody>
      </p:sp>
      <p:sp>
        <p:nvSpPr>
          <p:cNvPr id="89" name="Google Shape;89;p14"/>
          <p:cNvSpPr txBox="1"/>
          <p:nvPr>
            <p:ph idx="2" type="body"/>
          </p:nvPr>
        </p:nvSpPr>
        <p:spPr>
          <a:xfrm>
            <a:off x="6443200" y="1536633"/>
            <a:ext cx="5333100" cy="4555200"/>
          </a:xfrm>
          <a:prstGeom prst="rect">
            <a:avLst/>
          </a:prstGeom>
        </p:spPr>
        <p:txBody>
          <a:bodyPr anchorCtr="0" anchor="t" bIns="45700" lIns="91425" spcFirstLastPara="1" rIns="91425" wrap="square" tIns="45700">
            <a:normAutofit/>
          </a:bodyPr>
          <a:lstStyle>
            <a:lvl1pPr indent="-349250" lvl="0" marL="457200">
              <a:spcBef>
                <a:spcPts val="640"/>
              </a:spcBef>
              <a:spcAft>
                <a:spcPts val="0"/>
              </a:spcAft>
              <a:buSzPts val="1900"/>
              <a:buChar char="•"/>
              <a:defRPr sz="1900"/>
            </a:lvl1pPr>
            <a:lvl2pPr indent="-330200" lvl="1" marL="914400">
              <a:spcBef>
                <a:spcPts val="560"/>
              </a:spcBef>
              <a:spcAft>
                <a:spcPts val="0"/>
              </a:spcAft>
              <a:buSzPts val="1600"/>
              <a:buChar char="–"/>
              <a:defRPr sz="1600"/>
            </a:lvl2pPr>
            <a:lvl3pPr indent="-330200" lvl="2" marL="1371600">
              <a:spcBef>
                <a:spcPts val="480"/>
              </a:spcBef>
              <a:spcAft>
                <a:spcPts val="0"/>
              </a:spcAft>
              <a:buSzPts val="1600"/>
              <a:buChar char="•"/>
              <a:defRPr sz="1600"/>
            </a:lvl3pPr>
            <a:lvl4pPr indent="-330200" lvl="3" marL="1828800">
              <a:spcBef>
                <a:spcPts val="400"/>
              </a:spcBef>
              <a:spcAft>
                <a:spcPts val="0"/>
              </a:spcAft>
              <a:buSzPts val="1600"/>
              <a:buChar char="–"/>
              <a:defRPr sz="1600"/>
            </a:lvl4pPr>
            <a:lvl5pPr indent="-330200" lvl="4" marL="2286000">
              <a:spcBef>
                <a:spcPts val="400"/>
              </a:spcBef>
              <a:spcAft>
                <a:spcPts val="0"/>
              </a:spcAft>
              <a:buSzPts val="1600"/>
              <a:buChar char="»"/>
              <a:defRPr sz="1600"/>
            </a:lvl5pPr>
            <a:lvl6pPr indent="-330200" lvl="5" marL="2743200">
              <a:spcBef>
                <a:spcPts val="400"/>
              </a:spcBef>
              <a:spcAft>
                <a:spcPts val="0"/>
              </a:spcAft>
              <a:buSzPts val="1600"/>
              <a:buChar char="•"/>
              <a:defRPr sz="1600"/>
            </a:lvl6pPr>
            <a:lvl7pPr indent="-330200" lvl="6" marL="3200400">
              <a:spcBef>
                <a:spcPts val="400"/>
              </a:spcBef>
              <a:spcAft>
                <a:spcPts val="0"/>
              </a:spcAft>
              <a:buSzPts val="1600"/>
              <a:buChar char="•"/>
              <a:defRPr sz="1600"/>
            </a:lvl7pPr>
            <a:lvl8pPr indent="-330200" lvl="7" marL="3657600">
              <a:spcBef>
                <a:spcPts val="400"/>
              </a:spcBef>
              <a:spcAft>
                <a:spcPts val="0"/>
              </a:spcAft>
              <a:buSzPts val="1600"/>
              <a:buChar char="•"/>
              <a:defRPr sz="1600"/>
            </a:lvl8pPr>
            <a:lvl9pPr indent="-330200" lvl="8" marL="4114800">
              <a:spcBef>
                <a:spcPts val="400"/>
              </a:spcBef>
              <a:spcAft>
                <a:spcPts val="0"/>
              </a:spcAft>
              <a:buSzPts val="1600"/>
              <a:buChar char="•"/>
              <a:defRPr sz="1600"/>
            </a:lvl9pPr>
          </a:lstStyle>
          <a:p/>
        </p:txBody>
      </p:sp>
      <p:sp>
        <p:nvSpPr>
          <p:cNvPr id="90" name="Google Shape;90;p14"/>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 name="Shape 91"/>
        <p:cNvGrpSpPr/>
        <p:nvPr/>
      </p:nvGrpSpPr>
      <p:grpSpPr>
        <a:xfrm>
          <a:off x="0" y="0"/>
          <a:ext cx="0" cy="0"/>
          <a:chOff x="0" y="0"/>
          <a:chExt cx="0" cy="0"/>
        </a:xfrm>
      </p:grpSpPr>
      <p:sp>
        <p:nvSpPr>
          <p:cNvPr id="92" name="Google Shape;92;p15"/>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5"/>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94" name="Google Shape;94;p15"/>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sp>
        <p:nvSpPr>
          <p:cNvPr id="100" name="Google Shape;100;p17"/>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01" name="Google Shape;101;p17"/>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02" name="Google Shape;102;p1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18"/>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05" name="Google Shape;105;p1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6" name="Shape 106"/>
        <p:cNvGrpSpPr/>
        <p:nvPr/>
      </p:nvGrpSpPr>
      <p:grpSpPr>
        <a:xfrm>
          <a:off x="0" y="0"/>
          <a:ext cx="0" cy="0"/>
          <a:chOff x="0" y="0"/>
          <a:chExt cx="0" cy="0"/>
        </a:xfrm>
      </p:grpSpPr>
      <p:sp>
        <p:nvSpPr>
          <p:cNvPr id="107" name="Google Shape;107;p1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08" name="Google Shape;108;p19"/>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09" name="Google Shape;109;p1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sp>
        <p:nvSpPr>
          <p:cNvPr id="111" name="Google Shape;111;p20"/>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12" name="Google Shape;112;p20"/>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13" name="Google Shape;113;p20"/>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14" name="Google Shape;114;p2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21"/>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17" name="Google Shape;117;p2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 name="Shape 118"/>
        <p:cNvGrpSpPr/>
        <p:nvPr/>
      </p:nvGrpSpPr>
      <p:grpSpPr>
        <a:xfrm>
          <a:off x="0" y="0"/>
          <a:ext cx="0" cy="0"/>
          <a:chOff x="0" y="0"/>
          <a:chExt cx="0" cy="0"/>
        </a:xfrm>
      </p:grpSpPr>
      <p:sp>
        <p:nvSpPr>
          <p:cNvPr id="119" name="Google Shape;119;p22"/>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120" name="Google Shape;120;p22"/>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21" name="Google Shape;121;p2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2" name="Shape 122"/>
        <p:cNvGrpSpPr/>
        <p:nvPr/>
      </p:nvGrpSpPr>
      <p:grpSpPr>
        <a:xfrm>
          <a:off x="0" y="0"/>
          <a:ext cx="0" cy="0"/>
          <a:chOff x="0" y="0"/>
          <a:chExt cx="0" cy="0"/>
        </a:xfrm>
      </p:grpSpPr>
      <p:sp>
        <p:nvSpPr>
          <p:cNvPr id="123" name="Google Shape;123;p23"/>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124" name="Google Shape;124;p2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5" name="Shape 125"/>
        <p:cNvGrpSpPr/>
        <p:nvPr/>
      </p:nvGrpSpPr>
      <p:grpSpPr>
        <a:xfrm>
          <a:off x="0" y="0"/>
          <a:ext cx="0" cy="0"/>
          <a:chOff x="0" y="0"/>
          <a:chExt cx="0" cy="0"/>
        </a:xfrm>
      </p:grpSpPr>
      <p:sp>
        <p:nvSpPr>
          <p:cNvPr id="126" name="Google Shape;126;p24"/>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 name="Google Shape;127;p24"/>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128" name="Google Shape;128;p24"/>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9" name="Google Shape;129;p24"/>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30" name="Google Shape;130;p2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1" name="Shape 131"/>
        <p:cNvGrpSpPr/>
        <p:nvPr/>
      </p:nvGrpSpPr>
      <p:grpSpPr>
        <a:xfrm>
          <a:off x="0" y="0"/>
          <a:ext cx="0" cy="0"/>
          <a:chOff x="0" y="0"/>
          <a:chExt cx="0" cy="0"/>
        </a:xfrm>
      </p:grpSpPr>
      <p:sp>
        <p:nvSpPr>
          <p:cNvPr id="132" name="Google Shape;132;p25"/>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133" name="Google Shape;133;p2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sp>
        <p:nvSpPr>
          <p:cNvPr id="135" name="Google Shape;135;p26"/>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136" name="Google Shape;136;p26"/>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137" name="Google Shape;137;p2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sp>
        <p:nvSpPr>
          <p:cNvPr id="139" name="Google Shape;139;p2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0" name="Shape 140"/>
        <p:cNvGrpSpPr/>
        <p:nvPr/>
      </p:nvGrpSpPr>
      <p:grpSpPr>
        <a:xfrm>
          <a:off x="0" y="0"/>
          <a:ext cx="0" cy="0"/>
          <a:chOff x="0" y="0"/>
          <a:chExt cx="0" cy="0"/>
        </a:xfrm>
      </p:grpSpPr>
      <p:sp>
        <p:nvSpPr>
          <p:cNvPr id="141" name="Google Shape;141;p28"/>
          <p:cNvSpPr/>
          <p:nvPr/>
        </p:nvSpPr>
        <p:spPr>
          <a:xfrm>
            <a:off x="0" y="0"/>
            <a:ext cx="12192000" cy="6858000"/>
          </a:xfrm>
          <a:prstGeom prst="rect">
            <a:avLst/>
          </a:prstGeom>
          <a:solidFill>
            <a:srgbClr val="E6DED2"/>
          </a:solidFill>
          <a:ln>
            <a:noFill/>
          </a:ln>
        </p:spPr>
        <p:txBody>
          <a:bodyPr anchorCtr="0" anchor="ctr" bIns="76200" lIns="76200" spcFirstLastPara="1" rIns="76200" wrap="square" tIns="76200">
            <a:noAutofit/>
          </a:bodyPr>
          <a:lstStyle/>
          <a:p>
            <a:pPr indent="0" lvl="0" marL="0" rtl="0" algn="l">
              <a:spcBef>
                <a:spcPts val="0"/>
              </a:spcBef>
              <a:spcAft>
                <a:spcPts val="0"/>
              </a:spcAft>
              <a:buNone/>
            </a:pPr>
            <a:r>
              <a:t/>
            </a:r>
            <a:endParaRPr/>
          </a:p>
        </p:txBody>
      </p:sp>
      <p:sp>
        <p:nvSpPr>
          <p:cNvPr id="142" name="Google Shape;142;p28"/>
          <p:cNvSpPr/>
          <p:nvPr/>
        </p:nvSpPr>
        <p:spPr>
          <a:xfrm>
            <a:off x="0" y="0"/>
            <a:ext cx="12192000" cy="6858000"/>
          </a:xfrm>
          <a:prstGeom prst="rect">
            <a:avLst/>
          </a:prstGeom>
          <a:solidFill>
            <a:srgbClr val="FDFBF7"/>
          </a:solidFill>
          <a:ln>
            <a:noFill/>
          </a:ln>
        </p:spPr>
        <p:txBody>
          <a:bodyPr anchorCtr="0" anchor="ctr" bIns="76200" lIns="76200" spcFirstLastPara="1" rIns="76200" wrap="square" tIns="76200">
            <a:noAutofit/>
          </a:bodyPr>
          <a:lstStyle/>
          <a:p>
            <a:pPr indent="0" lvl="0" marL="0" rtl="0" algn="l">
              <a:spcBef>
                <a:spcPts val="0"/>
              </a:spcBef>
              <a:spcAft>
                <a:spcPts val="0"/>
              </a:spcAft>
              <a:buNone/>
            </a:pPr>
            <a:r>
              <a:t/>
            </a:r>
            <a:endParaRPr/>
          </a:p>
        </p:txBody>
      </p:sp>
      <p:pic>
        <p:nvPicPr>
          <p:cNvPr descr="preencoded.png" id="143" name="Google Shape;143;p28">
            <a:hlinkClick r:id="rId2"/>
          </p:cNvPr>
          <p:cNvPicPr preferRelativeResize="0"/>
          <p:nvPr/>
        </p:nvPicPr>
        <p:blipFill rotWithShape="1">
          <a:blip r:embed="rId3">
            <a:alphaModFix/>
          </a:blip>
          <a:srcRect b="0" l="0" r="0" t="0"/>
          <a:stretch/>
        </p:blipFill>
        <p:spPr>
          <a:xfrm>
            <a:off x="10699346" y="6457950"/>
            <a:ext cx="1435505" cy="3429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44" name="Shape 144"/>
        <p:cNvGrpSpPr/>
        <p:nvPr/>
      </p:nvGrpSpPr>
      <p:grpSpPr>
        <a:xfrm>
          <a:off x="0" y="0"/>
          <a:ext cx="0" cy="0"/>
          <a:chOff x="0" y="0"/>
          <a:chExt cx="0" cy="0"/>
        </a:xfrm>
      </p:grpSpPr>
      <p:sp>
        <p:nvSpPr>
          <p:cNvPr id="145" name="Google Shape;145;p29"/>
          <p:cNvSpPr/>
          <p:nvPr/>
        </p:nvSpPr>
        <p:spPr>
          <a:xfrm>
            <a:off x="0" y="0"/>
            <a:ext cx="12192000" cy="6858000"/>
          </a:xfrm>
          <a:prstGeom prst="rect">
            <a:avLst/>
          </a:prstGeom>
          <a:solidFill>
            <a:srgbClr val="E6DED2"/>
          </a:solidFill>
          <a:ln>
            <a:noFill/>
          </a:ln>
        </p:spPr>
        <p:txBody>
          <a:bodyPr anchorCtr="0" anchor="ctr" bIns="76200" lIns="76200" spcFirstLastPara="1" rIns="76200" wrap="square" tIns="76200">
            <a:noAutofit/>
          </a:bodyPr>
          <a:lstStyle/>
          <a:p>
            <a:pPr indent="0" lvl="0" marL="0" rtl="0" algn="l">
              <a:spcBef>
                <a:spcPts val="0"/>
              </a:spcBef>
              <a:spcAft>
                <a:spcPts val="0"/>
              </a:spcAft>
              <a:buNone/>
            </a:pPr>
            <a:r>
              <a:t/>
            </a:r>
            <a:endParaRPr/>
          </a:p>
        </p:txBody>
      </p:sp>
      <p:sp>
        <p:nvSpPr>
          <p:cNvPr id="146" name="Google Shape;146;p29"/>
          <p:cNvSpPr/>
          <p:nvPr/>
        </p:nvSpPr>
        <p:spPr>
          <a:xfrm>
            <a:off x="0" y="0"/>
            <a:ext cx="12192000" cy="6858000"/>
          </a:xfrm>
          <a:prstGeom prst="rect">
            <a:avLst/>
          </a:prstGeom>
          <a:solidFill>
            <a:srgbClr val="FDFBF7"/>
          </a:solidFill>
          <a:ln>
            <a:noFill/>
          </a:ln>
        </p:spPr>
        <p:txBody>
          <a:bodyPr anchorCtr="0" anchor="ctr" bIns="76200" lIns="76200" spcFirstLastPara="1" rIns="76200" wrap="square" tIns="76200">
            <a:noAutofit/>
          </a:bodyPr>
          <a:lstStyle/>
          <a:p>
            <a:pPr indent="0" lvl="0" marL="0" rtl="0" algn="l">
              <a:spcBef>
                <a:spcPts val="0"/>
              </a:spcBef>
              <a:spcAft>
                <a:spcPts val="0"/>
              </a:spcAft>
              <a:buNone/>
            </a:pPr>
            <a:r>
              <a:t/>
            </a:r>
            <a:endParaRPr/>
          </a:p>
        </p:txBody>
      </p:sp>
      <p:pic>
        <p:nvPicPr>
          <p:cNvPr descr="preencoded.png" id="147" name="Google Shape;147;p29">
            <a:hlinkClick r:id="rId2"/>
          </p:cNvPr>
          <p:cNvPicPr preferRelativeResize="0"/>
          <p:nvPr/>
        </p:nvPicPr>
        <p:blipFill rotWithShape="1">
          <a:blip r:embed="rId3">
            <a:alphaModFix/>
          </a:blip>
          <a:srcRect b="0" l="0" r="0" t="0"/>
          <a:stretch/>
        </p:blipFill>
        <p:spPr>
          <a:xfrm>
            <a:off x="10699346" y="6457950"/>
            <a:ext cx="1435505" cy="342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5" name="Shape 95"/>
        <p:cNvGrpSpPr/>
        <p:nvPr/>
      </p:nvGrpSpPr>
      <p:grpSpPr>
        <a:xfrm>
          <a:off x="0" y="0"/>
          <a:ext cx="0" cy="0"/>
          <a:chOff x="0" y="0"/>
          <a:chExt cx="0" cy="0"/>
        </a:xfrm>
      </p:grpSpPr>
      <p:sp>
        <p:nvSpPr>
          <p:cNvPr id="96" name="Google Shape;96;p1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97" name="Google Shape;97;p1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98" name="Google Shape;98;p1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20" Type="http://schemas.openxmlformats.org/officeDocument/2006/relationships/image" Target="../media/image20.jpg"/><Relationship Id="rId11" Type="http://schemas.openxmlformats.org/officeDocument/2006/relationships/image" Target="../media/image14.png"/><Relationship Id="rId22" Type="http://schemas.openxmlformats.org/officeDocument/2006/relationships/image" Target="../media/image23.jpg"/><Relationship Id="rId10" Type="http://schemas.openxmlformats.org/officeDocument/2006/relationships/image" Target="../media/image11.png"/><Relationship Id="rId21" Type="http://schemas.openxmlformats.org/officeDocument/2006/relationships/image" Target="../media/image22.jpg"/><Relationship Id="rId13" Type="http://schemas.openxmlformats.org/officeDocument/2006/relationships/image" Target="../media/image13.png"/><Relationship Id="rId24" Type="http://schemas.openxmlformats.org/officeDocument/2006/relationships/image" Target="../media/image27.jpg"/><Relationship Id="rId12" Type="http://schemas.openxmlformats.org/officeDocument/2006/relationships/image" Target="../media/image12.png"/><Relationship Id="rId23" Type="http://schemas.openxmlformats.org/officeDocument/2006/relationships/image" Target="../media/image25.jp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10.png"/><Relationship Id="rId15" Type="http://schemas.openxmlformats.org/officeDocument/2006/relationships/image" Target="../media/image16.png"/><Relationship Id="rId14" Type="http://schemas.openxmlformats.org/officeDocument/2006/relationships/image" Target="../media/image15.png"/><Relationship Id="rId17" Type="http://schemas.openxmlformats.org/officeDocument/2006/relationships/image" Target="../media/image18.png"/><Relationship Id="rId16" Type="http://schemas.openxmlformats.org/officeDocument/2006/relationships/image" Target="../media/image17.png"/><Relationship Id="rId5" Type="http://schemas.openxmlformats.org/officeDocument/2006/relationships/image" Target="../media/image6.png"/><Relationship Id="rId19" Type="http://schemas.openxmlformats.org/officeDocument/2006/relationships/image" Target="../media/image21.png"/><Relationship Id="rId6" Type="http://schemas.openxmlformats.org/officeDocument/2006/relationships/image" Target="../media/image7.png"/><Relationship Id="rId18" Type="http://schemas.openxmlformats.org/officeDocument/2006/relationships/image" Target="../media/image19.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0.png"/><Relationship Id="rId9" Type="http://schemas.openxmlformats.org/officeDocument/2006/relationships/image" Target="../media/image36.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s>
</file>

<file path=ppt/slides/_rels/slide6.xml.rels><?xml version="1.0" encoding="UTF-8" standalone="yes"?><Relationships xmlns="http://schemas.openxmlformats.org/package/2006/relationships"><Relationship Id="rId10" Type="http://schemas.openxmlformats.org/officeDocument/2006/relationships/image" Target="../media/image39.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0.png"/><Relationship Id="rId9" Type="http://schemas.openxmlformats.org/officeDocument/2006/relationships/image" Target="../media/image38.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41.png"/><Relationship Id="rId9" Type="http://schemas.openxmlformats.org/officeDocument/2006/relationships/image" Target="../media/image46.png"/><Relationship Id="rId5" Type="http://schemas.openxmlformats.org/officeDocument/2006/relationships/image" Target="../media/image43.png"/><Relationship Id="rId6" Type="http://schemas.openxmlformats.org/officeDocument/2006/relationships/image" Target="../media/image42.png"/><Relationship Id="rId7" Type="http://schemas.openxmlformats.org/officeDocument/2006/relationships/image" Target="../media/image44.png"/><Relationship Id="rId8"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25.jpg"/><Relationship Id="rId5" Type="http://schemas.openxmlformats.org/officeDocument/2006/relationships/image" Target="../media/image2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1.png"/><Relationship Id="rId5" Type="http://schemas.openxmlformats.org/officeDocument/2006/relationships/image" Target="../media/image20.jpg"/><Relationship Id="rId6" Type="http://schemas.openxmlformats.org/officeDocument/2006/relationships/image" Target="../media/image22.jpg"/><Relationship Id="rId7" Type="http://schemas.openxmlformats.org/officeDocument/2006/relationships/image" Target="../media/image19.png"/><Relationship Id="rId8"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6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64.png"/><Relationship Id="rId5" Type="http://schemas.openxmlformats.org/officeDocument/2006/relationships/image" Target="../media/image6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hyperlink" Target="https://gitlab.com/Davicete71/OrientAI/-/milestones/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66.png"/><Relationship Id="rId9" Type="http://schemas.openxmlformats.org/officeDocument/2006/relationships/image" Target="../media/image70.png"/><Relationship Id="rId5" Type="http://schemas.openxmlformats.org/officeDocument/2006/relationships/image" Target="../media/image67.png"/><Relationship Id="rId6" Type="http://schemas.openxmlformats.org/officeDocument/2006/relationships/image" Target="../media/image71.png"/><Relationship Id="rId7" Type="http://schemas.openxmlformats.org/officeDocument/2006/relationships/image" Target="../media/image68.png"/><Relationship Id="rId8" Type="http://schemas.openxmlformats.org/officeDocument/2006/relationships/image" Target="../media/image6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73.png"/><Relationship Id="rId9" Type="http://schemas.openxmlformats.org/officeDocument/2006/relationships/image" Target="../media/image78.png"/><Relationship Id="rId5" Type="http://schemas.openxmlformats.org/officeDocument/2006/relationships/image" Target="../media/image72.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7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79.png"/><Relationship Id="rId5" Type="http://schemas.openxmlformats.org/officeDocument/2006/relationships/image" Target="../media/image8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8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8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8.png"/><Relationship Id="rId6" Type="http://schemas.openxmlformats.org/officeDocument/2006/relationships/image" Target="../media/image9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85.png"/><Relationship Id="rId5" Type="http://schemas.openxmlformats.org/officeDocument/2006/relationships/hyperlink" Target="https://orientai-deployment.streamlit.app/"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8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8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9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0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9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9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9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9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9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80.png"/><Relationship Id="rId4" Type="http://schemas.openxmlformats.org/officeDocument/2006/relationships/image" Target="../media/image41.png"/><Relationship Id="rId9" Type="http://schemas.openxmlformats.org/officeDocument/2006/relationships/image" Target="../media/image102.png"/><Relationship Id="rId5" Type="http://schemas.openxmlformats.org/officeDocument/2006/relationships/image" Target="../media/image43.png"/><Relationship Id="rId6" Type="http://schemas.openxmlformats.org/officeDocument/2006/relationships/image" Target="../media/image42.png"/><Relationship Id="rId7" Type="http://schemas.openxmlformats.org/officeDocument/2006/relationships/image" Target="../media/image103.png"/><Relationship Id="rId8" Type="http://schemas.openxmlformats.org/officeDocument/2006/relationships/image" Target="../media/image9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99.png"/><Relationship Id="rId5"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30"/>
          <p:cNvSpPr txBox="1"/>
          <p:nvPr/>
        </p:nvSpPr>
        <p:spPr>
          <a:xfrm>
            <a:off x="405300" y="2080375"/>
            <a:ext cx="11381400" cy="16161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5000" u="none" cap="none" strike="noStrike">
                <a:solidFill>
                  <a:srgbClr val="FFFFFF"/>
                </a:solidFill>
                <a:latin typeface="Syne ExtraBold"/>
                <a:ea typeface="Syne ExtraBold"/>
                <a:cs typeface="Syne ExtraBold"/>
                <a:sym typeface="Syne ExtraBold"/>
              </a:rPr>
              <a:t>ORIENT AI: Intelligent Guidance</a:t>
            </a:r>
            <a:endParaRPr sz="1900"/>
          </a:p>
        </p:txBody>
      </p:sp>
      <p:sp>
        <p:nvSpPr>
          <p:cNvPr id="153" name="Google Shape;153;p30"/>
          <p:cNvSpPr txBox="1"/>
          <p:nvPr/>
        </p:nvSpPr>
        <p:spPr>
          <a:xfrm>
            <a:off x="1338150" y="3983550"/>
            <a:ext cx="9515700" cy="323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2100">
                <a:solidFill>
                  <a:srgbClr val="94A3B8"/>
                </a:solidFill>
                <a:latin typeface="DM Sans"/>
                <a:ea typeface="DM Sans"/>
                <a:cs typeface="DM Sans"/>
                <a:sym typeface="DM Sans"/>
              </a:rPr>
              <a:t>An AI-Driven Application for Predicting Academic Fit and Career Satisfaction</a:t>
            </a:r>
            <a:endParaRPr sz="2100"/>
          </a:p>
        </p:txBody>
      </p:sp>
      <p:sp>
        <p:nvSpPr>
          <p:cNvPr id="154" name="Google Shape;154;p30"/>
          <p:cNvSpPr txBox="1"/>
          <p:nvPr/>
        </p:nvSpPr>
        <p:spPr>
          <a:xfrm>
            <a:off x="6589126" y="5666925"/>
            <a:ext cx="4946100" cy="404100"/>
          </a:xfrm>
          <a:prstGeom prst="rect">
            <a:avLst/>
          </a:prstGeom>
          <a:noFill/>
          <a:ln>
            <a:noFill/>
          </a:ln>
        </p:spPr>
        <p:txBody>
          <a:bodyPr anchorCtr="0" anchor="t" bIns="0" lIns="0" spcFirstLastPara="1" rIns="0" wrap="square" tIns="0">
            <a:spAutoFit/>
          </a:bodyPr>
          <a:lstStyle/>
          <a:p>
            <a:pPr indent="0" lvl="0" marL="0" marR="0" rtl="0" algn="r">
              <a:lnSpc>
                <a:spcPct val="87500"/>
              </a:lnSpc>
              <a:spcBef>
                <a:spcPts val="0"/>
              </a:spcBef>
              <a:spcAft>
                <a:spcPts val="0"/>
              </a:spcAft>
              <a:buNone/>
            </a:pPr>
            <a:r>
              <a:rPr b="0" i="0" lang="en-US" sz="1500" u="none" cap="none" strike="noStrike">
                <a:solidFill>
                  <a:srgbClr val="64748B"/>
                </a:solidFill>
                <a:latin typeface="DM Sans"/>
                <a:ea typeface="DM Sans"/>
                <a:cs typeface="DM Sans"/>
                <a:sym typeface="DM Sans"/>
              </a:rPr>
              <a:t>Tutors: </a:t>
            </a:r>
            <a:r>
              <a:rPr b="1" i="0" lang="en-US" sz="1500" u="none" cap="none" strike="noStrike">
                <a:solidFill>
                  <a:srgbClr val="A78BFA"/>
                </a:solidFill>
                <a:latin typeface="DM Sans"/>
                <a:ea typeface="DM Sans"/>
                <a:cs typeface="DM Sans"/>
                <a:sym typeface="DM Sans"/>
              </a:rPr>
              <a:t>Joanna Jojczyk &amp; Zdzisława Rowińska</a:t>
            </a:r>
            <a:br>
              <a:rPr b="0" i="0" lang="en-US" sz="1500" u="none" cap="none" strike="noStrike">
                <a:solidFill>
                  <a:srgbClr val="A78BFA"/>
                </a:solidFill>
                <a:latin typeface="Calibri"/>
                <a:ea typeface="Calibri"/>
                <a:cs typeface="Calibri"/>
                <a:sym typeface="Calibri"/>
              </a:rPr>
            </a:br>
            <a:r>
              <a:rPr b="0" i="0" lang="en-US" sz="1500" u="none" cap="none" strike="noStrike">
                <a:solidFill>
                  <a:srgbClr val="64748B"/>
                </a:solidFill>
                <a:latin typeface="DM Sans"/>
                <a:ea typeface="DM Sans"/>
                <a:cs typeface="DM Sans"/>
                <a:sym typeface="DM Sans"/>
              </a:rPr>
              <a:t> Department of Computer Science &amp; ML Sub-Teams</a:t>
            </a:r>
            <a:endParaRPr sz="1500"/>
          </a:p>
        </p:txBody>
      </p:sp>
      <p:sp>
        <p:nvSpPr>
          <p:cNvPr id="155" name="Google Shape;155;p30"/>
          <p:cNvSpPr txBox="1"/>
          <p:nvPr>
            <p:ph idx="12" type="sldNum"/>
          </p:nvPr>
        </p:nvSpPr>
        <p:spPr>
          <a:xfrm>
            <a:off x="9401625" y="6214400"/>
            <a:ext cx="2385000" cy="507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pic>
        <p:nvPicPr>
          <p:cNvPr descr="image.png" id="160" name="Google Shape;160;p31"/>
          <p:cNvPicPr preferRelativeResize="0"/>
          <p:nvPr/>
        </p:nvPicPr>
        <p:blipFill rotWithShape="1">
          <a:blip r:embed="rId4">
            <a:alphaModFix/>
          </a:blip>
          <a:srcRect b="0" l="0" r="0" t="0"/>
          <a:stretch/>
        </p:blipFill>
        <p:spPr>
          <a:xfrm>
            <a:off x="676275" y="2647950"/>
            <a:ext cx="2602706" cy="1409700"/>
          </a:xfrm>
          <a:prstGeom prst="rect">
            <a:avLst/>
          </a:prstGeom>
          <a:noFill/>
          <a:ln>
            <a:noFill/>
          </a:ln>
        </p:spPr>
      </p:pic>
      <p:pic>
        <p:nvPicPr>
          <p:cNvPr descr="image.png" id="161" name="Google Shape;161;p31"/>
          <p:cNvPicPr preferRelativeResize="0"/>
          <p:nvPr/>
        </p:nvPicPr>
        <p:blipFill rotWithShape="1">
          <a:blip r:embed="rId5">
            <a:alphaModFix/>
          </a:blip>
          <a:srcRect b="0" l="0" r="0" t="0"/>
          <a:stretch/>
        </p:blipFill>
        <p:spPr>
          <a:xfrm>
            <a:off x="3421856" y="2647950"/>
            <a:ext cx="2602706" cy="1409700"/>
          </a:xfrm>
          <a:prstGeom prst="rect">
            <a:avLst/>
          </a:prstGeom>
          <a:noFill/>
          <a:ln>
            <a:noFill/>
          </a:ln>
        </p:spPr>
      </p:pic>
      <p:pic>
        <p:nvPicPr>
          <p:cNvPr descr="image.png" id="162" name="Google Shape;162;p31"/>
          <p:cNvPicPr preferRelativeResize="0"/>
          <p:nvPr/>
        </p:nvPicPr>
        <p:blipFill rotWithShape="1">
          <a:blip r:embed="rId6">
            <a:alphaModFix/>
          </a:blip>
          <a:srcRect b="0" l="0" r="0" t="0"/>
          <a:stretch/>
        </p:blipFill>
        <p:spPr>
          <a:xfrm>
            <a:off x="6167437" y="2647950"/>
            <a:ext cx="2602706" cy="1409700"/>
          </a:xfrm>
          <a:prstGeom prst="rect">
            <a:avLst/>
          </a:prstGeom>
          <a:noFill/>
          <a:ln>
            <a:noFill/>
          </a:ln>
        </p:spPr>
      </p:pic>
      <p:pic>
        <p:nvPicPr>
          <p:cNvPr descr="image.png" id="163" name="Google Shape;163;p31"/>
          <p:cNvPicPr preferRelativeResize="0"/>
          <p:nvPr/>
        </p:nvPicPr>
        <p:blipFill rotWithShape="1">
          <a:blip r:embed="rId4">
            <a:alphaModFix/>
          </a:blip>
          <a:srcRect b="0" l="0" r="0" t="0"/>
          <a:stretch/>
        </p:blipFill>
        <p:spPr>
          <a:xfrm>
            <a:off x="8913018" y="2647950"/>
            <a:ext cx="2602706" cy="1409700"/>
          </a:xfrm>
          <a:prstGeom prst="rect">
            <a:avLst/>
          </a:prstGeom>
          <a:noFill/>
          <a:ln>
            <a:noFill/>
          </a:ln>
        </p:spPr>
      </p:pic>
      <p:pic>
        <p:nvPicPr>
          <p:cNvPr descr="image.png" id="164" name="Google Shape;164;p31"/>
          <p:cNvPicPr preferRelativeResize="0"/>
          <p:nvPr/>
        </p:nvPicPr>
        <p:blipFill rotWithShape="1">
          <a:blip r:embed="rId7">
            <a:alphaModFix/>
          </a:blip>
          <a:srcRect b="0" l="0" r="0" t="0"/>
          <a:stretch/>
        </p:blipFill>
        <p:spPr>
          <a:xfrm>
            <a:off x="2040738" y="4195763"/>
            <a:ext cx="2602706" cy="1409700"/>
          </a:xfrm>
          <a:prstGeom prst="rect">
            <a:avLst/>
          </a:prstGeom>
          <a:noFill/>
          <a:ln>
            <a:noFill/>
          </a:ln>
        </p:spPr>
      </p:pic>
      <p:pic>
        <p:nvPicPr>
          <p:cNvPr descr="image.png" id="165" name="Google Shape;165;p31"/>
          <p:cNvPicPr preferRelativeResize="0"/>
          <p:nvPr/>
        </p:nvPicPr>
        <p:blipFill rotWithShape="1">
          <a:blip r:embed="rId5">
            <a:alphaModFix/>
          </a:blip>
          <a:srcRect b="0" l="0" r="0" t="0"/>
          <a:stretch/>
        </p:blipFill>
        <p:spPr>
          <a:xfrm>
            <a:off x="4786319" y="4195763"/>
            <a:ext cx="2602706" cy="1409700"/>
          </a:xfrm>
          <a:prstGeom prst="rect">
            <a:avLst/>
          </a:prstGeom>
          <a:noFill/>
          <a:ln>
            <a:noFill/>
          </a:ln>
        </p:spPr>
      </p:pic>
      <p:pic>
        <p:nvPicPr>
          <p:cNvPr descr="image.png" id="166" name="Google Shape;166;p31"/>
          <p:cNvPicPr preferRelativeResize="0"/>
          <p:nvPr/>
        </p:nvPicPr>
        <p:blipFill rotWithShape="1">
          <a:blip r:embed="rId8">
            <a:alphaModFix/>
          </a:blip>
          <a:srcRect b="0" l="0" r="0" t="0"/>
          <a:stretch/>
        </p:blipFill>
        <p:spPr>
          <a:xfrm>
            <a:off x="7531881" y="4186238"/>
            <a:ext cx="2619375" cy="1409700"/>
          </a:xfrm>
          <a:prstGeom prst="rect">
            <a:avLst/>
          </a:prstGeom>
          <a:noFill/>
          <a:ln>
            <a:noFill/>
          </a:ln>
        </p:spPr>
      </p:pic>
      <p:sp>
        <p:nvSpPr>
          <p:cNvPr id="167" name="Google Shape;167;p31"/>
          <p:cNvSpPr txBox="1"/>
          <p:nvPr/>
        </p:nvSpPr>
        <p:spPr>
          <a:xfrm>
            <a:off x="701400" y="1428400"/>
            <a:ext cx="10789200" cy="7695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0" i="0" lang="en-US" sz="2000" u="none" cap="none" strike="noStrike">
                <a:solidFill>
                  <a:srgbClr val="94A3B8"/>
                </a:solidFill>
                <a:latin typeface="DM Sans"/>
                <a:ea typeface="DM Sans"/>
                <a:cs typeface="DM Sans"/>
                <a:sym typeface="DM Sans"/>
              </a:rPr>
              <a:t>A multidisciplinary engineering group split into software development and machine learning sub-teams to build Orient AI.</a:t>
            </a:r>
            <a:endParaRPr sz="2000"/>
          </a:p>
        </p:txBody>
      </p:sp>
      <p:pic>
        <p:nvPicPr>
          <p:cNvPr descr="image.png" id="168" name="Google Shape;168;p31"/>
          <p:cNvPicPr preferRelativeResize="0"/>
          <p:nvPr/>
        </p:nvPicPr>
        <p:blipFill rotWithShape="1">
          <a:blip r:embed="rId9">
            <a:alphaModFix/>
          </a:blip>
          <a:srcRect b="0" l="0" r="0" t="0"/>
          <a:stretch/>
        </p:blipFill>
        <p:spPr>
          <a:xfrm>
            <a:off x="1644253" y="2800350"/>
            <a:ext cx="666750" cy="666750"/>
          </a:xfrm>
          <a:prstGeom prst="rect">
            <a:avLst/>
          </a:prstGeom>
          <a:noFill/>
          <a:ln>
            <a:noFill/>
          </a:ln>
        </p:spPr>
      </p:pic>
      <p:sp>
        <p:nvSpPr>
          <p:cNvPr id="169" name="Google Shape;169;p31"/>
          <p:cNvSpPr txBox="1"/>
          <p:nvPr/>
        </p:nvSpPr>
        <p:spPr>
          <a:xfrm>
            <a:off x="1352576" y="3600575"/>
            <a:ext cx="1250100" cy="4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FFFFFF"/>
                </a:solidFill>
                <a:latin typeface="DM Sans SemiBold"/>
                <a:ea typeface="DM Sans SemiBold"/>
                <a:cs typeface="DM Sans SemiBold"/>
                <a:sym typeface="DM Sans SemiBold"/>
              </a:rPr>
              <a:t>Aroa Aguiño Domínguez</a:t>
            </a:r>
            <a:endParaRPr sz="1500"/>
          </a:p>
        </p:txBody>
      </p:sp>
      <p:pic>
        <p:nvPicPr>
          <p:cNvPr descr="image.png" id="170" name="Google Shape;170;p31"/>
          <p:cNvPicPr preferRelativeResize="0"/>
          <p:nvPr/>
        </p:nvPicPr>
        <p:blipFill rotWithShape="1">
          <a:blip r:embed="rId10">
            <a:alphaModFix/>
          </a:blip>
          <a:srcRect b="0" l="0" r="0" t="0"/>
          <a:stretch/>
        </p:blipFill>
        <p:spPr>
          <a:xfrm>
            <a:off x="4389834" y="2800350"/>
            <a:ext cx="666750" cy="666750"/>
          </a:xfrm>
          <a:prstGeom prst="rect">
            <a:avLst/>
          </a:prstGeom>
          <a:noFill/>
          <a:ln>
            <a:noFill/>
          </a:ln>
        </p:spPr>
      </p:pic>
      <p:sp>
        <p:nvSpPr>
          <p:cNvPr id="171" name="Google Shape;171;p31"/>
          <p:cNvSpPr txBox="1"/>
          <p:nvPr/>
        </p:nvSpPr>
        <p:spPr>
          <a:xfrm>
            <a:off x="4098131" y="3562350"/>
            <a:ext cx="1250100" cy="4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FFFFFF"/>
                </a:solidFill>
                <a:latin typeface="DM Sans SemiBold"/>
                <a:ea typeface="DM Sans SemiBold"/>
                <a:cs typeface="DM Sans SemiBold"/>
                <a:sym typeface="DM Sans SemiBold"/>
              </a:rPr>
              <a:t>María Encina Díez del Río</a:t>
            </a:r>
            <a:endParaRPr sz="1500"/>
          </a:p>
        </p:txBody>
      </p:sp>
      <p:pic>
        <p:nvPicPr>
          <p:cNvPr descr="image.png" id="172" name="Google Shape;172;p31"/>
          <p:cNvPicPr preferRelativeResize="0"/>
          <p:nvPr/>
        </p:nvPicPr>
        <p:blipFill rotWithShape="1">
          <a:blip r:embed="rId11">
            <a:alphaModFix/>
          </a:blip>
          <a:srcRect b="0" l="0" r="0" t="0"/>
          <a:stretch/>
        </p:blipFill>
        <p:spPr>
          <a:xfrm>
            <a:off x="7135415" y="2800350"/>
            <a:ext cx="666750" cy="666750"/>
          </a:xfrm>
          <a:prstGeom prst="rect">
            <a:avLst/>
          </a:prstGeom>
          <a:noFill/>
          <a:ln>
            <a:noFill/>
          </a:ln>
        </p:spPr>
      </p:pic>
      <p:sp>
        <p:nvSpPr>
          <p:cNvPr id="173" name="Google Shape;173;p31"/>
          <p:cNvSpPr txBox="1"/>
          <p:nvPr/>
        </p:nvSpPr>
        <p:spPr>
          <a:xfrm>
            <a:off x="6638992" y="3595825"/>
            <a:ext cx="1659600" cy="4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500">
                <a:solidFill>
                  <a:srgbClr val="FFFFFF"/>
                </a:solidFill>
                <a:latin typeface="DM Sans SemiBold"/>
                <a:ea typeface="DM Sans SemiBold"/>
                <a:cs typeface="DM Sans SemiBold"/>
                <a:sym typeface="DM Sans SemiBold"/>
              </a:rPr>
              <a:t>Jorge Domínguez Palomo</a:t>
            </a:r>
            <a:endParaRPr sz="1500">
              <a:solidFill>
                <a:srgbClr val="FFFFFF"/>
              </a:solidFill>
              <a:latin typeface="DM Sans SemiBold"/>
              <a:ea typeface="DM Sans SemiBold"/>
              <a:cs typeface="DM Sans SemiBold"/>
              <a:sym typeface="DM Sans SemiBold"/>
            </a:endParaRPr>
          </a:p>
        </p:txBody>
      </p:sp>
      <p:pic>
        <p:nvPicPr>
          <p:cNvPr descr="image.png" id="174" name="Google Shape;174;p31"/>
          <p:cNvPicPr preferRelativeResize="0"/>
          <p:nvPr/>
        </p:nvPicPr>
        <p:blipFill rotWithShape="1">
          <a:blip r:embed="rId12">
            <a:alphaModFix/>
          </a:blip>
          <a:srcRect b="0" l="0" r="0" t="0"/>
          <a:stretch/>
        </p:blipFill>
        <p:spPr>
          <a:xfrm>
            <a:off x="9880996" y="2800350"/>
            <a:ext cx="666750" cy="666750"/>
          </a:xfrm>
          <a:prstGeom prst="rect">
            <a:avLst/>
          </a:prstGeom>
          <a:noFill/>
          <a:ln>
            <a:noFill/>
          </a:ln>
        </p:spPr>
      </p:pic>
      <p:sp>
        <p:nvSpPr>
          <p:cNvPr id="175" name="Google Shape;175;p31"/>
          <p:cNvSpPr txBox="1"/>
          <p:nvPr/>
        </p:nvSpPr>
        <p:spPr>
          <a:xfrm>
            <a:off x="9531111" y="3595825"/>
            <a:ext cx="1366500" cy="4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500">
                <a:solidFill>
                  <a:srgbClr val="FFFFFF"/>
                </a:solidFill>
                <a:latin typeface="DM Sans SemiBold"/>
                <a:ea typeface="DM Sans SemiBold"/>
                <a:cs typeface="DM Sans SemiBold"/>
                <a:sym typeface="DM Sans SemiBold"/>
              </a:rPr>
              <a:t>Jaime Esteban Reano</a:t>
            </a:r>
            <a:endParaRPr sz="1500">
              <a:solidFill>
                <a:srgbClr val="FFFFFF"/>
              </a:solidFill>
              <a:latin typeface="DM Sans SemiBold"/>
              <a:ea typeface="DM Sans SemiBold"/>
              <a:cs typeface="DM Sans SemiBold"/>
              <a:sym typeface="DM Sans SemiBold"/>
            </a:endParaRPr>
          </a:p>
        </p:txBody>
      </p:sp>
      <p:pic>
        <p:nvPicPr>
          <p:cNvPr descr="image.png" id="176" name="Google Shape;176;p31"/>
          <p:cNvPicPr preferRelativeResize="0"/>
          <p:nvPr/>
        </p:nvPicPr>
        <p:blipFill rotWithShape="1">
          <a:blip r:embed="rId13">
            <a:alphaModFix/>
          </a:blip>
          <a:srcRect b="0" l="0" r="0" t="0"/>
          <a:stretch/>
        </p:blipFill>
        <p:spPr>
          <a:xfrm>
            <a:off x="3008716" y="4348163"/>
            <a:ext cx="666750" cy="666750"/>
          </a:xfrm>
          <a:prstGeom prst="rect">
            <a:avLst/>
          </a:prstGeom>
          <a:noFill/>
          <a:ln>
            <a:noFill/>
          </a:ln>
        </p:spPr>
      </p:pic>
      <p:sp>
        <p:nvSpPr>
          <p:cNvPr id="177" name="Google Shape;177;p31"/>
          <p:cNvSpPr txBox="1"/>
          <p:nvPr/>
        </p:nvSpPr>
        <p:spPr>
          <a:xfrm>
            <a:off x="2512291" y="5110173"/>
            <a:ext cx="1659600" cy="4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500">
                <a:solidFill>
                  <a:srgbClr val="FFFFFF"/>
                </a:solidFill>
                <a:latin typeface="DM Sans SemiBold"/>
                <a:ea typeface="DM Sans SemiBold"/>
                <a:cs typeface="DM Sans SemiBold"/>
                <a:sym typeface="DM Sans SemiBold"/>
              </a:rPr>
              <a:t>Mario Fernández Costello</a:t>
            </a:r>
            <a:endParaRPr sz="1500">
              <a:solidFill>
                <a:srgbClr val="FFFFFF"/>
              </a:solidFill>
              <a:latin typeface="DM Sans SemiBold"/>
              <a:ea typeface="DM Sans SemiBold"/>
              <a:cs typeface="DM Sans SemiBold"/>
              <a:sym typeface="DM Sans SemiBold"/>
            </a:endParaRPr>
          </a:p>
        </p:txBody>
      </p:sp>
      <p:pic>
        <p:nvPicPr>
          <p:cNvPr descr="image.png" id="178" name="Google Shape;178;p31"/>
          <p:cNvPicPr preferRelativeResize="0"/>
          <p:nvPr/>
        </p:nvPicPr>
        <p:blipFill rotWithShape="1">
          <a:blip r:embed="rId14">
            <a:alphaModFix/>
          </a:blip>
          <a:srcRect b="0" l="0" r="0" t="0"/>
          <a:stretch/>
        </p:blipFill>
        <p:spPr>
          <a:xfrm>
            <a:off x="5754297" y="4348163"/>
            <a:ext cx="666750" cy="666750"/>
          </a:xfrm>
          <a:prstGeom prst="rect">
            <a:avLst/>
          </a:prstGeom>
          <a:noFill/>
          <a:ln>
            <a:noFill/>
          </a:ln>
        </p:spPr>
      </p:pic>
      <p:sp>
        <p:nvSpPr>
          <p:cNvPr id="179" name="Google Shape;179;p31"/>
          <p:cNvSpPr txBox="1"/>
          <p:nvPr/>
        </p:nvSpPr>
        <p:spPr>
          <a:xfrm>
            <a:off x="5404410" y="5110150"/>
            <a:ext cx="1366500" cy="4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FFFFFF"/>
                </a:solidFill>
                <a:latin typeface="DM Sans SemiBold"/>
                <a:ea typeface="DM Sans SemiBold"/>
                <a:cs typeface="DM Sans SemiBold"/>
                <a:sym typeface="DM Sans SemiBold"/>
              </a:rPr>
              <a:t>Naroa Genicio Iglesias</a:t>
            </a:r>
            <a:endParaRPr sz="1500"/>
          </a:p>
        </p:txBody>
      </p:sp>
      <p:pic>
        <p:nvPicPr>
          <p:cNvPr descr="image.png" id="180" name="Google Shape;180;p31"/>
          <p:cNvPicPr preferRelativeResize="0"/>
          <p:nvPr/>
        </p:nvPicPr>
        <p:blipFill rotWithShape="1">
          <a:blip r:embed="rId15">
            <a:alphaModFix/>
          </a:blip>
          <a:srcRect b="0" l="0" r="0" t="0"/>
          <a:stretch/>
        </p:blipFill>
        <p:spPr>
          <a:xfrm>
            <a:off x="8508194" y="4338638"/>
            <a:ext cx="666750" cy="666750"/>
          </a:xfrm>
          <a:prstGeom prst="rect">
            <a:avLst/>
          </a:prstGeom>
          <a:noFill/>
          <a:ln>
            <a:noFill/>
          </a:ln>
        </p:spPr>
      </p:pic>
      <p:sp>
        <p:nvSpPr>
          <p:cNvPr id="181" name="Google Shape;181;p31"/>
          <p:cNvSpPr txBox="1"/>
          <p:nvPr/>
        </p:nvSpPr>
        <p:spPr>
          <a:xfrm>
            <a:off x="8158324" y="5110176"/>
            <a:ext cx="1366500" cy="4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500">
                <a:solidFill>
                  <a:srgbClr val="FFFFFF"/>
                </a:solidFill>
                <a:latin typeface="DM Sans SemiBold"/>
                <a:ea typeface="DM Sans SemiBold"/>
                <a:cs typeface="DM Sans SemiBold"/>
                <a:sym typeface="DM Sans SemiBold"/>
              </a:rPr>
              <a:t>David Sánchez Sánchez</a:t>
            </a:r>
            <a:endParaRPr sz="1500">
              <a:solidFill>
                <a:srgbClr val="FFFFFF"/>
              </a:solidFill>
              <a:latin typeface="DM Sans SemiBold"/>
              <a:ea typeface="DM Sans SemiBold"/>
              <a:cs typeface="DM Sans SemiBold"/>
              <a:sym typeface="DM Sans SemiBold"/>
            </a:endParaRPr>
          </a:p>
        </p:txBody>
      </p:sp>
      <p:pic>
        <p:nvPicPr>
          <p:cNvPr descr="image.png" id="182" name="Google Shape;182;p31"/>
          <p:cNvPicPr preferRelativeResize="0"/>
          <p:nvPr/>
        </p:nvPicPr>
        <p:blipFill rotWithShape="1">
          <a:blip r:embed="rId16">
            <a:alphaModFix/>
          </a:blip>
          <a:srcRect b="0" l="0" r="0" t="0"/>
          <a:stretch/>
        </p:blipFill>
        <p:spPr>
          <a:xfrm>
            <a:off x="1877615" y="3019425"/>
            <a:ext cx="200025" cy="228600"/>
          </a:xfrm>
          <a:prstGeom prst="rect">
            <a:avLst/>
          </a:prstGeom>
          <a:noFill/>
          <a:ln>
            <a:noFill/>
          </a:ln>
        </p:spPr>
      </p:pic>
      <p:pic>
        <p:nvPicPr>
          <p:cNvPr descr="image.png" id="183" name="Google Shape;183;p31"/>
          <p:cNvPicPr preferRelativeResize="0"/>
          <p:nvPr/>
        </p:nvPicPr>
        <p:blipFill rotWithShape="1">
          <a:blip r:embed="rId16">
            <a:alphaModFix/>
          </a:blip>
          <a:srcRect b="0" l="0" r="0" t="0"/>
          <a:stretch/>
        </p:blipFill>
        <p:spPr>
          <a:xfrm>
            <a:off x="4623196" y="3019425"/>
            <a:ext cx="200025" cy="228600"/>
          </a:xfrm>
          <a:prstGeom prst="rect">
            <a:avLst/>
          </a:prstGeom>
          <a:noFill/>
          <a:ln>
            <a:noFill/>
          </a:ln>
        </p:spPr>
      </p:pic>
      <p:pic>
        <p:nvPicPr>
          <p:cNvPr descr="image.png" id="184" name="Google Shape;184;p31"/>
          <p:cNvPicPr preferRelativeResize="0"/>
          <p:nvPr/>
        </p:nvPicPr>
        <p:blipFill rotWithShape="1">
          <a:blip r:embed="rId17">
            <a:alphaModFix/>
          </a:blip>
          <a:srcRect b="0" l="0" r="0" t="0"/>
          <a:stretch/>
        </p:blipFill>
        <p:spPr>
          <a:xfrm>
            <a:off x="7368778" y="3019425"/>
            <a:ext cx="200025" cy="228600"/>
          </a:xfrm>
          <a:prstGeom prst="rect">
            <a:avLst/>
          </a:prstGeom>
          <a:noFill/>
          <a:ln>
            <a:noFill/>
          </a:ln>
        </p:spPr>
      </p:pic>
      <p:pic>
        <p:nvPicPr>
          <p:cNvPr descr="image.png" id="185" name="Google Shape;185;p31"/>
          <p:cNvPicPr preferRelativeResize="0"/>
          <p:nvPr/>
        </p:nvPicPr>
        <p:blipFill rotWithShape="1">
          <a:blip r:embed="rId17">
            <a:alphaModFix/>
          </a:blip>
          <a:srcRect b="0" l="0" r="0" t="0"/>
          <a:stretch/>
        </p:blipFill>
        <p:spPr>
          <a:xfrm>
            <a:off x="10114359" y="3019425"/>
            <a:ext cx="200025" cy="228600"/>
          </a:xfrm>
          <a:prstGeom prst="rect">
            <a:avLst/>
          </a:prstGeom>
          <a:noFill/>
          <a:ln>
            <a:noFill/>
          </a:ln>
        </p:spPr>
      </p:pic>
      <p:pic>
        <p:nvPicPr>
          <p:cNvPr descr="image.png" id="186" name="Google Shape;186;p31"/>
          <p:cNvPicPr preferRelativeResize="0"/>
          <p:nvPr/>
        </p:nvPicPr>
        <p:blipFill rotWithShape="1">
          <a:blip r:embed="rId16">
            <a:alphaModFix/>
          </a:blip>
          <a:srcRect b="0" l="0" r="0" t="0"/>
          <a:stretch/>
        </p:blipFill>
        <p:spPr>
          <a:xfrm>
            <a:off x="3242077" y="4567238"/>
            <a:ext cx="200025" cy="228600"/>
          </a:xfrm>
          <a:prstGeom prst="rect">
            <a:avLst/>
          </a:prstGeom>
          <a:noFill/>
          <a:ln>
            <a:noFill/>
          </a:ln>
        </p:spPr>
      </p:pic>
      <p:pic>
        <p:nvPicPr>
          <p:cNvPr descr="image.png" id="187" name="Google Shape;187;p31"/>
          <p:cNvPicPr preferRelativeResize="0"/>
          <p:nvPr/>
        </p:nvPicPr>
        <p:blipFill rotWithShape="1">
          <a:blip r:embed="rId16">
            <a:alphaModFix/>
          </a:blip>
          <a:srcRect b="0" l="0" r="0" t="0"/>
          <a:stretch/>
        </p:blipFill>
        <p:spPr>
          <a:xfrm>
            <a:off x="5987658" y="4567238"/>
            <a:ext cx="200025" cy="228600"/>
          </a:xfrm>
          <a:prstGeom prst="rect">
            <a:avLst/>
          </a:prstGeom>
          <a:noFill/>
          <a:ln>
            <a:noFill/>
          </a:ln>
        </p:spPr>
      </p:pic>
      <p:pic>
        <p:nvPicPr>
          <p:cNvPr descr="image.png" id="188" name="Google Shape;188;p31"/>
          <p:cNvPicPr preferRelativeResize="0"/>
          <p:nvPr/>
        </p:nvPicPr>
        <p:blipFill rotWithShape="1">
          <a:blip r:embed="rId16">
            <a:alphaModFix/>
          </a:blip>
          <a:srcRect b="0" l="0" r="0" t="0"/>
          <a:stretch/>
        </p:blipFill>
        <p:spPr>
          <a:xfrm>
            <a:off x="8741556" y="4557713"/>
            <a:ext cx="200025" cy="228600"/>
          </a:xfrm>
          <a:prstGeom prst="rect">
            <a:avLst/>
          </a:prstGeom>
          <a:noFill/>
          <a:ln>
            <a:noFill/>
          </a:ln>
        </p:spPr>
      </p:pic>
      <p:sp>
        <p:nvSpPr>
          <p:cNvPr id="189" name="Google Shape;189;p31"/>
          <p:cNvSpPr txBox="1"/>
          <p:nvPr/>
        </p:nvSpPr>
        <p:spPr>
          <a:xfrm>
            <a:off x="819150" y="485775"/>
            <a:ext cx="11231400" cy="492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FFFFFF"/>
                </a:solidFill>
                <a:latin typeface="Syne ExtraBold"/>
                <a:ea typeface="Syne ExtraBold"/>
                <a:cs typeface="Syne ExtraBold"/>
                <a:sym typeface="Syne ExtraBold"/>
              </a:rPr>
              <a:t>Meet the Team </a:t>
            </a:r>
            <a:endParaRPr sz="3200"/>
          </a:p>
        </p:txBody>
      </p:sp>
      <p:sp>
        <p:nvSpPr>
          <p:cNvPr id="190" name="Google Shape;190;p31"/>
          <p:cNvSpPr/>
          <p:nvPr/>
        </p:nvSpPr>
        <p:spPr>
          <a:xfrm>
            <a:off x="676275" y="485775"/>
            <a:ext cx="47625" cy="43815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91" name="Google Shape;191;p31"/>
          <p:cNvPicPr preferRelativeResize="0"/>
          <p:nvPr/>
        </p:nvPicPr>
        <p:blipFill rotWithShape="1">
          <a:blip r:embed="rId18">
            <a:alphaModFix/>
          </a:blip>
          <a:srcRect b="-3260" l="0" r="0" t="3260"/>
          <a:stretch/>
        </p:blipFill>
        <p:spPr>
          <a:xfrm>
            <a:off x="1542635" y="2528106"/>
            <a:ext cx="870000" cy="939000"/>
          </a:xfrm>
          <a:prstGeom prst="ellipse">
            <a:avLst/>
          </a:prstGeom>
          <a:noFill/>
          <a:ln cap="flat" cmpd="sng" w="9525">
            <a:solidFill>
              <a:srgbClr val="E2CDCE"/>
            </a:solidFill>
            <a:prstDash val="solid"/>
            <a:round/>
            <a:headEnd len="sm" w="sm" type="none"/>
            <a:tailEnd len="sm" w="sm" type="none"/>
          </a:ln>
        </p:spPr>
      </p:pic>
      <p:pic>
        <p:nvPicPr>
          <p:cNvPr id="192" name="Google Shape;192;p31"/>
          <p:cNvPicPr preferRelativeResize="0"/>
          <p:nvPr/>
        </p:nvPicPr>
        <p:blipFill rotWithShape="1">
          <a:blip r:embed="rId19">
            <a:alphaModFix/>
          </a:blip>
          <a:srcRect b="11029" l="10313" r="5228" t="11029"/>
          <a:stretch/>
        </p:blipFill>
        <p:spPr>
          <a:xfrm>
            <a:off x="5705913" y="4114412"/>
            <a:ext cx="763500" cy="939000"/>
          </a:xfrm>
          <a:prstGeom prst="ellipse">
            <a:avLst/>
          </a:prstGeom>
          <a:noFill/>
          <a:ln cap="flat" cmpd="sng" w="9525">
            <a:solidFill>
              <a:srgbClr val="E2CDCE"/>
            </a:solidFill>
            <a:prstDash val="solid"/>
            <a:round/>
            <a:headEnd len="sm" w="sm" type="none"/>
            <a:tailEnd len="sm" w="sm" type="none"/>
          </a:ln>
        </p:spPr>
      </p:pic>
      <p:pic>
        <p:nvPicPr>
          <p:cNvPr id="193" name="Google Shape;193;p31" title="WhatsApp Image 2026-04-14 at 20.47.35.jpeg"/>
          <p:cNvPicPr preferRelativeResize="0"/>
          <p:nvPr/>
        </p:nvPicPr>
        <p:blipFill rotWithShape="1">
          <a:blip r:embed="rId20">
            <a:alphaModFix/>
          </a:blip>
          <a:srcRect b="6949" l="0" r="0" t="6949"/>
          <a:stretch/>
        </p:blipFill>
        <p:spPr>
          <a:xfrm>
            <a:off x="4341450" y="2528100"/>
            <a:ext cx="763500" cy="939000"/>
          </a:xfrm>
          <a:prstGeom prst="ellipse">
            <a:avLst/>
          </a:prstGeom>
          <a:noFill/>
          <a:ln cap="flat" cmpd="sng" w="9525">
            <a:solidFill>
              <a:srgbClr val="E2CDCE"/>
            </a:solidFill>
            <a:prstDash val="solid"/>
            <a:round/>
            <a:headEnd len="sm" w="sm" type="none"/>
            <a:tailEnd len="sm" w="sm" type="none"/>
          </a:ln>
        </p:spPr>
      </p:pic>
      <p:pic>
        <p:nvPicPr>
          <p:cNvPr id="194" name="Google Shape;194;p31" title="WhatsApp Image 2026-04-14 at 18.17.44.jpeg"/>
          <p:cNvPicPr preferRelativeResize="0"/>
          <p:nvPr/>
        </p:nvPicPr>
        <p:blipFill rotWithShape="1">
          <a:blip r:embed="rId21">
            <a:alphaModFix/>
          </a:blip>
          <a:srcRect b="44335" l="11294" r="11294" t="7015"/>
          <a:stretch/>
        </p:blipFill>
        <p:spPr>
          <a:xfrm>
            <a:off x="2907175" y="4057650"/>
            <a:ext cx="870000" cy="972000"/>
          </a:xfrm>
          <a:prstGeom prst="ellipse">
            <a:avLst/>
          </a:prstGeom>
          <a:noFill/>
          <a:ln cap="flat" cmpd="sng" w="9525">
            <a:solidFill>
              <a:srgbClr val="E2CDCE"/>
            </a:solidFill>
            <a:prstDash val="solid"/>
            <a:round/>
            <a:headEnd len="sm" w="sm" type="none"/>
            <a:tailEnd len="sm" w="sm" type="none"/>
          </a:ln>
        </p:spPr>
      </p:pic>
      <p:pic>
        <p:nvPicPr>
          <p:cNvPr id="195" name="Google Shape;195;p31" title="image0.jpeg"/>
          <p:cNvPicPr preferRelativeResize="0"/>
          <p:nvPr/>
        </p:nvPicPr>
        <p:blipFill rotWithShape="1">
          <a:blip r:embed="rId22">
            <a:alphaModFix/>
          </a:blip>
          <a:srcRect b="20070" l="5450" r="-5450" t="0"/>
          <a:stretch/>
        </p:blipFill>
        <p:spPr>
          <a:xfrm>
            <a:off x="7087036" y="2528102"/>
            <a:ext cx="763500" cy="939000"/>
          </a:xfrm>
          <a:prstGeom prst="ellipse">
            <a:avLst/>
          </a:prstGeom>
          <a:noFill/>
          <a:ln cap="flat" cmpd="sng" w="9525">
            <a:solidFill>
              <a:srgbClr val="E2CDCE"/>
            </a:solidFill>
            <a:prstDash val="solid"/>
            <a:round/>
            <a:headEnd len="sm" w="sm" type="none"/>
            <a:tailEnd len="sm" w="sm" type="none"/>
          </a:ln>
        </p:spPr>
      </p:pic>
      <p:pic>
        <p:nvPicPr>
          <p:cNvPr id="196" name="Google Shape;196;p31" title="WhatsApp Image 2026-04-14 at 20.56.42.jpeg"/>
          <p:cNvPicPr preferRelativeResize="0"/>
          <p:nvPr/>
        </p:nvPicPr>
        <p:blipFill rotWithShape="1">
          <a:blip r:embed="rId23">
            <a:alphaModFix/>
          </a:blip>
          <a:srcRect b="690" l="0" r="0" t="681"/>
          <a:stretch/>
        </p:blipFill>
        <p:spPr>
          <a:xfrm>
            <a:off x="9832623" y="2623344"/>
            <a:ext cx="763500" cy="939000"/>
          </a:xfrm>
          <a:prstGeom prst="ellipse">
            <a:avLst/>
          </a:prstGeom>
          <a:noFill/>
          <a:ln cap="flat" cmpd="sng" w="9525">
            <a:solidFill>
              <a:srgbClr val="E2CDCE"/>
            </a:solidFill>
            <a:prstDash val="solid"/>
            <a:round/>
            <a:headEnd len="sm" w="sm" type="none"/>
            <a:tailEnd len="sm" w="sm" type="none"/>
          </a:ln>
        </p:spPr>
      </p:pic>
      <p:pic>
        <p:nvPicPr>
          <p:cNvPr id="197" name="Google Shape;197;p31" title="WhatsApp Image 2026-04-14 at 20.05.48.jpeg"/>
          <p:cNvPicPr preferRelativeResize="0"/>
          <p:nvPr/>
        </p:nvPicPr>
        <p:blipFill rotWithShape="1">
          <a:blip r:embed="rId24">
            <a:alphaModFix/>
          </a:blip>
          <a:srcRect b="50820" l="44941" r="44942" t="42180"/>
          <a:stretch/>
        </p:blipFill>
        <p:spPr>
          <a:xfrm>
            <a:off x="8398175" y="4046450"/>
            <a:ext cx="873900" cy="1074900"/>
          </a:xfrm>
          <a:prstGeom prst="ellipse">
            <a:avLst/>
          </a:prstGeom>
          <a:noFill/>
          <a:ln cap="flat" cmpd="sng" w="9525">
            <a:solidFill>
              <a:srgbClr val="E2CDCE"/>
            </a:solidFill>
            <a:prstDash val="solid"/>
            <a:round/>
            <a:headEnd len="sm" w="sm" type="none"/>
            <a:tailEnd len="sm" w="sm" type="none"/>
          </a:ln>
        </p:spPr>
      </p:pic>
      <p:sp>
        <p:nvSpPr>
          <p:cNvPr id="198" name="Google Shape;198;p31"/>
          <p:cNvSpPr txBox="1"/>
          <p:nvPr>
            <p:ph idx="12" type="sldNum"/>
          </p:nvPr>
        </p:nvSpPr>
        <p:spPr>
          <a:xfrm>
            <a:off x="9881000" y="63674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32"/>
          <p:cNvSpPr txBox="1"/>
          <p:nvPr/>
        </p:nvSpPr>
        <p:spPr>
          <a:xfrm>
            <a:off x="705000" y="1477350"/>
            <a:ext cx="10782000" cy="615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94A3B8"/>
                </a:solidFill>
                <a:latin typeface="DM Sans"/>
                <a:ea typeface="DM Sans"/>
                <a:cs typeface="DM Sans"/>
                <a:sym typeface="DM Sans"/>
              </a:rPr>
              <a:t>Traditional systems are failing. Students face structural disorientation and friction in their careers.</a:t>
            </a:r>
            <a:endParaRPr b="0" i="0" sz="2000">
              <a:solidFill>
                <a:srgbClr val="94A3B8"/>
              </a:solidFill>
              <a:latin typeface="DM Sans"/>
              <a:ea typeface="DM Sans"/>
              <a:cs typeface="DM Sans"/>
              <a:sym typeface="DM Sans"/>
            </a:endParaRPr>
          </a:p>
        </p:txBody>
      </p:sp>
      <p:sp>
        <p:nvSpPr>
          <p:cNvPr id="204" name="Google Shape;204;p32"/>
          <p:cNvSpPr txBox="1"/>
          <p:nvPr/>
        </p:nvSpPr>
        <p:spPr>
          <a:xfrm>
            <a:off x="1284625" y="3022725"/>
            <a:ext cx="6381300" cy="307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E2E8F0"/>
                </a:solidFill>
                <a:latin typeface="DM Sans"/>
                <a:ea typeface="DM Sans"/>
                <a:cs typeface="DM Sans"/>
                <a:sym typeface="DM Sans"/>
              </a:rPr>
              <a:t>Obsolete and static instruments</a:t>
            </a:r>
            <a:endParaRPr b="1" i="0" sz="2000">
              <a:solidFill>
                <a:srgbClr val="E2E8F0"/>
              </a:solidFill>
              <a:latin typeface="DM Sans"/>
              <a:ea typeface="DM Sans"/>
              <a:cs typeface="DM Sans"/>
              <a:sym typeface="DM Sans"/>
            </a:endParaRPr>
          </a:p>
        </p:txBody>
      </p:sp>
      <p:sp>
        <p:nvSpPr>
          <p:cNvPr id="205" name="Google Shape;205;p32"/>
          <p:cNvSpPr txBox="1"/>
          <p:nvPr/>
        </p:nvSpPr>
        <p:spPr>
          <a:xfrm>
            <a:off x="1284625" y="3975225"/>
            <a:ext cx="6328200" cy="307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E2E8F0"/>
                </a:solidFill>
                <a:latin typeface="DM Sans"/>
                <a:ea typeface="DM Sans"/>
                <a:cs typeface="DM Sans"/>
                <a:sym typeface="DM Sans"/>
              </a:rPr>
              <a:t>Blind elimination strategy</a:t>
            </a:r>
            <a:endParaRPr b="1" i="0" sz="2000">
              <a:solidFill>
                <a:srgbClr val="E2E8F0"/>
              </a:solidFill>
              <a:latin typeface="DM Sans"/>
              <a:ea typeface="DM Sans"/>
              <a:cs typeface="DM Sans"/>
              <a:sym typeface="DM Sans"/>
            </a:endParaRPr>
          </a:p>
        </p:txBody>
      </p:sp>
      <p:sp>
        <p:nvSpPr>
          <p:cNvPr id="206" name="Google Shape;206;p32"/>
          <p:cNvSpPr txBox="1"/>
          <p:nvPr/>
        </p:nvSpPr>
        <p:spPr>
          <a:xfrm>
            <a:off x="1286189" y="4927725"/>
            <a:ext cx="6253500" cy="307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E2E8F0"/>
                </a:solidFill>
                <a:latin typeface="DM Sans"/>
                <a:ea typeface="DM Sans"/>
                <a:cs typeface="DM Sans"/>
                <a:sym typeface="DM Sans"/>
              </a:rPr>
              <a:t>Severe personal impact (dropout)</a:t>
            </a:r>
            <a:endParaRPr b="1" i="0" sz="2000">
              <a:solidFill>
                <a:srgbClr val="E2E8F0"/>
              </a:solidFill>
              <a:latin typeface="DM Sans"/>
              <a:ea typeface="DM Sans"/>
              <a:cs typeface="DM Sans"/>
              <a:sym typeface="DM Sans"/>
            </a:endParaRPr>
          </a:p>
        </p:txBody>
      </p:sp>
      <p:sp>
        <p:nvSpPr>
          <p:cNvPr id="207" name="Google Shape;207;p32"/>
          <p:cNvSpPr txBox="1"/>
          <p:nvPr/>
        </p:nvSpPr>
        <p:spPr>
          <a:xfrm>
            <a:off x="819150" y="485775"/>
            <a:ext cx="11231400" cy="492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FFFFFF"/>
                </a:solidFill>
                <a:latin typeface="Syne ExtraBold"/>
                <a:ea typeface="Syne ExtraBold"/>
                <a:cs typeface="Syne ExtraBold"/>
                <a:sym typeface="Syne ExtraBold"/>
              </a:rPr>
              <a:t>The Vocational Crisis</a:t>
            </a:r>
            <a:endParaRPr sz="3200"/>
          </a:p>
        </p:txBody>
      </p:sp>
      <p:sp>
        <p:nvSpPr>
          <p:cNvPr id="208" name="Google Shape;208;p32"/>
          <p:cNvSpPr/>
          <p:nvPr/>
        </p:nvSpPr>
        <p:spPr>
          <a:xfrm>
            <a:off x="676275" y="485775"/>
            <a:ext cx="47700" cy="4383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09" name="Google Shape;209;p32"/>
          <p:cNvPicPr preferRelativeResize="0"/>
          <p:nvPr/>
        </p:nvPicPr>
        <p:blipFill rotWithShape="1">
          <a:blip r:embed="rId4">
            <a:alphaModFix/>
          </a:blip>
          <a:srcRect b="681" l="0" r="0" t="681"/>
          <a:stretch/>
        </p:blipFill>
        <p:spPr>
          <a:xfrm>
            <a:off x="1005975" y="3003675"/>
            <a:ext cx="200100" cy="276300"/>
          </a:xfrm>
          <a:prstGeom prst="rect">
            <a:avLst/>
          </a:prstGeom>
          <a:noFill/>
          <a:ln>
            <a:noFill/>
          </a:ln>
        </p:spPr>
      </p:pic>
      <p:pic>
        <p:nvPicPr>
          <p:cNvPr id="210" name="Google Shape;210;p32"/>
          <p:cNvPicPr preferRelativeResize="0"/>
          <p:nvPr/>
        </p:nvPicPr>
        <p:blipFill rotWithShape="1">
          <a:blip r:embed="rId4">
            <a:alphaModFix/>
          </a:blip>
          <a:srcRect b="681" l="0" r="0" t="681"/>
          <a:stretch/>
        </p:blipFill>
        <p:spPr>
          <a:xfrm>
            <a:off x="1005975" y="3956175"/>
            <a:ext cx="200100" cy="276300"/>
          </a:xfrm>
          <a:prstGeom prst="rect">
            <a:avLst/>
          </a:prstGeom>
          <a:noFill/>
          <a:ln>
            <a:noFill/>
          </a:ln>
        </p:spPr>
      </p:pic>
      <p:pic>
        <p:nvPicPr>
          <p:cNvPr id="211" name="Google Shape;211;p32"/>
          <p:cNvPicPr preferRelativeResize="0"/>
          <p:nvPr/>
        </p:nvPicPr>
        <p:blipFill rotWithShape="1">
          <a:blip r:embed="rId4">
            <a:alphaModFix/>
          </a:blip>
          <a:srcRect b="681" l="0" r="0" t="681"/>
          <a:stretch/>
        </p:blipFill>
        <p:spPr>
          <a:xfrm>
            <a:off x="1005975" y="4908675"/>
            <a:ext cx="200100" cy="276300"/>
          </a:xfrm>
          <a:prstGeom prst="rect">
            <a:avLst/>
          </a:prstGeom>
          <a:noFill/>
          <a:ln>
            <a:noFill/>
          </a:ln>
        </p:spPr>
      </p:pic>
      <p:pic>
        <p:nvPicPr>
          <p:cNvPr id="212" name="Google Shape;212;p32"/>
          <p:cNvPicPr preferRelativeResize="0"/>
          <p:nvPr/>
        </p:nvPicPr>
        <p:blipFill>
          <a:blip r:embed="rId5">
            <a:alphaModFix/>
          </a:blip>
          <a:stretch>
            <a:fillRect/>
          </a:stretch>
        </p:blipFill>
        <p:spPr>
          <a:xfrm>
            <a:off x="6877374" y="2591934"/>
            <a:ext cx="4580777" cy="3055332"/>
          </a:xfrm>
          <a:prstGeom prst="rect">
            <a:avLst/>
          </a:prstGeom>
          <a:noFill/>
          <a:ln>
            <a:noFill/>
          </a:ln>
        </p:spPr>
      </p:pic>
      <p:sp>
        <p:nvSpPr>
          <p:cNvPr id="213" name="Google Shape;213;p32"/>
          <p:cNvSpPr txBox="1"/>
          <p:nvPr>
            <p:ph idx="12" type="sldNum"/>
          </p:nvPr>
        </p:nvSpPr>
        <p:spPr>
          <a:xfrm>
            <a:off x="9916950" y="6378575"/>
            <a:ext cx="2133600" cy="365100"/>
          </a:xfrm>
          <a:prstGeom prst="rect">
            <a:avLst/>
          </a:prstGeom>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Font typeface="Arial"/>
              <a:buNone/>
            </a:pPr>
            <a:fld id="{00000000-1234-1234-1234-123412341234}" type="slidenum">
              <a:rPr b="1" lang="en-US" sz="2000">
                <a:solidFill>
                  <a:schemeClr val="lt1"/>
                </a:solidFill>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p33"/>
          <p:cNvSpPr txBox="1"/>
          <p:nvPr>
            <p:ph type="title"/>
          </p:nvPr>
        </p:nvSpPr>
        <p:spPr>
          <a:xfrm>
            <a:off x="576050" y="458267"/>
            <a:ext cx="113607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sz="3200">
                <a:solidFill>
                  <a:schemeClr val="lt1"/>
                </a:solidFill>
                <a:latin typeface="Syne ExtraBold"/>
                <a:ea typeface="Syne ExtraBold"/>
                <a:cs typeface="Syne ExtraBold"/>
                <a:sym typeface="Syne ExtraBold"/>
              </a:rPr>
              <a:t>State of the Art: 2025–2026</a:t>
            </a:r>
            <a:endParaRPr sz="3200">
              <a:solidFill>
                <a:schemeClr val="lt1"/>
              </a:solidFill>
              <a:latin typeface="Syne ExtraBold"/>
              <a:ea typeface="Syne ExtraBold"/>
              <a:cs typeface="Syne ExtraBold"/>
              <a:sym typeface="Syne ExtraBold"/>
            </a:endParaRPr>
          </a:p>
        </p:txBody>
      </p:sp>
      <p:sp>
        <p:nvSpPr>
          <p:cNvPr id="219" name="Google Shape;219;p33"/>
          <p:cNvSpPr/>
          <p:nvPr/>
        </p:nvSpPr>
        <p:spPr>
          <a:xfrm>
            <a:off x="616868" y="1380433"/>
            <a:ext cx="10214400" cy="1000500"/>
          </a:xfrm>
          <a:prstGeom prst="roundRect">
            <a:avLst>
              <a:gd fmla="val 8994" name="adj"/>
            </a:avLst>
          </a:prstGeom>
          <a:solidFill>
            <a:srgbClr val="B7B7B7"/>
          </a:solidFill>
          <a:ln cap="flat" cmpd="sng" w="27125">
            <a:solidFill>
              <a:srgbClr val="E6DED2"/>
            </a:solidFill>
            <a:prstDash val="solid"/>
            <a:round/>
            <a:headEnd len="sm" w="sm" type="none"/>
            <a:tailEnd len="sm" w="sm" type="none"/>
          </a:ln>
          <a:effectLst>
            <a:outerShdw rotWithShape="0" algn="bl" dir="2700000" dist="24896">
              <a:srgbClr val="E6DED2"/>
            </a:outerShdw>
          </a:effectLst>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20" name="Google Shape;220;p33"/>
          <p:cNvSpPr/>
          <p:nvPr/>
        </p:nvSpPr>
        <p:spPr>
          <a:xfrm>
            <a:off x="576067" y="1380433"/>
            <a:ext cx="209100" cy="1000500"/>
          </a:xfrm>
          <a:prstGeom prst="roundRect">
            <a:avLst>
              <a:gd fmla="val 74353" name="adj"/>
            </a:avLst>
          </a:prstGeom>
          <a:solidFill>
            <a:srgbClr val="999999"/>
          </a:solidFill>
          <a:ln>
            <a:noFill/>
          </a:ln>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21" name="Google Shape;221;p33"/>
          <p:cNvSpPr/>
          <p:nvPr/>
        </p:nvSpPr>
        <p:spPr>
          <a:xfrm>
            <a:off x="1068733" y="1483500"/>
            <a:ext cx="4360800" cy="6525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900"/>
              <a:buFont typeface="Arial"/>
              <a:buNone/>
            </a:pPr>
            <a:r>
              <a:rPr lang="en-US" sz="1900">
                <a:solidFill>
                  <a:schemeClr val="dk1"/>
                </a:solidFill>
                <a:latin typeface="Poppins"/>
                <a:ea typeface="Poppins"/>
                <a:cs typeface="Poppins"/>
                <a:sym typeface="Poppins"/>
              </a:rPr>
              <a:t>Pymetrics (Neuroscience-Based)</a:t>
            </a:r>
            <a:endParaRPr i="0" sz="1900" u="none" cap="none" strike="noStrike">
              <a:solidFill>
                <a:schemeClr val="dk1"/>
              </a:solidFill>
              <a:latin typeface="Poppins"/>
              <a:ea typeface="Poppins"/>
              <a:cs typeface="Poppins"/>
              <a:sym typeface="Poppins"/>
            </a:endParaRPr>
          </a:p>
        </p:txBody>
      </p:sp>
      <p:sp>
        <p:nvSpPr>
          <p:cNvPr id="222" name="Google Shape;222;p33"/>
          <p:cNvSpPr/>
          <p:nvPr/>
        </p:nvSpPr>
        <p:spPr>
          <a:xfrm>
            <a:off x="1068722" y="1815749"/>
            <a:ext cx="9433500" cy="4143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Method</a:t>
            </a:r>
            <a:r>
              <a:rPr lang="en-US" sz="1500">
                <a:solidFill>
                  <a:srgbClr val="434343"/>
                </a:solidFill>
                <a:latin typeface="Poppins"/>
                <a:ea typeface="Poppins"/>
                <a:cs typeface="Poppins"/>
                <a:sym typeface="Poppins"/>
              </a:rPr>
              <a:t>: Uses neuroscience games and AI to assess cognitive and emotional traits.</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Goal</a:t>
            </a:r>
            <a:r>
              <a:rPr lang="en-US" sz="1500">
                <a:solidFill>
                  <a:srgbClr val="434343"/>
                </a:solidFill>
                <a:latin typeface="Poppins"/>
                <a:ea typeface="Poppins"/>
                <a:cs typeface="Poppins"/>
                <a:sym typeface="Poppins"/>
              </a:rPr>
              <a:t>: Matches users with roles where similar profiles have succeeded.</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t/>
            </a:r>
            <a:endParaRPr sz="1500">
              <a:solidFill>
                <a:srgbClr val="434343"/>
              </a:solidFill>
              <a:latin typeface="Poppins"/>
              <a:ea typeface="Poppins"/>
              <a:cs typeface="Poppins"/>
              <a:sym typeface="Poppins"/>
            </a:endParaRPr>
          </a:p>
        </p:txBody>
      </p:sp>
      <p:sp>
        <p:nvSpPr>
          <p:cNvPr id="223" name="Google Shape;223;p33"/>
          <p:cNvSpPr/>
          <p:nvPr/>
        </p:nvSpPr>
        <p:spPr>
          <a:xfrm>
            <a:off x="616868" y="2389511"/>
            <a:ext cx="10214400" cy="1000500"/>
          </a:xfrm>
          <a:prstGeom prst="roundRect">
            <a:avLst>
              <a:gd fmla="val 8994" name="adj"/>
            </a:avLst>
          </a:prstGeom>
          <a:solidFill>
            <a:srgbClr val="FDFBF7"/>
          </a:solidFill>
          <a:ln cap="flat" cmpd="sng" w="27125">
            <a:solidFill>
              <a:srgbClr val="E6DED2"/>
            </a:solidFill>
            <a:prstDash val="solid"/>
            <a:round/>
            <a:headEnd len="sm" w="sm" type="none"/>
            <a:tailEnd len="sm" w="sm" type="none"/>
          </a:ln>
          <a:effectLst>
            <a:outerShdw rotWithShape="0" algn="bl" dir="2700000" dist="24896">
              <a:srgbClr val="E6DED2"/>
            </a:outerShdw>
          </a:effectLst>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24" name="Google Shape;224;p33"/>
          <p:cNvSpPr/>
          <p:nvPr/>
        </p:nvSpPr>
        <p:spPr>
          <a:xfrm>
            <a:off x="576067" y="2389511"/>
            <a:ext cx="209100" cy="1000500"/>
          </a:xfrm>
          <a:prstGeom prst="roundRect">
            <a:avLst>
              <a:gd fmla="val 74353" name="adj"/>
            </a:avLst>
          </a:prstGeom>
          <a:solidFill>
            <a:srgbClr val="CCCCCC"/>
          </a:solidFill>
          <a:ln>
            <a:noFill/>
          </a:ln>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25" name="Google Shape;225;p33"/>
          <p:cNvSpPr/>
          <p:nvPr/>
        </p:nvSpPr>
        <p:spPr>
          <a:xfrm>
            <a:off x="1068726" y="2492525"/>
            <a:ext cx="5205000" cy="207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900"/>
              <a:buFont typeface="Arial"/>
              <a:buNone/>
            </a:pPr>
            <a:r>
              <a:rPr lang="en-US" sz="1900">
                <a:solidFill>
                  <a:schemeClr val="dk1"/>
                </a:solidFill>
                <a:latin typeface="Poppins"/>
                <a:ea typeface="Poppins"/>
                <a:cs typeface="Poppins"/>
                <a:sym typeface="Poppins"/>
              </a:rPr>
              <a:t>Kickresume (AI Career  Coach)</a:t>
            </a:r>
            <a:endParaRPr i="0" sz="1900" u="none" cap="none" strike="noStrike">
              <a:solidFill>
                <a:schemeClr val="dk1"/>
              </a:solidFill>
              <a:latin typeface="Poppins"/>
              <a:ea typeface="Poppins"/>
              <a:cs typeface="Poppins"/>
              <a:sym typeface="Poppins"/>
            </a:endParaRPr>
          </a:p>
        </p:txBody>
      </p:sp>
      <p:sp>
        <p:nvSpPr>
          <p:cNvPr id="226" name="Google Shape;226;p33"/>
          <p:cNvSpPr/>
          <p:nvPr/>
        </p:nvSpPr>
        <p:spPr>
          <a:xfrm>
            <a:off x="1068722" y="2824044"/>
            <a:ext cx="9433500" cy="41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Method:</a:t>
            </a:r>
            <a:r>
              <a:rPr lang="en-US" sz="1500">
                <a:solidFill>
                  <a:srgbClr val="434343"/>
                </a:solidFill>
                <a:latin typeface="Poppins"/>
                <a:ea typeface="Poppins"/>
                <a:cs typeface="Poppins"/>
                <a:sym typeface="Poppins"/>
              </a:rPr>
              <a:t> Analyzes resumes using LLMs (Large Language Models).</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Goal:</a:t>
            </a:r>
            <a:r>
              <a:rPr lang="en-US" sz="1500">
                <a:solidFill>
                  <a:srgbClr val="434343"/>
                </a:solidFill>
                <a:latin typeface="Poppins"/>
                <a:ea typeface="Poppins"/>
                <a:cs typeface="Poppins"/>
                <a:sym typeface="Poppins"/>
              </a:rPr>
              <a:t> Identifies skill gaps and suggests career paths for professional transitions.</a:t>
            </a:r>
            <a:endParaRPr sz="1500">
              <a:solidFill>
                <a:srgbClr val="434343"/>
              </a:solidFill>
              <a:latin typeface="Poppins"/>
              <a:ea typeface="Poppins"/>
              <a:cs typeface="Poppins"/>
              <a:sym typeface="Poppins"/>
            </a:endParaRPr>
          </a:p>
          <a:p>
            <a:pPr indent="0" lvl="0" marL="0" marR="0" rtl="0" algn="l">
              <a:lnSpc>
                <a:spcPct val="100000"/>
              </a:lnSpc>
              <a:spcBef>
                <a:spcPts val="0"/>
              </a:spcBef>
              <a:spcAft>
                <a:spcPts val="0"/>
              </a:spcAft>
              <a:buClr>
                <a:srgbClr val="4C4C4C"/>
              </a:buClr>
              <a:buSzPts val="1500"/>
              <a:buFont typeface="Arial"/>
              <a:buNone/>
            </a:pPr>
            <a:r>
              <a:t/>
            </a:r>
            <a:endParaRPr b="1" sz="1500">
              <a:solidFill>
                <a:srgbClr val="434343"/>
              </a:solidFill>
              <a:latin typeface="Poppins"/>
              <a:ea typeface="Poppins"/>
              <a:cs typeface="Poppins"/>
              <a:sym typeface="Poppins"/>
            </a:endParaRPr>
          </a:p>
        </p:txBody>
      </p:sp>
      <p:sp>
        <p:nvSpPr>
          <p:cNvPr id="227" name="Google Shape;227;p33"/>
          <p:cNvSpPr/>
          <p:nvPr/>
        </p:nvSpPr>
        <p:spPr>
          <a:xfrm>
            <a:off x="616868" y="3425941"/>
            <a:ext cx="10214400" cy="1000500"/>
          </a:xfrm>
          <a:prstGeom prst="roundRect">
            <a:avLst>
              <a:gd fmla="val 8994" name="adj"/>
            </a:avLst>
          </a:prstGeom>
          <a:solidFill>
            <a:srgbClr val="B7B7B7"/>
          </a:solidFill>
          <a:ln cap="flat" cmpd="sng" w="27125">
            <a:solidFill>
              <a:srgbClr val="E6DED2"/>
            </a:solidFill>
            <a:prstDash val="solid"/>
            <a:round/>
            <a:headEnd len="sm" w="sm" type="none"/>
            <a:tailEnd len="sm" w="sm" type="none"/>
          </a:ln>
          <a:effectLst>
            <a:outerShdw rotWithShape="0" algn="bl" dir="2700000" dist="24896">
              <a:srgbClr val="E6DED2"/>
            </a:outerShdw>
          </a:effectLst>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28" name="Google Shape;228;p33"/>
          <p:cNvSpPr/>
          <p:nvPr/>
        </p:nvSpPr>
        <p:spPr>
          <a:xfrm>
            <a:off x="576067" y="3425941"/>
            <a:ext cx="209100" cy="1000500"/>
          </a:xfrm>
          <a:prstGeom prst="roundRect">
            <a:avLst>
              <a:gd fmla="val 74353" name="adj"/>
            </a:avLst>
          </a:prstGeom>
          <a:solidFill>
            <a:srgbClr val="999999"/>
          </a:solidFill>
          <a:ln>
            <a:noFill/>
          </a:ln>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29" name="Google Shape;229;p33"/>
          <p:cNvSpPr/>
          <p:nvPr/>
        </p:nvSpPr>
        <p:spPr>
          <a:xfrm>
            <a:off x="1068747" y="3528967"/>
            <a:ext cx="6642900" cy="207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900"/>
              <a:buFont typeface="Arial"/>
              <a:buNone/>
            </a:pPr>
            <a:r>
              <a:rPr lang="en-US" sz="1900">
                <a:solidFill>
                  <a:schemeClr val="dk1"/>
                </a:solidFill>
                <a:latin typeface="Poppins"/>
                <a:ea typeface="Poppins"/>
                <a:cs typeface="Poppins"/>
                <a:sym typeface="Poppins"/>
              </a:rPr>
              <a:t>AICareerCoach.org (Conversational Mentor)</a:t>
            </a:r>
            <a:endParaRPr i="0" sz="1900" u="none" cap="none" strike="noStrike">
              <a:solidFill>
                <a:schemeClr val="dk1"/>
              </a:solidFill>
              <a:latin typeface="Poppins"/>
              <a:ea typeface="Poppins"/>
              <a:cs typeface="Poppins"/>
              <a:sym typeface="Poppins"/>
            </a:endParaRPr>
          </a:p>
        </p:txBody>
      </p:sp>
      <p:sp>
        <p:nvSpPr>
          <p:cNvPr id="230" name="Google Shape;230;p33"/>
          <p:cNvSpPr/>
          <p:nvPr/>
        </p:nvSpPr>
        <p:spPr>
          <a:xfrm>
            <a:off x="1068722" y="3860474"/>
            <a:ext cx="9433500" cy="41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Method:</a:t>
            </a:r>
            <a:r>
              <a:rPr lang="en-US" sz="1500">
                <a:solidFill>
                  <a:srgbClr val="434343"/>
                </a:solidFill>
                <a:latin typeface="Poppins"/>
                <a:ea typeface="Poppins"/>
                <a:cs typeface="Poppins"/>
                <a:sym typeface="Poppins"/>
              </a:rPr>
              <a:t> A free, chatbot-style tool by CareerVillage.</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Goal:</a:t>
            </a:r>
            <a:r>
              <a:rPr lang="en-US" sz="1500">
                <a:solidFill>
                  <a:srgbClr val="434343"/>
                </a:solidFill>
                <a:latin typeface="Poppins"/>
                <a:ea typeface="Poppins"/>
                <a:cs typeface="Poppins"/>
                <a:sym typeface="Poppins"/>
              </a:rPr>
              <a:t> Acts as a mentor for students to explore interests through dialogue.</a:t>
            </a:r>
            <a:endParaRPr sz="1500">
              <a:solidFill>
                <a:srgbClr val="434343"/>
              </a:solidFill>
              <a:latin typeface="Poppins"/>
              <a:ea typeface="Poppins"/>
              <a:cs typeface="Poppins"/>
              <a:sym typeface="Poppins"/>
            </a:endParaRPr>
          </a:p>
          <a:p>
            <a:pPr indent="0" lvl="0" marL="0" marR="0" rtl="0" algn="l">
              <a:lnSpc>
                <a:spcPct val="100000"/>
              </a:lnSpc>
              <a:spcBef>
                <a:spcPts val="0"/>
              </a:spcBef>
              <a:spcAft>
                <a:spcPts val="0"/>
              </a:spcAft>
              <a:buClr>
                <a:srgbClr val="4C4C4C"/>
              </a:buClr>
              <a:buSzPts val="1500"/>
              <a:buFont typeface="Arial"/>
              <a:buNone/>
            </a:pPr>
            <a:r>
              <a:t/>
            </a:r>
            <a:endParaRPr b="1" sz="1500">
              <a:solidFill>
                <a:srgbClr val="434343"/>
              </a:solidFill>
              <a:latin typeface="Poppins"/>
              <a:ea typeface="Poppins"/>
              <a:cs typeface="Poppins"/>
              <a:sym typeface="Poppins"/>
            </a:endParaRPr>
          </a:p>
        </p:txBody>
      </p:sp>
      <p:sp>
        <p:nvSpPr>
          <p:cNvPr id="231" name="Google Shape;231;p33"/>
          <p:cNvSpPr/>
          <p:nvPr/>
        </p:nvSpPr>
        <p:spPr>
          <a:xfrm>
            <a:off x="637268" y="5473104"/>
            <a:ext cx="10214400" cy="1000500"/>
          </a:xfrm>
          <a:prstGeom prst="roundRect">
            <a:avLst>
              <a:gd fmla="val 8994" name="adj"/>
            </a:avLst>
          </a:prstGeom>
          <a:solidFill>
            <a:srgbClr val="B7B7B7"/>
          </a:solidFill>
          <a:ln cap="flat" cmpd="sng" w="27125">
            <a:solidFill>
              <a:srgbClr val="E6DED2"/>
            </a:solidFill>
            <a:prstDash val="solid"/>
            <a:round/>
            <a:headEnd len="sm" w="sm" type="none"/>
            <a:tailEnd len="sm" w="sm" type="none"/>
          </a:ln>
          <a:effectLst>
            <a:outerShdw rotWithShape="0" algn="bl" dir="2700000" dist="24896">
              <a:srgbClr val="E6DED2"/>
            </a:outerShdw>
          </a:effectLst>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32" name="Google Shape;232;p33"/>
          <p:cNvSpPr/>
          <p:nvPr/>
        </p:nvSpPr>
        <p:spPr>
          <a:xfrm>
            <a:off x="596467" y="5473104"/>
            <a:ext cx="209100" cy="1000500"/>
          </a:xfrm>
          <a:prstGeom prst="roundRect">
            <a:avLst>
              <a:gd fmla="val 74353" name="adj"/>
            </a:avLst>
          </a:prstGeom>
          <a:solidFill>
            <a:srgbClr val="999999"/>
          </a:solidFill>
          <a:ln>
            <a:noFill/>
          </a:ln>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33" name="Google Shape;233;p33"/>
          <p:cNvSpPr/>
          <p:nvPr/>
        </p:nvSpPr>
        <p:spPr>
          <a:xfrm>
            <a:off x="1089155" y="5576125"/>
            <a:ext cx="8137500" cy="207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900"/>
              <a:buFont typeface="Arial"/>
              <a:buNone/>
            </a:pPr>
            <a:r>
              <a:rPr lang="en-US" sz="1900">
                <a:solidFill>
                  <a:schemeClr val="dk1"/>
                </a:solidFill>
                <a:latin typeface="Poppins"/>
                <a:ea typeface="Poppins"/>
                <a:cs typeface="Poppins"/>
                <a:sym typeface="Poppins"/>
              </a:rPr>
              <a:t>IBM Watson Career Coach (Corporate NLP)</a:t>
            </a:r>
            <a:endParaRPr i="0" sz="1900" u="none" cap="none" strike="noStrike">
              <a:solidFill>
                <a:schemeClr val="dk1"/>
              </a:solidFill>
              <a:latin typeface="Poppins"/>
              <a:ea typeface="Poppins"/>
              <a:cs typeface="Poppins"/>
              <a:sym typeface="Poppins"/>
            </a:endParaRPr>
          </a:p>
        </p:txBody>
      </p:sp>
      <p:sp>
        <p:nvSpPr>
          <p:cNvPr id="234" name="Google Shape;234;p33"/>
          <p:cNvSpPr/>
          <p:nvPr/>
        </p:nvSpPr>
        <p:spPr>
          <a:xfrm>
            <a:off x="1089122" y="5907637"/>
            <a:ext cx="9433500" cy="41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Method: </a:t>
            </a:r>
            <a:r>
              <a:rPr lang="en-US" sz="1500">
                <a:solidFill>
                  <a:srgbClr val="434343"/>
                </a:solidFill>
                <a:latin typeface="Poppins"/>
                <a:ea typeface="Poppins"/>
                <a:cs typeface="Poppins"/>
                <a:sym typeface="Poppins"/>
              </a:rPr>
              <a:t>Utilizes Natural Language Processing (NLP).</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Goal: </a:t>
            </a:r>
            <a:r>
              <a:rPr lang="en-US" sz="1500">
                <a:solidFill>
                  <a:srgbClr val="434343"/>
                </a:solidFill>
                <a:latin typeface="Poppins"/>
                <a:ea typeface="Poppins"/>
                <a:cs typeface="Poppins"/>
                <a:sym typeface="Poppins"/>
              </a:rPr>
              <a:t>Helps employees find internal growth opportunities aligned with their skills.</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t/>
            </a:r>
            <a:endParaRPr b="1" sz="1500">
              <a:solidFill>
                <a:srgbClr val="434343"/>
              </a:solidFill>
              <a:latin typeface="Poppins"/>
              <a:ea typeface="Poppins"/>
              <a:cs typeface="Poppins"/>
              <a:sym typeface="Poppins"/>
            </a:endParaRPr>
          </a:p>
        </p:txBody>
      </p:sp>
      <p:sp>
        <p:nvSpPr>
          <p:cNvPr id="235" name="Google Shape;235;p33"/>
          <p:cNvSpPr/>
          <p:nvPr/>
        </p:nvSpPr>
        <p:spPr>
          <a:xfrm>
            <a:off x="637268" y="4449508"/>
            <a:ext cx="10214400" cy="1000500"/>
          </a:xfrm>
          <a:prstGeom prst="roundRect">
            <a:avLst>
              <a:gd fmla="val 8994" name="adj"/>
            </a:avLst>
          </a:prstGeom>
          <a:solidFill>
            <a:srgbClr val="FDFBF7"/>
          </a:solidFill>
          <a:ln cap="flat" cmpd="sng" w="27125">
            <a:solidFill>
              <a:srgbClr val="E6DED2"/>
            </a:solidFill>
            <a:prstDash val="solid"/>
            <a:round/>
            <a:headEnd len="sm" w="sm" type="none"/>
            <a:tailEnd len="sm" w="sm" type="none"/>
          </a:ln>
          <a:effectLst>
            <a:outerShdw rotWithShape="0" algn="bl" dir="2700000" dist="24896">
              <a:srgbClr val="E6DED2"/>
            </a:outerShdw>
          </a:effectLst>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36" name="Google Shape;236;p33"/>
          <p:cNvSpPr/>
          <p:nvPr/>
        </p:nvSpPr>
        <p:spPr>
          <a:xfrm>
            <a:off x="596467" y="4449508"/>
            <a:ext cx="209100" cy="1000500"/>
          </a:xfrm>
          <a:prstGeom prst="roundRect">
            <a:avLst>
              <a:gd fmla="val 74353" name="adj"/>
            </a:avLst>
          </a:prstGeom>
          <a:solidFill>
            <a:srgbClr val="CCCCCC"/>
          </a:solidFill>
          <a:ln>
            <a:noFill/>
          </a:ln>
        </p:spPr>
        <p:txBody>
          <a:bodyPr anchorCtr="0" anchor="ctr" bIns="81425" lIns="81425" spcFirstLastPara="1" rIns="81425" wrap="square" tIns="81425">
            <a:noAutofit/>
          </a:bodyPr>
          <a:lstStyle/>
          <a:p>
            <a:pPr indent="0" lvl="0" marL="0" rtl="0" algn="l">
              <a:spcBef>
                <a:spcPts val="0"/>
              </a:spcBef>
              <a:spcAft>
                <a:spcPts val="0"/>
              </a:spcAft>
              <a:buNone/>
            </a:pPr>
            <a:r>
              <a:t/>
            </a:r>
            <a:endParaRPr sz="1900">
              <a:latin typeface="Poppins"/>
              <a:ea typeface="Poppins"/>
              <a:cs typeface="Poppins"/>
              <a:sym typeface="Poppins"/>
            </a:endParaRPr>
          </a:p>
        </p:txBody>
      </p:sp>
      <p:sp>
        <p:nvSpPr>
          <p:cNvPr id="237" name="Google Shape;237;p33"/>
          <p:cNvSpPr/>
          <p:nvPr/>
        </p:nvSpPr>
        <p:spPr>
          <a:xfrm>
            <a:off x="1089141" y="4552520"/>
            <a:ext cx="4862400" cy="207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C4C4C"/>
              </a:buClr>
              <a:buSzPts val="1900"/>
              <a:buFont typeface="Arial"/>
              <a:buNone/>
            </a:pPr>
            <a:r>
              <a:rPr lang="en-US" sz="1900">
                <a:solidFill>
                  <a:schemeClr val="dk1"/>
                </a:solidFill>
                <a:latin typeface="Poppins"/>
                <a:ea typeface="Poppins"/>
                <a:cs typeface="Poppins"/>
                <a:sym typeface="Poppins"/>
              </a:rPr>
              <a:t>Steppingblocks (Big Data Insights)</a:t>
            </a:r>
            <a:endParaRPr i="0" sz="1900" u="none" cap="none" strike="noStrike">
              <a:solidFill>
                <a:schemeClr val="dk1"/>
              </a:solidFill>
              <a:latin typeface="Poppins"/>
              <a:ea typeface="Poppins"/>
              <a:cs typeface="Poppins"/>
              <a:sym typeface="Poppins"/>
            </a:endParaRPr>
          </a:p>
        </p:txBody>
      </p:sp>
      <p:sp>
        <p:nvSpPr>
          <p:cNvPr id="238" name="Google Shape;238;p33"/>
          <p:cNvSpPr/>
          <p:nvPr/>
        </p:nvSpPr>
        <p:spPr>
          <a:xfrm>
            <a:off x="1089122" y="4884040"/>
            <a:ext cx="9433500" cy="41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Method: </a:t>
            </a:r>
            <a:r>
              <a:rPr lang="en-US" sz="1500">
                <a:solidFill>
                  <a:srgbClr val="434343"/>
                </a:solidFill>
                <a:latin typeface="Poppins"/>
                <a:ea typeface="Poppins"/>
                <a:cs typeface="Poppins"/>
                <a:sym typeface="Poppins"/>
              </a:rPr>
              <a:t>Educational data analytics using "Big Data."</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rPr b="1" lang="en-US" sz="1500">
                <a:solidFill>
                  <a:srgbClr val="434343"/>
                </a:solidFill>
                <a:latin typeface="Poppins"/>
                <a:ea typeface="Poppins"/>
                <a:cs typeface="Poppins"/>
                <a:sym typeface="Poppins"/>
              </a:rPr>
              <a:t>Goal: </a:t>
            </a:r>
            <a:r>
              <a:rPr lang="en-US" sz="1500">
                <a:solidFill>
                  <a:srgbClr val="434343"/>
                </a:solidFill>
                <a:latin typeface="Poppins"/>
                <a:ea typeface="Poppins"/>
                <a:cs typeface="Poppins"/>
                <a:sym typeface="Poppins"/>
              </a:rPr>
              <a:t>Shows real-world career paths based on the outcomes of millions of professionals.</a:t>
            </a:r>
            <a:endParaRPr sz="1500">
              <a:solidFill>
                <a:srgbClr val="434343"/>
              </a:solidFill>
              <a:latin typeface="Poppins"/>
              <a:ea typeface="Poppins"/>
              <a:cs typeface="Poppins"/>
              <a:sym typeface="Poppins"/>
            </a:endParaRPr>
          </a:p>
          <a:p>
            <a:pPr indent="0" lvl="0" marL="0" marR="0" rtl="0" algn="l">
              <a:lnSpc>
                <a:spcPct val="160606"/>
              </a:lnSpc>
              <a:spcBef>
                <a:spcPts val="0"/>
              </a:spcBef>
              <a:spcAft>
                <a:spcPts val="0"/>
              </a:spcAft>
              <a:buClr>
                <a:srgbClr val="4C4C4C"/>
              </a:buClr>
              <a:buSzPts val="1500"/>
              <a:buFont typeface="Arial"/>
              <a:buNone/>
            </a:pPr>
            <a:r>
              <a:t/>
            </a:r>
            <a:endParaRPr b="1" sz="1500">
              <a:solidFill>
                <a:srgbClr val="434343"/>
              </a:solidFill>
              <a:latin typeface="Poppins"/>
              <a:ea typeface="Poppins"/>
              <a:cs typeface="Poppins"/>
              <a:sym typeface="Poppins"/>
            </a:endParaRPr>
          </a:p>
        </p:txBody>
      </p:sp>
      <p:sp>
        <p:nvSpPr>
          <p:cNvPr id="239" name="Google Shape;239;p33"/>
          <p:cNvSpPr/>
          <p:nvPr/>
        </p:nvSpPr>
        <p:spPr>
          <a:xfrm>
            <a:off x="11865733" y="6414233"/>
            <a:ext cx="239700" cy="392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3700"/>
              <a:buFont typeface="Arial"/>
              <a:buNone/>
            </a:pPr>
            <a:r>
              <a:rPr lang="en-US" sz="2300">
                <a:solidFill>
                  <a:schemeClr val="dk1"/>
                </a:solidFill>
                <a:latin typeface="Bebas Neue"/>
                <a:ea typeface="Bebas Neue"/>
                <a:cs typeface="Bebas Neue"/>
                <a:sym typeface="Bebas Neue"/>
              </a:rPr>
              <a:t>1</a:t>
            </a:r>
            <a:endParaRPr i="0" sz="2300" u="none" cap="none" strike="noStrike">
              <a:solidFill>
                <a:schemeClr val="lt1"/>
              </a:solidFill>
              <a:latin typeface="Bebas Neue"/>
              <a:ea typeface="Bebas Neue"/>
              <a:cs typeface="Bebas Neue"/>
              <a:sym typeface="Bebas Neue"/>
            </a:endParaRPr>
          </a:p>
        </p:txBody>
      </p:sp>
      <p:sp>
        <p:nvSpPr>
          <p:cNvPr id="240" name="Google Shape;240;p33"/>
          <p:cNvSpPr txBox="1"/>
          <p:nvPr/>
        </p:nvSpPr>
        <p:spPr>
          <a:xfrm>
            <a:off x="8936750" y="6061200"/>
            <a:ext cx="3000000" cy="492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Font typeface="Arial"/>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 name="Shape 244"/>
        <p:cNvGrpSpPr/>
        <p:nvPr/>
      </p:nvGrpSpPr>
      <p:grpSpPr>
        <a:xfrm>
          <a:off x="0" y="0"/>
          <a:ext cx="0" cy="0"/>
          <a:chOff x="0" y="0"/>
          <a:chExt cx="0" cy="0"/>
        </a:xfrm>
      </p:grpSpPr>
      <p:pic>
        <p:nvPicPr>
          <p:cNvPr descr="image.png" id="245" name="Google Shape;245;p34"/>
          <p:cNvPicPr preferRelativeResize="0"/>
          <p:nvPr/>
        </p:nvPicPr>
        <p:blipFill rotWithShape="1">
          <a:blip r:embed="rId4">
            <a:alphaModFix/>
          </a:blip>
          <a:srcRect b="0" l="0" r="0" t="0"/>
          <a:stretch/>
        </p:blipFill>
        <p:spPr>
          <a:xfrm>
            <a:off x="742100" y="1300600"/>
            <a:ext cx="5229225" cy="615600"/>
          </a:xfrm>
          <a:prstGeom prst="rect">
            <a:avLst/>
          </a:prstGeom>
          <a:noFill/>
          <a:ln>
            <a:noFill/>
          </a:ln>
        </p:spPr>
      </p:pic>
      <p:pic>
        <p:nvPicPr>
          <p:cNvPr descr="image.png" id="246" name="Google Shape;246;p34"/>
          <p:cNvPicPr preferRelativeResize="0"/>
          <p:nvPr/>
        </p:nvPicPr>
        <p:blipFill rotWithShape="1">
          <a:blip r:embed="rId5">
            <a:alphaModFix/>
          </a:blip>
          <a:srcRect b="0" l="0" r="0" t="0"/>
          <a:stretch/>
        </p:blipFill>
        <p:spPr>
          <a:xfrm>
            <a:off x="6352325" y="1300600"/>
            <a:ext cx="5229225" cy="615600"/>
          </a:xfrm>
          <a:prstGeom prst="rect">
            <a:avLst/>
          </a:prstGeom>
          <a:noFill/>
          <a:ln>
            <a:noFill/>
          </a:ln>
        </p:spPr>
      </p:pic>
      <p:sp>
        <p:nvSpPr>
          <p:cNvPr id="247" name="Google Shape;247;p34"/>
          <p:cNvSpPr txBox="1"/>
          <p:nvPr/>
        </p:nvSpPr>
        <p:spPr>
          <a:xfrm>
            <a:off x="711550" y="1240013"/>
            <a:ext cx="9888900" cy="246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t/>
            </a:r>
            <a:endParaRPr sz="1600"/>
          </a:p>
        </p:txBody>
      </p:sp>
      <p:sp>
        <p:nvSpPr>
          <p:cNvPr id="248" name="Google Shape;248;p34"/>
          <p:cNvSpPr txBox="1"/>
          <p:nvPr/>
        </p:nvSpPr>
        <p:spPr>
          <a:xfrm>
            <a:off x="1380275" y="1454500"/>
            <a:ext cx="4510500" cy="307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Syne"/>
                <a:ea typeface="Syne"/>
                <a:cs typeface="Syne"/>
                <a:sym typeface="Syne"/>
              </a:rPr>
              <a:t>Qualitative Validation</a:t>
            </a:r>
            <a:endParaRPr sz="2000"/>
          </a:p>
        </p:txBody>
      </p:sp>
      <p:sp>
        <p:nvSpPr>
          <p:cNvPr id="249" name="Google Shape;249;p34"/>
          <p:cNvSpPr txBox="1"/>
          <p:nvPr/>
        </p:nvSpPr>
        <p:spPr>
          <a:xfrm>
            <a:off x="7070150" y="1454500"/>
            <a:ext cx="4590600" cy="307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Syne"/>
                <a:ea typeface="Syne"/>
                <a:cs typeface="Syne"/>
                <a:sym typeface="Syne"/>
              </a:rPr>
              <a:t>Quantitative Survey</a:t>
            </a:r>
            <a:endParaRPr sz="2000"/>
          </a:p>
        </p:txBody>
      </p:sp>
      <p:pic>
        <p:nvPicPr>
          <p:cNvPr descr="image.png" id="250" name="Google Shape;250;p34"/>
          <p:cNvPicPr preferRelativeResize="0"/>
          <p:nvPr/>
        </p:nvPicPr>
        <p:blipFill rotWithShape="1">
          <a:blip r:embed="rId6">
            <a:alphaModFix/>
          </a:blip>
          <a:srcRect b="0" l="0" r="0" t="0"/>
          <a:stretch/>
        </p:blipFill>
        <p:spPr>
          <a:xfrm>
            <a:off x="906850" y="1466152"/>
            <a:ext cx="375550" cy="303329"/>
          </a:xfrm>
          <a:prstGeom prst="rect">
            <a:avLst/>
          </a:prstGeom>
          <a:noFill/>
          <a:ln>
            <a:noFill/>
          </a:ln>
        </p:spPr>
      </p:pic>
      <p:pic>
        <p:nvPicPr>
          <p:cNvPr descr="image.png" id="251" name="Google Shape;251;p34"/>
          <p:cNvPicPr preferRelativeResize="0"/>
          <p:nvPr/>
        </p:nvPicPr>
        <p:blipFill rotWithShape="1">
          <a:blip r:embed="rId7">
            <a:alphaModFix/>
          </a:blip>
          <a:srcRect b="0" l="0" r="0" t="0"/>
          <a:stretch/>
        </p:blipFill>
        <p:spPr>
          <a:xfrm>
            <a:off x="6540893" y="1389337"/>
            <a:ext cx="375557" cy="438150"/>
          </a:xfrm>
          <a:prstGeom prst="rect">
            <a:avLst/>
          </a:prstGeom>
          <a:noFill/>
          <a:ln>
            <a:noFill/>
          </a:ln>
        </p:spPr>
      </p:pic>
      <p:sp>
        <p:nvSpPr>
          <p:cNvPr id="252" name="Google Shape;252;p34"/>
          <p:cNvSpPr txBox="1"/>
          <p:nvPr/>
        </p:nvSpPr>
        <p:spPr>
          <a:xfrm>
            <a:off x="819150" y="485775"/>
            <a:ext cx="11231400" cy="492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FFFFFF"/>
                </a:solidFill>
                <a:latin typeface="Syne ExtraBold"/>
                <a:ea typeface="Syne ExtraBold"/>
                <a:cs typeface="Syne ExtraBold"/>
                <a:sym typeface="Syne ExtraBold"/>
              </a:rPr>
              <a:t>Empirical Field Validation</a:t>
            </a:r>
            <a:endParaRPr sz="3200"/>
          </a:p>
        </p:txBody>
      </p:sp>
      <p:sp>
        <p:nvSpPr>
          <p:cNvPr id="253" name="Google Shape;253;p34"/>
          <p:cNvSpPr/>
          <p:nvPr/>
        </p:nvSpPr>
        <p:spPr>
          <a:xfrm>
            <a:off x="676275" y="485775"/>
            <a:ext cx="47625" cy="43815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Gráfico de respuestas de formularios. Título de la pregunta: Right now, do you have a clear idea of what you’ll study after high school?  . Número de respuestas: 108 respuestas." id="254" name="Google Shape;254;p34" title="Right now, do you have a clear idea of what you’ll study after high school?  "/>
          <p:cNvPicPr preferRelativeResize="0"/>
          <p:nvPr/>
        </p:nvPicPr>
        <p:blipFill>
          <a:blip r:embed="rId8">
            <a:alphaModFix/>
          </a:blip>
          <a:stretch>
            <a:fillRect/>
          </a:stretch>
        </p:blipFill>
        <p:spPr>
          <a:xfrm>
            <a:off x="205150" y="2150174"/>
            <a:ext cx="6252626" cy="2631699"/>
          </a:xfrm>
          <a:prstGeom prst="rect">
            <a:avLst/>
          </a:prstGeom>
          <a:noFill/>
          <a:ln>
            <a:noFill/>
          </a:ln>
        </p:spPr>
      </p:pic>
      <p:pic>
        <p:nvPicPr>
          <p:cNvPr descr="Gráfico de respuestas de formularios. Título de la pregunta: When you think about choosing your major or program, what is your main feeling?. Número de respuestas: 108 respuestas." id="255" name="Google Shape;255;p34" title="When you think about choosing your major or program, what is your main feeling?"/>
          <p:cNvPicPr preferRelativeResize="0"/>
          <p:nvPr/>
        </p:nvPicPr>
        <p:blipFill>
          <a:blip r:embed="rId9">
            <a:alphaModFix/>
          </a:blip>
          <a:stretch>
            <a:fillRect/>
          </a:stretch>
        </p:blipFill>
        <p:spPr>
          <a:xfrm>
            <a:off x="5468150" y="3786500"/>
            <a:ext cx="6105590" cy="2569850"/>
          </a:xfrm>
          <a:prstGeom prst="rect">
            <a:avLst/>
          </a:prstGeom>
          <a:noFill/>
          <a:ln>
            <a:noFill/>
          </a:ln>
        </p:spPr>
      </p:pic>
      <p:sp>
        <p:nvSpPr>
          <p:cNvPr id="256" name="Google Shape;256;p34"/>
          <p:cNvSpPr txBox="1"/>
          <p:nvPr>
            <p:ph idx="12" type="sldNum"/>
          </p:nvPr>
        </p:nvSpPr>
        <p:spPr>
          <a:xfrm>
            <a:off x="9853250" y="6356350"/>
            <a:ext cx="2133600" cy="365100"/>
          </a:xfrm>
          <a:prstGeom prst="rect">
            <a:avLst/>
          </a:prstGeom>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Font typeface="Arial"/>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pic>
        <p:nvPicPr>
          <p:cNvPr descr="image.png" id="261" name="Google Shape;261;p35"/>
          <p:cNvPicPr preferRelativeResize="0"/>
          <p:nvPr/>
        </p:nvPicPr>
        <p:blipFill rotWithShape="1">
          <a:blip r:embed="rId4">
            <a:alphaModFix/>
          </a:blip>
          <a:srcRect b="0" l="0" r="0" t="0"/>
          <a:stretch/>
        </p:blipFill>
        <p:spPr>
          <a:xfrm>
            <a:off x="742100" y="1300600"/>
            <a:ext cx="5229225" cy="615600"/>
          </a:xfrm>
          <a:prstGeom prst="rect">
            <a:avLst/>
          </a:prstGeom>
          <a:noFill/>
          <a:ln>
            <a:noFill/>
          </a:ln>
        </p:spPr>
      </p:pic>
      <p:pic>
        <p:nvPicPr>
          <p:cNvPr descr="image.png" id="262" name="Google Shape;262;p35"/>
          <p:cNvPicPr preferRelativeResize="0"/>
          <p:nvPr/>
        </p:nvPicPr>
        <p:blipFill rotWithShape="1">
          <a:blip r:embed="rId5">
            <a:alphaModFix/>
          </a:blip>
          <a:srcRect b="0" l="0" r="0" t="0"/>
          <a:stretch/>
        </p:blipFill>
        <p:spPr>
          <a:xfrm>
            <a:off x="6352325" y="1300600"/>
            <a:ext cx="5229225" cy="615600"/>
          </a:xfrm>
          <a:prstGeom prst="rect">
            <a:avLst/>
          </a:prstGeom>
          <a:noFill/>
          <a:ln>
            <a:noFill/>
          </a:ln>
        </p:spPr>
      </p:pic>
      <p:sp>
        <p:nvSpPr>
          <p:cNvPr id="263" name="Google Shape;263;p35"/>
          <p:cNvSpPr txBox="1"/>
          <p:nvPr/>
        </p:nvSpPr>
        <p:spPr>
          <a:xfrm>
            <a:off x="711550" y="1240013"/>
            <a:ext cx="9888900" cy="2463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t/>
            </a:r>
            <a:endParaRPr sz="1600"/>
          </a:p>
        </p:txBody>
      </p:sp>
      <p:sp>
        <p:nvSpPr>
          <p:cNvPr id="264" name="Google Shape;264;p35"/>
          <p:cNvSpPr txBox="1"/>
          <p:nvPr/>
        </p:nvSpPr>
        <p:spPr>
          <a:xfrm>
            <a:off x="1380275" y="1454500"/>
            <a:ext cx="4510500" cy="307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Syne"/>
                <a:ea typeface="Syne"/>
                <a:cs typeface="Syne"/>
                <a:sym typeface="Syne"/>
              </a:rPr>
              <a:t>Qualitative Validation</a:t>
            </a:r>
            <a:endParaRPr sz="2000"/>
          </a:p>
        </p:txBody>
      </p:sp>
      <p:sp>
        <p:nvSpPr>
          <p:cNvPr id="265" name="Google Shape;265;p35"/>
          <p:cNvSpPr txBox="1"/>
          <p:nvPr/>
        </p:nvSpPr>
        <p:spPr>
          <a:xfrm>
            <a:off x="7070150" y="1454500"/>
            <a:ext cx="4590600" cy="307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Syne"/>
                <a:ea typeface="Syne"/>
                <a:cs typeface="Syne"/>
                <a:sym typeface="Syne"/>
              </a:rPr>
              <a:t>Quantitative Survey</a:t>
            </a:r>
            <a:endParaRPr sz="2000"/>
          </a:p>
        </p:txBody>
      </p:sp>
      <p:pic>
        <p:nvPicPr>
          <p:cNvPr descr="image.png" id="266" name="Google Shape;266;p35"/>
          <p:cNvPicPr preferRelativeResize="0"/>
          <p:nvPr/>
        </p:nvPicPr>
        <p:blipFill rotWithShape="1">
          <a:blip r:embed="rId6">
            <a:alphaModFix/>
          </a:blip>
          <a:srcRect b="0" l="0" r="0" t="0"/>
          <a:stretch/>
        </p:blipFill>
        <p:spPr>
          <a:xfrm>
            <a:off x="906850" y="1466152"/>
            <a:ext cx="375550" cy="303329"/>
          </a:xfrm>
          <a:prstGeom prst="rect">
            <a:avLst/>
          </a:prstGeom>
          <a:noFill/>
          <a:ln>
            <a:noFill/>
          </a:ln>
        </p:spPr>
      </p:pic>
      <p:pic>
        <p:nvPicPr>
          <p:cNvPr descr="image.png" id="267" name="Google Shape;267;p35"/>
          <p:cNvPicPr preferRelativeResize="0"/>
          <p:nvPr/>
        </p:nvPicPr>
        <p:blipFill rotWithShape="1">
          <a:blip r:embed="rId7">
            <a:alphaModFix/>
          </a:blip>
          <a:srcRect b="0" l="0" r="0" t="0"/>
          <a:stretch/>
        </p:blipFill>
        <p:spPr>
          <a:xfrm>
            <a:off x="6540893" y="1389337"/>
            <a:ext cx="375557" cy="438150"/>
          </a:xfrm>
          <a:prstGeom prst="rect">
            <a:avLst/>
          </a:prstGeom>
          <a:noFill/>
          <a:ln>
            <a:noFill/>
          </a:ln>
        </p:spPr>
      </p:pic>
      <p:sp>
        <p:nvSpPr>
          <p:cNvPr id="268" name="Google Shape;268;p35"/>
          <p:cNvSpPr txBox="1"/>
          <p:nvPr/>
        </p:nvSpPr>
        <p:spPr>
          <a:xfrm>
            <a:off x="819150" y="485775"/>
            <a:ext cx="11231400" cy="492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FFFFFF"/>
                </a:solidFill>
                <a:latin typeface="Syne ExtraBold"/>
                <a:ea typeface="Syne ExtraBold"/>
                <a:cs typeface="Syne ExtraBold"/>
                <a:sym typeface="Syne ExtraBold"/>
              </a:rPr>
              <a:t>Empirical Field Validation</a:t>
            </a:r>
            <a:endParaRPr sz="3200"/>
          </a:p>
        </p:txBody>
      </p:sp>
      <p:sp>
        <p:nvSpPr>
          <p:cNvPr id="269" name="Google Shape;269;p35"/>
          <p:cNvSpPr/>
          <p:nvPr/>
        </p:nvSpPr>
        <p:spPr>
          <a:xfrm>
            <a:off x="676275" y="485775"/>
            <a:ext cx="47700" cy="4383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Gráfico de respuestas de formularios. Título de la pregunta: Do you feel you receive enough useful, clear, and personalized information at your school about the different degrees?   . Número de respuestas: 108 respuestas." id="270" name="Google Shape;270;p35" title="Do you feel you receive enough useful, clear, and personalized information at your school about the different degrees?   "/>
          <p:cNvPicPr preferRelativeResize="0"/>
          <p:nvPr/>
        </p:nvPicPr>
        <p:blipFill rotWithShape="1">
          <a:blip r:embed="rId8">
            <a:alphaModFix/>
          </a:blip>
          <a:srcRect b="7978" l="0" r="0" t="0"/>
          <a:stretch/>
        </p:blipFill>
        <p:spPr>
          <a:xfrm>
            <a:off x="6125700" y="2238425"/>
            <a:ext cx="5682483" cy="2372025"/>
          </a:xfrm>
          <a:prstGeom prst="rect">
            <a:avLst/>
          </a:prstGeom>
          <a:noFill/>
          <a:ln>
            <a:noFill/>
          </a:ln>
        </p:spPr>
      </p:pic>
      <p:pic>
        <p:nvPicPr>
          <p:cNvPr descr="Gráfico de respuestas de formularios. Título de la pregunta: If there were a free mobile app that analyzed your real interests and recommended degrees that perfectly fit you, would you use it?  . Número de respuestas: 108 respuestas." id="271" name="Google Shape;271;p35" title="If there were a free mobile app that analyzed your real interests and recommended degrees that perfectly fit you, would you use it?  "/>
          <p:cNvPicPr preferRelativeResize="0"/>
          <p:nvPr/>
        </p:nvPicPr>
        <p:blipFill>
          <a:blip r:embed="rId9">
            <a:alphaModFix/>
          </a:blip>
          <a:stretch>
            <a:fillRect/>
          </a:stretch>
        </p:blipFill>
        <p:spPr>
          <a:xfrm>
            <a:off x="343300" y="2121150"/>
            <a:ext cx="5487749" cy="2489300"/>
          </a:xfrm>
          <a:prstGeom prst="rect">
            <a:avLst/>
          </a:prstGeom>
          <a:noFill/>
          <a:ln>
            <a:noFill/>
          </a:ln>
        </p:spPr>
      </p:pic>
      <p:pic>
        <p:nvPicPr>
          <p:cNvPr descr="Gráfico de respuestas de formularios. Título de la pregunta:   From 1 (low) to 5 (high), how much stress do you feel about making this decision?  . Número de respuestas: 108 respuestas." id="272" name="Google Shape;272;p35" title="  From 1 (low) to 5 (high), how much stress do you feel about making this decision?  "/>
          <p:cNvPicPr preferRelativeResize="0"/>
          <p:nvPr/>
        </p:nvPicPr>
        <p:blipFill rotWithShape="1">
          <a:blip r:embed="rId10">
            <a:alphaModFix/>
          </a:blip>
          <a:srcRect b="10933" l="0" r="0" t="4185"/>
          <a:stretch/>
        </p:blipFill>
        <p:spPr>
          <a:xfrm>
            <a:off x="3041388" y="4610450"/>
            <a:ext cx="5229225" cy="2110999"/>
          </a:xfrm>
          <a:prstGeom prst="rect">
            <a:avLst/>
          </a:prstGeom>
          <a:noFill/>
          <a:ln>
            <a:noFill/>
          </a:ln>
        </p:spPr>
      </p:pic>
      <p:sp>
        <p:nvSpPr>
          <p:cNvPr id="273" name="Google Shape;273;p35"/>
          <p:cNvSpPr txBox="1"/>
          <p:nvPr>
            <p:ph idx="12" type="sldNum"/>
          </p:nvPr>
        </p:nvSpPr>
        <p:spPr>
          <a:xfrm>
            <a:off x="9853250" y="6356350"/>
            <a:ext cx="2133600" cy="365100"/>
          </a:xfrm>
          <a:prstGeom prst="rect">
            <a:avLst/>
          </a:prstGeom>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Font typeface="Arial"/>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pic>
        <p:nvPicPr>
          <p:cNvPr descr="image.png" id="278" name="Google Shape;278;p36"/>
          <p:cNvPicPr preferRelativeResize="0"/>
          <p:nvPr/>
        </p:nvPicPr>
        <p:blipFill rotWithShape="1">
          <a:blip r:embed="rId4">
            <a:alphaModFix/>
          </a:blip>
          <a:srcRect b="0" l="0" r="0" t="0"/>
          <a:stretch/>
        </p:blipFill>
        <p:spPr>
          <a:xfrm>
            <a:off x="571500" y="2636490"/>
            <a:ext cx="3524250" cy="2604045"/>
          </a:xfrm>
          <a:prstGeom prst="rect">
            <a:avLst/>
          </a:prstGeom>
          <a:noFill/>
          <a:ln>
            <a:noFill/>
          </a:ln>
        </p:spPr>
      </p:pic>
      <p:pic>
        <p:nvPicPr>
          <p:cNvPr descr="image.png" id="279" name="Google Shape;279;p36"/>
          <p:cNvPicPr preferRelativeResize="0"/>
          <p:nvPr/>
        </p:nvPicPr>
        <p:blipFill rotWithShape="1">
          <a:blip r:embed="rId5">
            <a:alphaModFix/>
          </a:blip>
          <a:srcRect b="0" l="0" r="0" t="0"/>
          <a:stretch/>
        </p:blipFill>
        <p:spPr>
          <a:xfrm>
            <a:off x="4333875" y="2636490"/>
            <a:ext cx="3524250" cy="2604045"/>
          </a:xfrm>
          <a:prstGeom prst="rect">
            <a:avLst/>
          </a:prstGeom>
          <a:noFill/>
          <a:ln>
            <a:noFill/>
          </a:ln>
        </p:spPr>
      </p:pic>
      <p:pic>
        <p:nvPicPr>
          <p:cNvPr descr="image.png" id="280" name="Google Shape;280;p36"/>
          <p:cNvPicPr preferRelativeResize="0"/>
          <p:nvPr/>
        </p:nvPicPr>
        <p:blipFill rotWithShape="1">
          <a:blip r:embed="rId6">
            <a:alphaModFix/>
          </a:blip>
          <a:srcRect b="0" l="0" r="0" t="0"/>
          <a:stretch/>
        </p:blipFill>
        <p:spPr>
          <a:xfrm>
            <a:off x="8096250" y="2636490"/>
            <a:ext cx="3524250" cy="2604045"/>
          </a:xfrm>
          <a:prstGeom prst="rect">
            <a:avLst/>
          </a:prstGeom>
          <a:noFill/>
          <a:ln>
            <a:noFill/>
          </a:ln>
        </p:spPr>
      </p:pic>
      <p:pic>
        <p:nvPicPr>
          <p:cNvPr descr="image.png" id="281" name="Google Shape;281;p36"/>
          <p:cNvPicPr preferRelativeResize="0"/>
          <p:nvPr/>
        </p:nvPicPr>
        <p:blipFill rotWithShape="1">
          <a:blip r:embed="rId7">
            <a:alphaModFix/>
          </a:blip>
          <a:srcRect b="0" l="0" r="0" t="0"/>
          <a:stretch/>
        </p:blipFill>
        <p:spPr>
          <a:xfrm>
            <a:off x="2166925" y="3446115"/>
            <a:ext cx="381000" cy="381000"/>
          </a:xfrm>
          <a:prstGeom prst="rect">
            <a:avLst/>
          </a:prstGeom>
          <a:noFill/>
          <a:ln>
            <a:noFill/>
          </a:ln>
        </p:spPr>
      </p:pic>
      <p:sp>
        <p:nvSpPr>
          <p:cNvPr id="282" name="Google Shape;282;p36"/>
          <p:cNvSpPr txBox="1"/>
          <p:nvPr/>
        </p:nvSpPr>
        <p:spPr>
          <a:xfrm>
            <a:off x="733425" y="4099265"/>
            <a:ext cx="32004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A78BFA"/>
                </a:solidFill>
                <a:latin typeface="Syne"/>
                <a:ea typeface="Syne"/>
                <a:cs typeface="Syne"/>
                <a:sym typeface="Syne"/>
              </a:rPr>
              <a:t>1. Predict "Where"</a:t>
            </a:r>
            <a:endParaRPr/>
          </a:p>
        </p:txBody>
      </p:sp>
      <p:pic>
        <p:nvPicPr>
          <p:cNvPr descr="image.png" id="283" name="Google Shape;283;p36"/>
          <p:cNvPicPr preferRelativeResize="0"/>
          <p:nvPr/>
        </p:nvPicPr>
        <p:blipFill rotWithShape="1">
          <a:blip r:embed="rId8">
            <a:alphaModFix/>
          </a:blip>
          <a:srcRect b="0" l="0" r="0" t="0"/>
          <a:stretch/>
        </p:blipFill>
        <p:spPr>
          <a:xfrm>
            <a:off x="5905500" y="3446115"/>
            <a:ext cx="381000" cy="381000"/>
          </a:xfrm>
          <a:prstGeom prst="rect">
            <a:avLst/>
          </a:prstGeom>
          <a:noFill/>
          <a:ln>
            <a:noFill/>
          </a:ln>
        </p:spPr>
      </p:pic>
      <p:sp>
        <p:nvSpPr>
          <p:cNvPr id="284" name="Google Shape;284;p36"/>
          <p:cNvSpPr txBox="1"/>
          <p:nvPr/>
        </p:nvSpPr>
        <p:spPr>
          <a:xfrm>
            <a:off x="4495800" y="4017615"/>
            <a:ext cx="32004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A78BFA"/>
                </a:solidFill>
                <a:latin typeface="Syne"/>
                <a:ea typeface="Syne"/>
                <a:cs typeface="Syne"/>
                <a:sym typeface="Syne"/>
              </a:rPr>
              <a:t>2. Predict "How Much"</a:t>
            </a:r>
            <a:endParaRPr/>
          </a:p>
        </p:txBody>
      </p:sp>
      <p:pic>
        <p:nvPicPr>
          <p:cNvPr descr="image.png" id="285" name="Google Shape;285;p36"/>
          <p:cNvPicPr preferRelativeResize="0"/>
          <p:nvPr/>
        </p:nvPicPr>
        <p:blipFill rotWithShape="1">
          <a:blip r:embed="rId9">
            <a:alphaModFix/>
          </a:blip>
          <a:srcRect b="0" l="0" r="0" t="0"/>
          <a:stretch/>
        </p:blipFill>
        <p:spPr>
          <a:xfrm>
            <a:off x="9644075" y="3446115"/>
            <a:ext cx="428625" cy="381000"/>
          </a:xfrm>
          <a:prstGeom prst="rect">
            <a:avLst/>
          </a:prstGeom>
          <a:noFill/>
          <a:ln>
            <a:noFill/>
          </a:ln>
        </p:spPr>
      </p:pic>
      <p:sp>
        <p:nvSpPr>
          <p:cNvPr id="286" name="Google Shape;286;p36"/>
          <p:cNvSpPr txBox="1"/>
          <p:nvPr/>
        </p:nvSpPr>
        <p:spPr>
          <a:xfrm>
            <a:off x="8258175" y="4017615"/>
            <a:ext cx="32004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A78BFA"/>
                </a:solidFill>
                <a:latin typeface="Syne"/>
                <a:ea typeface="Syne"/>
                <a:cs typeface="Syne"/>
                <a:sym typeface="Syne"/>
              </a:rPr>
              <a:t>3. Predict "What"</a:t>
            </a:r>
            <a:endParaRPr/>
          </a:p>
        </p:txBody>
      </p:sp>
      <p:sp>
        <p:nvSpPr>
          <p:cNvPr id="287" name="Google Shape;287;p36"/>
          <p:cNvSpPr txBox="1"/>
          <p:nvPr/>
        </p:nvSpPr>
        <p:spPr>
          <a:xfrm>
            <a:off x="571500" y="571500"/>
            <a:ext cx="11601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200" u="none" cap="none" strike="noStrike">
                <a:solidFill>
                  <a:schemeClr val="lt1"/>
                </a:solidFill>
                <a:latin typeface="Syne ExtraBold"/>
                <a:ea typeface="Syne ExtraBold"/>
                <a:cs typeface="Syne ExtraBold"/>
                <a:sym typeface="Syne ExtraBold"/>
              </a:rPr>
              <a:t>OUR SOLUTION: ORIENT AI</a:t>
            </a:r>
            <a:endParaRPr b="1" sz="3200">
              <a:solidFill>
                <a:schemeClr val="lt1"/>
              </a:solidFill>
            </a:endParaRPr>
          </a:p>
        </p:txBody>
      </p:sp>
      <p:sp>
        <p:nvSpPr>
          <p:cNvPr id="288" name="Google Shape;288;p36"/>
          <p:cNvSpPr/>
          <p:nvPr/>
        </p:nvSpPr>
        <p:spPr>
          <a:xfrm>
            <a:off x="571500" y="1200150"/>
            <a:ext cx="11049000" cy="9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36"/>
          <p:cNvSpPr txBox="1"/>
          <p:nvPr/>
        </p:nvSpPr>
        <p:spPr>
          <a:xfrm>
            <a:off x="733350" y="1722100"/>
            <a:ext cx="10887300" cy="800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US" sz="2000" u="none" cap="none" strike="noStrike">
                <a:solidFill>
                  <a:srgbClr val="94A3B8"/>
                </a:solidFill>
                <a:latin typeface="DM Sans"/>
                <a:ea typeface="DM Sans"/>
                <a:cs typeface="DM Sans"/>
                <a:sym typeface="DM Sans"/>
              </a:rPr>
              <a:t>Our intelligent framework goes beyond standard classification. By modeling psychological profiles, it bridges the gap between student aspirations and academic realities.</a:t>
            </a:r>
            <a:endParaRPr sz="2000">
              <a:latin typeface="DM Sans"/>
              <a:ea typeface="DM Sans"/>
              <a:cs typeface="DM Sans"/>
              <a:sym typeface="DM Sans"/>
            </a:endParaRPr>
          </a:p>
        </p:txBody>
      </p:sp>
      <p:sp>
        <p:nvSpPr>
          <p:cNvPr id="290" name="Google Shape;290;p36"/>
          <p:cNvSpPr txBox="1"/>
          <p:nvPr/>
        </p:nvSpPr>
        <p:spPr>
          <a:xfrm>
            <a:off x="8939550" y="6209150"/>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4" name="Shape 294"/>
        <p:cNvGrpSpPr/>
        <p:nvPr/>
      </p:nvGrpSpPr>
      <p:grpSpPr>
        <a:xfrm>
          <a:off x="0" y="0"/>
          <a:ext cx="0" cy="0"/>
          <a:chOff x="0" y="0"/>
          <a:chExt cx="0" cy="0"/>
        </a:xfrm>
      </p:grpSpPr>
      <p:sp>
        <p:nvSpPr>
          <p:cNvPr id="295" name="Google Shape;295;p37"/>
          <p:cNvSpPr txBox="1"/>
          <p:nvPr>
            <p:ph type="title"/>
          </p:nvPr>
        </p:nvSpPr>
        <p:spPr>
          <a:xfrm>
            <a:off x="554125" y="435950"/>
            <a:ext cx="11551200" cy="13731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SzPts val="1300"/>
              <a:buNone/>
            </a:pPr>
            <a:r>
              <a:rPr lang="en-US" sz="3200">
                <a:solidFill>
                  <a:schemeClr val="lt1"/>
                </a:solidFill>
                <a:latin typeface="Syne ExtraBold"/>
                <a:ea typeface="Syne ExtraBold"/>
                <a:cs typeface="Syne ExtraBold"/>
                <a:sym typeface="Syne ExtraBold"/>
              </a:rPr>
              <a:t>THE STAKEHOLDERS: WHO WE’RE BUILDING FOR</a:t>
            </a:r>
            <a:endParaRPr sz="3200">
              <a:solidFill>
                <a:schemeClr val="lt1"/>
              </a:solidFill>
              <a:latin typeface="Syne ExtraBold"/>
              <a:ea typeface="Syne ExtraBold"/>
              <a:cs typeface="Syne ExtraBold"/>
              <a:sym typeface="Syne ExtraBold"/>
            </a:endParaRPr>
          </a:p>
        </p:txBody>
      </p:sp>
      <p:pic>
        <p:nvPicPr>
          <p:cNvPr descr="preencoded.png" id="296" name="Google Shape;296;p37"/>
          <p:cNvPicPr preferRelativeResize="0"/>
          <p:nvPr/>
        </p:nvPicPr>
        <p:blipFill rotWithShape="1">
          <a:blip r:embed="rId4">
            <a:alphaModFix/>
          </a:blip>
          <a:srcRect b="0" l="0" r="0" t="0"/>
          <a:stretch/>
        </p:blipFill>
        <p:spPr>
          <a:xfrm>
            <a:off x="1403644" y="2306870"/>
            <a:ext cx="2013218" cy="2013218"/>
          </a:xfrm>
          <a:prstGeom prst="rect">
            <a:avLst/>
          </a:prstGeom>
          <a:noFill/>
          <a:ln>
            <a:noFill/>
          </a:ln>
        </p:spPr>
      </p:pic>
      <p:sp>
        <p:nvSpPr>
          <p:cNvPr id="297" name="Google Shape;297;p37"/>
          <p:cNvSpPr/>
          <p:nvPr/>
        </p:nvSpPr>
        <p:spPr>
          <a:xfrm>
            <a:off x="1227066" y="4488215"/>
            <a:ext cx="2366400" cy="2955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C4C4C"/>
              </a:buClr>
              <a:buSzPts val="1800"/>
              <a:buFont typeface="Arial"/>
              <a:buNone/>
            </a:pPr>
            <a:r>
              <a:rPr i="0" lang="en-US" sz="1800" u="none" cap="none" strike="noStrike">
                <a:solidFill>
                  <a:schemeClr val="lt1"/>
                </a:solidFill>
                <a:latin typeface="Poppins"/>
                <a:ea typeface="Poppins"/>
                <a:cs typeface="Poppins"/>
                <a:sym typeface="Poppins"/>
              </a:rPr>
              <a:t>Primary: Students</a:t>
            </a:r>
            <a:endParaRPr i="0" sz="1800" u="none" cap="none" strike="noStrike">
              <a:solidFill>
                <a:schemeClr val="lt1"/>
              </a:solidFill>
              <a:latin typeface="Poppins"/>
              <a:ea typeface="Poppins"/>
              <a:cs typeface="Poppins"/>
              <a:sym typeface="Poppins"/>
            </a:endParaRPr>
          </a:p>
        </p:txBody>
      </p:sp>
      <p:pic>
        <p:nvPicPr>
          <p:cNvPr descr="preencoded.png" id="298" name="Google Shape;298;p37"/>
          <p:cNvPicPr preferRelativeResize="0"/>
          <p:nvPr/>
        </p:nvPicPr>
        <p:blipFill rotWithShape="1">
          <a:blip r:embed="rId5">
            <a:alphaModFix/>
          </a:blip>
          <a:srcRect b="0" l="0" r="0" t="0"/>
          <a:stretch/>
        </p:blipFill>
        <p:spPr>
          <a:xfrm>
            <a:off x="5039572" y="2292700"/>
            <a:ext cx="2013218" cy="2013218"/>
          </a:xfrm>
          <a:prstGeom prst="rect">
            <a:avLst/>
          </a:prstGeom>
          <a:noFill/>
          <a:ln>
            <a:noFill/>
          </a:ln>
        </p:spPr>
      </p:pic>
      <p:sp>
        <p:nvSpPr>
          <p:cNvPr id="299" name="Google Shape;299;p37"/>
          <p:cNvSpPr/>
          <p:nvPr/>
        </p:nvSpPr>
        <p:spPr>
          <a:xfrm>
            <a:off x="4398093" y="4542548"/>
            <a:ext cx="3471600" cy="5916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C4C4C"/>
              </a:buClr>
              <a:buSzPts val="1800"/>
              <a:buFont typeface="Arial"/>
              <a:buNone/>
            </a:pPr>
            <a:r>
              <a:rPr i="0" lang="en-US" sz="1800" u="none" cap="none" strike="noStrike">
                <a:solidFill>
                  <a:schemeClr val="lt1"/>
                </a:solidFill>
                <a:latin typeface="Poppins"/>
                <a:ea typeface="Poppins"/>
                <a:cs typeface="Poppins"/>
                <a:sym typeface="Poppins"/>
              </a:rPr>
              <a:t>Secondary: Counselors &amp; Parents</a:t>
            </a:r>
            <a:endParaRPr i="0" sz="1800" u="none" cap="none" strike="noStrike">
              <a:solidFill>
                <a:schemeClr val="lt1"/>
              </a:solidFill>
              <a:latin typeface="Poppins"/>
              <a:ea typeface="Poppins"/>
              <a:cs typeface="Poppins"/>
              <a:sym typeface="Poppins"/>
            </a:endParaRPr>
          </a:p>
        </p:txBody>
      </p:sp>
      <p:pic>
        <p:nvPicPr>
          <p:cNvPr descr="preencoded.png" id="300" name="Google Shape;300;p37"/>
          <p:cNvPicPr preferRelativeResize="0"/>
          <p:nvPr/>
        </p:nvPicPr>
        <p:blipFill rotWithShape="1">
          <a:blip r:embed="rId6">
            <a:alphaModFix/>
          </a:blip>
          <a:srcRect b="0" l="0" r="0" t="0"/>
          <a:stretch/>
        </p:blipFill>
        <p:spPr>
          <a:xfrm>
            <a:off x="8675500" y="2292700"/>
            <a:ext cx="2013218" cy="2013218"/>
          </a:xfrm>
          <a:prstGeom prst="rect">
            <a:avLst/>
          </a:prstGeom>
          <a:noFill/>
          <a:ln>
            <a:noFill/>
          </a:ln>
        </p:spPr>
      </p:pic>
      <p:sp>
        <p:nvSpPr>
          <p:cNvPr id="301" name="Google Shape;301;p37"/>
          <p:cNvSpPr/>
          <p:nvPr/>
        </p:nvSpPr>
        <p:spPr>
          <a:xfrm>
            <a:off x="8105836" y="4542548"/>
            <a:ext cx="3471600" cy="5916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4C4C4C"/>
              </a:buClr>
              <a:buSzPts val="1800"/>
              <a:buFont typeface="Arial"/>
              <a:buNone/>
            </a:pPr>
            <a:r>
              <a:rPr i="0" lang="en-US" sz="1800" u="none" cap="none" strike="noStrike">
                <a:solidFill>
                  <a:schemeClr val="lt1"/>
                </a:solidFill>
                <a:latin typeface="Poppins"/>
                <a:ea typeface="Poppins"/>
                <a:cs typeface="Poppins"/>
                <a:sym typeface="Poppins"/>
              </a:rPr>
              <a:t>Tertiary: Universities &amp; Employers</a:t>
            </a:r>
            <a:endParaRPr i="0" sz="1800" u="none" cap="none" strike="noStrike">
              <a:solidFill>
                <a:schemeClr val="lt1"/>
              </a:solidFill>
              <a:latin typeface="Poppins"/>
              <a:ea typeface="Poppins"/>
              <a:cs typeface="Poppins"/>
              <a:sym typeface="Poppins"/>
            </a:endParaRPr>
          </a:p>
        </p:txBody>
      </p:sp>
      <p:sp>
        <p:nvSpPr>
          <p:cNvPr id="302" name="Google Shape;302;p37"/>
          <p:cNvSpPr/>
          <p:nvPr/>
        </p:nvSpPr>
        <p:spPr>
          <a:xfrm>
            <a:off x="8105838" y="5370749"/>
            <a:ext cx="3296100" cy="9087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4C4C4C"/>
              </a:buClr>
              <a:buSzPts val="1500"/>
              <a:buFont typeface="Arial"/>
              <a:buNone/>
            </a:pPr>
            <a:r>
              <a:t/>
            </a:r>
            <a:endParaRPr i="0" sz="1500" u="none" cap="none" strike="noStrike">
              <a:solidFill>
                <a:schemeClr val="lt1"/>
              </a:solidFill>
              <a:latin typeface="Poppins"/>
              <a:ea typeface="Poppins"/>
              <a:cs typeface="Poppins"/>
              <a:sym typeface="Poppins"/>
            </a:endParaRPr>
          </a:p>
        </p:txBody>
      </p:sp>
      <p:sp>
        <p:nvSpPr>
          <p:cNvPr id="303" name="Google Shape;303;p37"/>
          <p:cNvSpPr/>
          <p:nvPr/>
        </p:nvSpPr>
        <p:spPr>
          <a:xfrm>
            <a:off x="11865733" y="6414233"/>
            <a:ext cx="239700" cy="392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A3A"/>
              </a:buClr>
              <a:buSzPts val="3700"/>
              <a:buFont typeface="Arial"/>
              <a:buNone/>
            </a:pPr>
            <a:r>
              <a:rPr lang="en-US" sz="2300">
                <a:solidFill>
                  <a:schemeClr val="dk1"/>
                </a:solidFill>
                <a:latin typeface="Bebas Neue"/>
                <a:ea typeface="Bebas Neue"/>
                <a:cs typeface="Bebas Neue"/>
                <a:sym typeface="Bebas Neue"/>
              </a:rPr>
              <a:t>13</a:t>
            </a:r>
            <a:endParaRPr i="0" sz="2300" u="none" cap="none" strike="noStrike">
              <a:solidFill>
                <a:schemeClr val="dk1"/>
              </a:solidFill>
              <a:latin typeface="Bebas Neue"/>
              <a:ea typeface="Bebas Neue"/>
              <a:cs typeface="Bebas Neue"/>
              <a:sym typeface="Bebas Neue"/>
            </a:endParaRPr>
          </a:p>
        </p:txBody>
      </p:sp>
      <p:sp>
        <p:nvSpPr>
          <p:cNvPr id="304" name="Google Shape;304;p37"/>
          <p:cNvSpPr txBox="1"/>
          <p:nvPr/>
        </p:nvSpPr>
        <p:spPr>
          <a:xfrm>
            <a:off x="8958150" y="6058825"/>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
        <p:nvSpPr>
          <p:cNvPr id="305" name="Google Shape;305;p37"/>
          <p:cNvSpPr/>
          <p:nvPr/>
        </p:nvSpPr>
        <p:spPr>
          <a:xfrm>
            <a:off x="571500" y="1621450"/>
            <a:ext cx="11049000" cy="9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321"/>
        </a:solidFill>
      </p:bgPr>
    </p:bg>
    <p:spTree>
      <p:nvGrpSpPr>
        <p:cNvPr id="309" name="Shape 309"/>
        <p:cNvGrpSpPr/>
        <p:nvPr/>
      </p:nvGrpSpPr>
      <p:grpSpPr>
        <a:xfrm>
          <a:off x="0" y="0"/>
          <a:ext cx="0" cy="0"/>
          <a:chOff x="0" y="0"/>
          <a:chExt cx="0" cy="0"/>
        </a:xfrm>
      </p:grpSpPr>
      <p:grpSp>
        <p:nvGrpSpPr>
          <p:cNvPr id="310" name="Google Shape;310;p38"/>
          <p:cNvGrpSpPr/>
          <p:nvPr/>
        </p:nvGrpSpPr>
        <p:grpSpPr>
          <a:xfrm>
            <a:off x="571500" y="2481625"/>
            <a:ext cx="11049000" cy="3810000"/>
            <a:chOff x="571500" y="1809750"/>
            <a:chExt cx="11049000" cy="3810000"/>
          </a:xfrm>
        </p:grpSpPr>
        <p:sp>
          <p:nvSpPr>
            <p:cNvPr id="311" name="Google Shape;311;p38"/>
            <p:cNvSpPr/>
            <p:nvPr/>
          </p:nvSpPr>
          <p:spPr>
            <a:xfrm>
              <a:off x="571500" y="1809750"/>
              <a:ext cx="11049000" cy="3810000"/>
            </a:xfrm>
            <a:prstGeom prst="roundRect">
              <a:avLst>
                <a:gd fmla="val 6000" name="adj"/>
              </a:avLst>
            </a:prstGeom>
            <a:solidFill>
              <a:srgbClr val="1E293B">
                <a:alpha val="6000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38"/>
            <p:cNvSpPr txBox="1"/>
            <p:nvPr/>
          </p:nvSpPr>
          <p:spPr>
            <a:xfrm>
              <a:off x="1238250" y="213639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A78BFA"/>
                  </a:solidFill>
                  <a:latin typeface="Material Icons"/>
                  <a:ea typeface="Material Icons"/>
                  <a:cs typeface="Material Icons"/>
                  <a:sym typeface="Material Icons"/>
                </a:rPr>
                <a:t>terminal</a:t>
              </a:r>
              <a:endParaRPr sz="2380">
                <a:solidFill>
                  <a:srgbClr val="A78BFA"/>
                </a:solidFill>
                <a:latin typeface="Material Icons"/>
                <a:ea typeface="Material Icons"/>
                <a:cs typeface="Material Icons"/>
                <a:sym typeface="Material Icons"/>
              </a:endParaRPr>
            </a:p>
          </p:txBody>
        </p:sp>
        <p:sp>
          <p:nvSpPr>
            <p:cNvPr id="313" name="Google Shape;313;p38"/>
            <p:cNvSpPr txBox="1"/>
            <p:nvPr/>
          </p:nvSpPr>
          <p:spPr>
            <a:xfrm>
              <a:off x="1714500" y="2095500"/>
              <a:ext cx="476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FFFFFF"/>
                  </a:solidFill>
                  <a:latin typeface="Syne"/>
                  <a:ea typeface="Syne"/>
                  <a:cs typeface="Syne"/>
                  <a:sym typeface="Syne"/>
                </a:rPr>
                <a:t>Software Development Team</a:t>
              </a:r>
              <a:endParaRPr b="1" sz="2200">
                <a:solidFill>
                  <a:srgbClr val="FFFFFF"/>
                </a:solidFill>
                <a:latin typeface="Syne"/>
                <a:ea typeface="Syne"/>
                <a:cs typeface="Syne"/>
                <a:sym typeface="Syne"/>
              </a:endParaRPr>
            </a:p>
          </p:txBody>
        </p:sp>
      </p:grpSp>
      <p:sp>
        <p:nvSpPr>
          <p:cNvPr id="314" name="Google Shape;314;p38"/>
          <p:cNvSpPr txBox="1"/>
          <p:nvPr>
            <p:ph idx="12" type="sldNum"/>
          </p:nvPr>
        </p:nvSpPr>
        <p:spPr>
          <a:xfrm>
            <a:off x="9854350" y="6411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r">
              <a:spcBef>
                <a:spcPts val="0"/>
              </a:spcBef>
              <a:spcAft>
                <a:spcPts val="0"/>
              </a:spcAft>
              <a:buClr>
                <a:srgbClr val="000000"/>
              </a:buClr>
              <a:buFont typeface="Arial"/>
              <a:buNone/>
            </a:pPr>
            <a:r>
              <a:t/>
            </a:r>
            <a:endParaRPr/>
          </a:p>
        </p:txBody>
      </p:sp>
      <p:sp>
        <p:nvSpPr>
          <p:cNvPr id="315" name="Google Shape;315;p38"/>
          <p:cNvSpPr txBox="1"/>
          <p:nvPr/>
        </p:nvSpPr>
        <p:spPr>
          <a:xfrm>
            <a:off x="819150" y="428625"/>
            <a:ext cx="10801500" cy="571500"/>
          </a:xfrm>
          <a:prstGeom prst="rect">
            <a:avLst/>
          </a:prstGeom>
          <a:noFill/>
          <a:ln>
            <a:noFill/>
          </a:ln>
        </p:spPr>
        <p:txBody>
          <a:bodyPr anchorCtr="0" anchor="ctr" bIns="0" lIns="0" spcFirstLastPara="1" rIns="0" wrap="square" tIns="0">
            <a:noAutofit/>
          </a:bodyPr>
          <a:lstStyle/>
          <a:p>
            <a:pPr indent="0" lvl="0" marL="0" rtl="0" algn="l">
              <a:lnSpc>
                <a:spcPct val="120000"/>
              </a:lnSpc>
              <a:spcBef>
                <a:spcPts val="0"/>
              </a:spcBef>
              <a:spcAft>
                <a:spcPts val="0"/>
              </a:spcAft>
              <a:buNone/>
            </a:pPr>
            <a:r>
              <a:rPr lang="en-US" sz="3200">
                <a:solidFill>
                  <a:schemeClr val="lt1"/>
                </a:solidFill>
                <a:latin typeface="Syne ExtraBold"/>
                <a:ea typeface="Syne ExtraBold"/>
                <a:cs typeface="Syne ExtraBold"/>
                <a:sym typeface="Syne ExtraBold"/>
              </a:rPr>
              <a:t>Collaborative Team Architecture</a:t>
            </a:r>
            <a:endParaRPr sz="2790">
              <a:solidFill>
                <a:srgbClr val="FFFFFF"/>
              </a:solidFill>
              <a:latin typeface="Syne ExtraBold"/>
              <a:ea typeface="Syne ExtraBold"/>
              <a:cs typeface="Syne ExtraBold"/>
              <a:sym typeface="Syne ExtraBold"/>
            </a:endParaRPr>
          </a:p>
        </p:txBody>
      </p:sp>
      <p:grpSp>
        <p:nvGrpSpPr>
          <p:cNvPr id="316" name="Google Shape;316;p38"/>
          <p:cNvGrpSpPr/>
          <p:nvPr/>
        </p:nvGrpSpPr>
        <p:grpSpPr>
          <a:xfrm>
            <a:off x="1714500" y="5008125"/>
            <a:ext cx="8763150" cy="476400"/>
            <a:chOff x="1714500" y="5008125"/>
            <a:chExt cx="8763150" cy="476400"/>
          </a:xfrm>
        </p:grpSpPr>
        <p:sp>
          <p:nvSpPr>
            <p:cNvPr id="317" name="Google Shape;317;p38"/>
            <p:cNvSpPr txBox="1"/>
            <p:nvPr/>
          </p:nvSpPr>
          <p:spPr>
            <a:xfrm>
              <a:off x="1714500" y="5008125"/>
              <a:ext cx="14289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00">
                  <a:solidFill>
                    <a:srgbClr val="FFFFFF"/>
                  </a:solidFill>
                  <a:latin typeface="DM Sans SemiBold"/>
                  <a:ea typeface="DM Sans SemiBold"/>
                  <a:cs typeface="DM Sans SemiBold"/>
                  <a:sym typeface="DM Sans SemiBold"/>
                </a:rPr>
                <a:t>Jorge Domínguez Palomo</a:t>
              </a:r>
              <a:endParaRPr b="0" sz="1300">
                <a:solidFill>
                  <a:srgbClr val="FFFFFF"/>
                </a:solidFill>
                <a:latin typeface="DM Sans SemiBold"/>
                <a:ea typeface="DM Sans SemiBold"/>
                <a:cs typeface="DM Sans SemiBold"/>
                <a:sym typeface="DM Sans SemiBold"/>
              </a:endParaRPr>
            </a:p>
          </p:txBody>
        </p:sp>
        <p:sp>
          <p:nvSpPr>
            <p:cNvPr id="318" name="Google Shape;318;p38"/>
            <p:cNvSpPr txBox="1"/>
            <p:nvPr/>
          </p:nvSpPr>
          <p:spPr>
            <a:xfrm>
              <a:off x="5381625" y="5008125"/>
              <a:ext cx="14289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00">
                  <a:solidFill>
                    <a:srgbClr val="FFFFFF"/>
                  </a:solidFill>
                  <a:latin typeface="DM Sans SemiBold"/>
                  <a:ea typeface="DM Sans SemiBold"/>
                  <a:cs typeface="DM Sans SemiBold"/>
                  <a:sym typeface="DM Sans SemiBold"/>
                </a:rPr>
                <a:t>Jaime Esteban Reano</a:t>
              </a:r>
              <a:endParaRPr b="0" sz="1300">
                <a:solidFill>
                  <a:srgbClr val="FFFFFF"/>
                </a:solidFill>
                <a:latin typeface="DM Sans SemiBold"/>
                <a:ea typeface="DM Sans SemiBold"/>
                <a:cs typeface="DM Sans SemiBold"/>
                <a:sym typeface="DM Sans SemiBold"/>
              </a:endParaRPr>
            </a:p>
          </p:txBody>
        </p:sp>
        <p:sp>
          <p:nvSpPr>
            <p:cNvPr id="319" name="Google Shape;319;p38"/>
            <p:cNvSpPr txBox="1"/>
            <p:nvPr/>
          </p:nvSpPr>
          <p:spPr>
            <a:xfrm>
              <a:off x="9048750" y="5008125"/>
              <a:ext cx="14289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00">
                  <a:solidFill>
                    <a:srgbClr val="FFFFFF"/>
                  </a:solidFill>
                  <a:latin typeface="DM Sans SemiBold"/>
                  <a:ea typeface="DM Sans SemiBold"/>
                  <a:cs typeface="DM Sans SemiBold"/>
                  <a:sym typeface="DM Sans SemiBold"/>
                </a:rPr>
                <a:t>David Sánchez Sánchez</a:t>
              </a:r>
              <a:endParaRPr b="0" sz="1300">
                <a:solidFill>
                  <a:srgbClr val="FFFFFF"/>
                </a:solidFill>
                <a:latin typeface="DM Sans SemiBold"/>
                <a:ea typeface="DM Sans SemiBold"/>
                <a:cs typeface="DM Sans SemiBold"/>
                <a:sym typeface="DM Sans SemiBold"/>
              </a:endParaRPr>
            </a:p>
          </p:txBody>
        </p:sp>
      </p:grpSp>
      <p:grpSp>
        <p:nvGrpSpPr>
          <p:cNvPr id="320" name="Google Shape;320;p38"/>
          <p:cNvGrpSpPr/>
          <p:nvPr/>
        </p:nvGrpSpPr>
        <p:grpSpPr>
          <a:xfrm>
            <a:off x="4143375" y="5835300"/>
            <a:ext cx="3905250" cy="342900"/>
            <a:chOff x="4143375" y="4953000"/>
            <a:chExt cx="3905250" cy="342900"/>
          </a:xfrm>
        </p:grpSpPr>
        <p:sp>
          <p:nvSpPr>
            <p:cNvPr id="321" name="Google Shape;321;p38"/>
            <p:cNvSpPr/>
            <p:nvPr/>
          </p:nvSpPr>
          <p:spPr>
            <a:xfrm>
              <a:off x="4143375" y="4953000"/>
              <a:ext cx="1714500" cy="342900"/>
            </a:xfrm>
            <a:prstGeom prst="roundRect">
              <a:avLst>
                <a:gd fmla="val 50000" name="adj"/>
              </a:avLst>
            </a:prstGeom>
            <a:solidFill>
              <a:srgbClr val="1E3A8A">
                <a:alpha val="60000"/>
              </a:srgbClr>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38"/>
            <p:cNvSpPr txBox="1"/>
            <p:nvPr/>
          </p:nvSpPr>
          <p:spPr>
            <a:xfrm>
              <a:off x="4143375" y="4953000"/>
              <a:ext cx="1714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60A5FA"/>
                  </a:solidFill>
                  <a:latin typeface="Inter"/>
                  <a:ea typeface="Inter"/>
                  <a:cs typeface="Inter"/>
                  <a:sym typeface="Inter"/>
                </a:rPr>
                <a:t>Streamlit / Python</a:t>
              </a:r>
              <a:endParaRPr b="1" sz="1000">
                <a:solidFill>
                  <a:srgbClr val="60A5FA"/>
                </a:solidFill>
                <a:latin typeface="Inter"/>
                <a:ea typeface="Inter"/>
                <a:cs typeface="Inter"/>
                <a:sym typeface="Inter"/>
              </a:endParaRPr>
            </a:p>
          </p:txBody>
        </p:sp>
        <p:sp>
          <p:nvSpPr>
            <p:cNvPr id="323" name="Google Shape;323;p38"/>
            <p:cNvSpPr/>
            <p:nvPr/>
          </p:nvSpPr>
          <p:spPr>
            <a:xfrm>
              <a:off x="6334125" y="4953000"/>
              <a:ext cx="1714500" cy="342900"/>
            </a:xfrm>
            <a:prstGeom prst="roundRect">
              <a:avLst>
                <a:gd fmla="val 50000" name="adj"/>
              </a:avLst>
            </a:prstGeom>
            <a:solidFill>
              <a:srgbClr val="4C1D95">
                <a:alpha val="60000"/>
              </a:srgbClr>
            </a:solidFill>
            <a:ln cap="flat" cmpd="sng" w="9525">
              <a:solidFill>
                <a:srgbClr val="A78BF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38"/>
            <p:cNvSpPr txBox="1"/>
            <p:nvPr/>
          </p:nvSpPr>
          <p:spPr>
            <a:xfrm>
              <a:off x="6334125" y="4953000"/>
              <a:ext cx="17145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C4B5FD"/>
                  </a:solidFill>
                  <a:latin typeface="Inter"/>
                  <a:ea typeface="Inter"/>
                  <a:cs typeface="Inter"/>
                  <a:sym typeface="Inter"/>
                </a:rPr>
                <a:t>UX/UI Custom CSS</a:t>
              </a:r>
              <a:endParaRPr b="1" sz="1000">
                <a:solidFill>
                  <a:srgbClr val="C4B5FD"/>
                </a:solidFill>
                <a:latin typeface="Inter"/>
                <a:ea typeface="Inter"/>
                <a:cs typeface="Inter"/>
                <a:sym typeface="Inter"/>
              </a:endParaRPr>
            </a:p>
          </p:txBody>
        </p:sp>
      </p:grpSp>
      <p:sp>
        <p:nvSpPr>
          <p:cNvPr id="325" name="Google Shape;325;p38"/>
          <p:cNvSpPr txBox="1"/>
          <p:nvPr/>
        </p:nvSpPr>
        <p:spPr>
          <a:xfrm>
            <a:off x="676200" y="1582875"/>
            <a:ext cx="10839600" cy="800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2000" u="none" cap="none" strike="noStrike">
                <a:solidFill>
                  <a:srgbClr val="94A3B8"/>
                </a:solidFill>
                <a:latin typeface="Inter"/>
                <a:ea typeface="Inter"/>
                <a:cs typeface="Inter"/>
                <a:sym typeface="Inter"/>
              </a:rPr>
              <a:t>To execute the project, the team divided into two specialized sub-teams with distinct technical briefs, unified through a chained JSON pipeline handoff.</a:t>
            </a:r>
            <a:endParaRPr sz="2000"/>
          </a:p>
        </p:txBody>
      </p:sp>
      <p:sp>
        <p:nvSpPr>
          <p:cNvPr id="326" name="Google Shape;326;p38"/>
          <p:cNvSpPr/>
          <p:nvPr/>
        </p:nvSpPr>
        <p:spPr>
          <a:xfrm>
            <a:off x="676275" y="485775"/>
            <a:ext cx="47700" cy="4383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27" name="Google Shape;327;p38" title="image0.jpeg"/>
          <p:cNvPicPr preferRelativeResize="0"/>
          <p:nvPr/>
        </p:nvPicPr>
        <p:blipFill rotWithShape="1">
          <a:blip r:embed="rId3">
            <a:alphaModFix/>
          </a:blip>
          <a:srcRect b="20070" l="5450" r="-5450" t="0"/>
          <a:stretch/>
        </p:blipFill>
        <p:spPr>
          <a:xfrm>
            <a:off x="1933496" y="3671099"/>
            <a:ext cx="1044300" cy="1284300"/>
          </a:xfrm>
          <a:prstGeom prst="ellipse">
            <a:avLst/>
          </a:prstGeom>
          <a:noFill/>
          <a:ln cap="flat" cmpd="sng" w="9525">
            <a:solidFill>
              <a:srgbClr val="E2CDCE"/>
            </a:solidFill>
            <a:prstDash val="solid"/>
            <a:round/>
            <a:headEnd len="sm" w="sm" type="none"/>
            <a:tailEnd len="sm" w="sm" type="none"/>
          </a:ln>
        </p:spPr>
      </p:pic>
      <p:pic>
        <p:nvPicPr>
          <p:cNvPr id="328" name="Google Shape;328;p38" title="WhatsApp Image 2026-04-14 at 20.56.42.jpeg"/>
          <p:cNvPicPr preferRelativeResize="0"/>
          <p:nvPr/>
        </p:nvPicPr>
        <p:blipFill rotWithShape="1">
          <a:blip r:embed="rId4">
            <a:alphaModFix/>
          </a:blip>
          <a:srcRect b="690" l="0" r="0" t="681"/>
          <a:stretch/>
        </p:blipFill>
        <p:spPr>
          <a:xfrm>
            <a:off x="5614208" y="3720751"/>
            <a:ext cx="963600" cy="1185000"/>
          </a:xfrm>
          <a:prstGeom prst="ellipse">
            <a:avLst/>
          </a:prstGeom>
          <a:noFill/>
          <a:ln cap="flat" cmpd="sng" w="9525">
            <a:solidFill>
              <a:srgbClr val="E2CDCE"/>
            </a:solidFill>
            <a:prstDash val="solid"/>
            <a:round/>
            <a:headEnd len="sm" w="sm" type="none"/>
            <a:tailEnd len="sm" w="sm" type="none"/>
          </a:ln>
        </p:spPr>
      </p:pic>
      <p:pic>
        <p:nvPicPr>
          <p:cNvPr id="329" name="Google Shape;329;p38" title="WhatsApp Image 2026-04-14 at 20.05.48.jpeg"/>
          <p:cNvPicPr preferRelativeResize="0"/>
          <p:nvPr/>
        </p:nvPicPr>
        <p:blipFill rotWithShape="1">
          <a:blip r:embed="rId5">
            <a:alphaModFix/>
          </a:blip>
          <a:srcRect b="50820" l="44941" r="44942" t="42180"/>
          <a:stretch/>
        </p:blipFill>
        <p:spPr>
          <a:xfrm>
            <a:off x="9214200" y="3755308"/>
            <a:ext cx="1044300" cy="1284600"/>
          </a:xfrm>
          <a:prstGeom prst="ellipse">
            <a:avLst/>
          </a:prstGeom>
          <a:noFill/>
          <a:ln cap="flat" cmpd="sng" w="9525">
            <a:solidFill>
              <a:srgbClr val="E2CDCE"/>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3" name="Shape 333"/>
        <p:cNvGrpSpPr/>
        <p:nvPr/>
      </p:nvGrpSpPr>
      <p:grpSpPr>
        <a:xfrm>
          <a:off x="0" y="0"/>
          <a:ext cx="0" cy="0"/>
          <a:chOff x="0" y="0"/>
          <a:chExt cx="0" cy="0"/>
        </a:xfrm>
      </p:grpSpPr>
      <p:sp>
        <p:nvSpPr>
          <p:cNvPr id="334" name="Google Shape;334;p39"/>
          <p:cNvSpPr/>
          <p:nvPr/>
        </p:nvSpPr>
        <p:spPr>
          <a:xfrm>
            <a:off x="666750" y="2667000"/>
            <a:ext cx="10858500" cy="3238500"/>
          </a:xfrm>
          <a:prstGeom prst="roundRect">
            <a:avLst>
              <a:gd fmla="val 5882" name="adj"/>
            </a:avLst>
          </a:prstGeom>
          <a:solidFill>
            <a:srgbClr val="1E293B">
              <a:alpha val="60000"/>
            </a:srgbClr>
          </a:solidFill>
          <a:ln cap="flat" cmpd="sng" w="19050">
            <a:solidFill>
              <a:srgbClr val="4755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39"/>
          <p:cNvSpPr txBox="1"/>
          <p:nvPr/>
        </p:nvSpPr>
        <p:spPr>
          <a:xfrm>
            <a:off x="676200" y="1582875"/>
            <a:ext cx="10839600" cy="800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2000" u="none" cap="none" strike="noStrike">
                <a:solidFill>
                  <a:srgbClr val="94A3B8"/>
                </a:solidFill>
                <a:latin typeface="Inter"/>
                <a:ea typeface="Inter"/>
                <a:cs typeface="Inter"/>
                <a:sym typeface="Inter"/>
              </a:rPr>
              <a:t>To execute the project, the team divided into two specialized sub-teams with distinct technical briefs, unified through a chained JSON pipeline handoff.</a:t>
            </a:r>
            <a:endParaRPr sz="2000"/>
          </a:p>
        </p:txBody>
      </p:sp>
      <p:sp>
        <p:nvSpPr>
          <p:cNvPr id="336" name="Google Shape;336;p39"/>
          <p:cNvSpPr txBox="1"/>
          <p:nvPr/>
        </p:nvSpPr>
        <p:spPr>
          <a:xfrm>
            <a:off x="1317600" y="4857750"/>
            <a:ext cx="14289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400">
                <a:solidFill>
                  <a:srgbClr val="FFFFFF"/>
                </a:solidFill>
                <a:latin typeface="DM Sans SemiBold"/>
                <a:ea typeface="DM Sans SemiBold"/>
                <a:cs typeface="DM Sans SemiBold"/>
                <a:sym typeface="DM Sans SemiBold"/>
              </a:rPr>
              <a:t>Aroa Aguiño Domínguez</a:t>
            </a:r>
            <a:endParaRPr b="0" sz="1400">
              <a:solidFill>
                <a:srgbClr val="FFFFFF"/>
              </a:solidFill>
              <a:latin typeface="DM Sans SemiBold"/>
              <a:ea typeface="DM Sans SemiBold"/>
              <a:cs typeface="DM Sans SemiBold"/>
              <a:sym typeface="DM Sans SemiBold"/>
            </a:endParaRPr>
          </a:p>
        </p:txBody>
      </p:sp>
      <p:sp>
        <p:nvSpPr>
          <p:cNvPr id="337" name="Google Shape;337;p39"/>
          <p:cNvSpPr txBox="1"/>
          <p:nvPr/>
        </p:nvSpPr>
        <p:spPr>
          <a:xfrm>
            <a:off x="6381750" y="4857750"/>
            <a:ext cx="14289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400">
                <a:solidFill>
                  <a:srgbClr val="FFFFFF"/>
                </a:solidFill>
                <a:latin typeface="DM Sans SemiBold"/>
                <a:ea typeface="DM Sans SemiBold"/>
                <a:cs typeface="DM Sans SemiBold"/>
                <a:sym typeface="DM Sans SemiBold"/>
              </a:rPr>
              <a:t>Mario Fernández Costello</a:t>
            </a:r>
            <a:endParaRPr b="0" sz="1400">
              <a:solidFill>
                <a:srgbClr val="FFFFFF"/>
              </a:solidFill>
              <a:latin typeface="DM Sans SemiBold"/>
              <a:ea typeface="DM Sans SemiBold"/>
              <a:cs typeface="DM Sans SemiBold"/>
              <a:sym typeface="DM Sans SemiBold"/>
            </a:endParaRPr>
          </a:p>
        </p:txBody>
      </p:sp>
      <p:sp>
        <p:nvSpPr>
          <p:cNvPr id="338" name="Google Shape;338;p39"/>
          <p:cNvSpPr txBox="1"/>
          <p:nvPr/>
        </p:nvSpPr>
        <p:spPr>
          <a:xfrm>
            <a:off x="8885100" y="4857750"/>
            <a:ext cx="14289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400">
                <a:solidFill>
                  <a:srgbClr val="FFFFFF"/>
                </a:solidFill>
                <a:latin typeface="DM Sans SemiBold"/>
                <a:ea typeface="DM Sans SemiBold"/>
                <a:cs typeface="DM Sans SemiBold"/>
                <a:sym typeface="DM Sans SemiBold"/>
              </a:rPr>
              <a:t>Naroa Genicio Iglesias</a:t>
            </a:r>
            <a:endParaRPr b="0" sz="1400">
              <a:solidFill>
                <a:srgbClr val="FFFFFF"/>
              </a:solidFill>
              <a:latin typeface="DM Sans SemiBold"/>
              <a:ea typeface="DM Sans SemiBold"/>
              <a:cs typeface="DM Sans SemiBold"/>
              <a:sym typeface="DM Sans SemiBold"/>
            </a:endParaRPr>
          </a:p>
        </p:txBody>
      </p:sp>
      <p:sp>
        <p:nvSpPr>
          <p:cNvPr id="339" name="Google Shape;339;p39"/>
          <p:cNvSpPr txBox="1"/>
          <p:nvPr/>
        </p:nvSpPr>
        <p:spPr>
          <a:xfrm>
            <a:off x="3857550" y="4857750"/>
            <a:ext cx="14289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400">
                <a:solidFill>
                  <a:srgbClr val="FFFFFF"/>
                </a:solidFill>
                <a:latin typeface="DM Sans SemiBold"/>
                <a:ea typeface="DM Sans SemiBold"/>
                <a:cs typeface="DM Sans SemiBold"/>
                <a:sym typeface="DM Sans SemiBold"/>
              </a:rPr>
              <a:t>María Encina Díez del Río</a:t>
            </a:r>
            <a:endParaRPr b="0" sz="1400">
              <a:solidFill>
                <a:srgbClr val="FFFFFF"/>
              </a:solidFill>
              <a:latin typeface="DM Sans SemiBold"/>
              <a:ea typeface="DM Sans SemiBold"/>
              <a:cs typeface="DM Sans SemiBold"/>
              <a:sym typeface="DM Sans SemiBold"/>
            </a:endParaRPr>
          </a:p>
        </p:txBody>
      </p:sp>
      <p:sp>
        <p:nvSpPr>
          <p:cNvPr id="340" name="Google Shape;340;p39"/>
          <p:cNvSpPr txBox="1"/>
          <p:nvPr/>
        </p:nvSpPr>
        <p:spPr>
          <a:xfrm>
            <a:off x="819150" y="485775"/>
            <a:ext cx="11231400" cy="492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FFFFFF"/>
                </a:solidFill>
                <a:latin typeface="Syne ExtraBold"/>
                <a:ea typeface="Syne ExtraBold"/>
                <a:cs typeface="Syne ExtraBold"/>
                <a:sym typeface="Syne ExtraBold"/>
              </a:rPr>
              <a:t>Collaborative Team Architecture</a:t>
            </a:r>
            <a:endParaRPr sz="3200"/>
          </a:p>
        </p:txBody>
      </p:sp>
      <p:grpSp>
        <p:nvGrpSpPr>
          <p:cNvPr id="341" name="Google Shape;341;p39"/>
          <p:cNvGrpSpPr/>
          <p:nvPr/>
        </p:nvGrpSpPr>
        <p:grpSpPr>
          <a:xfrm>
            <a:off x="4095750" y="5429250"/>
            <a:ext cx="4000500" cy="285900"/>
            <a:chOff x="1047750" y="5476875"/>
            <a:chExt cx="4000500" cy="285900"/>
          </a:xfrm>
        </p:grpSpPr>
        <p:sp>
          <p:nvSpPr>
            <p:cNvPr id="342" name="Google Shape;342;p39"/>
            <p:cNvSpPr/>
            <p:nvPr/>
          </p:nvSpPr>
          <p:spPr>
            <a:xfrm>
              <a:off x="1047750" y="5476875"/>
              <a:ext cx="1905000" cy="285900"/>
            </a:xfrm>
            <a:prstGeom prst="roundRect">
              <a:avLst>
                <a:gd fmla="val 50000" name="adj"/>
              </a:avLst>
            </a:prstGeom>
            <a:solidFill>
              <a:srgbClr val="15803D">
                <a:alpha val="40000"/>
              </a:srgbClr>
            </a:solidFill>
            <a:ln cap="flat" cmpd="sng" w="9525">
              <a:solidFill>
                <a:srgbClr val="22C5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39"/>
            <p:cNvSpPr txBox="1"/>
            <p:nvPr/>
          </p:nvSpPr>
          <p:spPr>
            <a:xfrm>
              <a:off x="1047750" y="5476875"/>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22C55E"/>
                  </a:solidFill>
                  <a:latin typeface="Inter"/>
                  <a:ea typeface="Inter"/>
                  <a:cs typeface="Inter"/>
                  <a:sym typeface="Inter"/>
                </a:rPr>
                <a:t>Orange Data Mining</a:t>
              </a:r>
              <a:endParaRPr b="1" sz="1000">
                <a:solidFill>
                  <a:srgbClr val="22C55E"/>
                </a:solidFill>
                <a:latin typeface="Inter"/>
                <a:ea typeface="Inter"/>
                <a:cs typeface="Inter"/>
                <a:sym typeface="Inter"/>
              </a:endParaRPr>
            </a:p>
          </p:txBody>
        </p:sp>
        <p:sp>
          <p:nvSpPr>
            <p:cNvPr id="344" name="Google Shape;344;p39"/>
            <p:cNvSpPr/>
            <p:nvPr/>
          </p:nvSpPr>
          <p:spPr>
            <a:xfrm>
              <a:off x="3143250" y="5476875"/>
              <a:ext cx="1905000" cy="285900"/>
            </a:xfrm>
            <a:prstGeom prst="roundRect">
              <a:avLst>
                <a:gd fmla="val 50000" name="adj"/>
              </a:avLst>
            </a:prstGeom>
            <a:solidFill>
              <a:srgbClr val="1D4ED8">
                <a:alpha val="40000"/>
              </a:srgbClr>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39"/>
            <p:cNvSpPr txBox="1"/>
            <p:nvPr/>
          </p:nvSpPr>
          <p:spPr>
            <a:xfrm>
              <a:off x="3143250" y="5476875"/>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3B82F6"/>
                  </a:solidFill>
                  <a:latin typeface="Inter"/>
                  <a:ea typeface="Inter"/>
                  <a:cs typeface="Inter"/>
                  <a:sym typeface="Inter"/>
                </a:rPr>
                <a:t>Scikit-Learn / ML</a:t>
              </a:r>
              <a:endParaRPr b="1" sz="1000">
                <a:solidFill>
                  <a:srgbClr val="3B82F6"/>
                </a:solidFill>
                <a:latin typeface="Inter"/>
                <a:ea typeface="Inter"/>
                <a:cs typeface="Inter"/>
                <a:sym typeface="Inter"/>
              </a:endParaRPr>
            </a:p>
          </p:txBody>
        </p:sp>
      </p:grpSp>
      <p:sp>
        <p:nvSpPr>
          <p:cNvPr id="346" name="Google Shape;346;p39"/>
          <p:cNvSpPr/>
          <p:nvPr/>
        </p:nvSpPr>
        <p:spPr>
          <a:xfrm>
            <a:off x="676275" y="485775"/>
            <a:ext cx="47700" cy="4383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39"/>
          <p:cNvSpPr txBox="1"/>
          <p:nvPr>
            <p:ph idx="12" type="sldNum"/>
          </p:nvPr>
        </p:nvSpPr>
        <p:spPr>
          <a:xfrm>
            <a:off x="9854350" y="6411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r">
              <a:spcBef>
                <a:spcPts val="0"/>
              </a:spcBef>
              <a:spcAft>
                <a:spcPts val="0"/>
              </a:spcAft>
              <a:buClr>
                <a:srgbClr val="000000"/>
              </a:buClr>
              <a:buFont typeface="Arial"/>
              <a:buNone/>
            </a:pPr>
            <a:r>
              <a:t/>
            </a:r>
            <a:endParaRPr/>
          </a:p>
        </p:txBody>
      </p:sp>
      <p:sp>
        <p:nvSpPr>
          <p:cNvPr id="348" name="Google Shape;348;p39"/>
          <p:cNvSpPr txBox="1"/>
          <p:nvPr/>
        </p:nvSpPr>
        <p:spPr>
          <a:xfrm>
            <a:off x="2095337" y="2952676"/>
            <a:ext cx="4381500" cy="43828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8">
                <a:solidFill>
                  <a:srgbClr val="FFFFFF"/>
                </a:solidFill>
                <a:latin typeface="Syne"/>
                <a:ea typeface="Syne"/>
                <a:cs typeface="Syne"/>
                <a:sym typeface="Syne"/>
              </a:rPr>
              <a:t>Machine Learning Team</a:t>
            </a:r>
            <a:endParaRPr b="1" sz="2208">
              <a:solidFill>
                <a:srgbClr val="FFFFFF"/>
              </a:solidFill>
              <a:latin typeface="Syne"/>
              <a:ea typeface="Syne"/>
              <a:cs typeface="Syne"/>
              <a:sym typeface="Syne"/>
            </a:endParaRPr>
          </a:p>
        </p:txBody>
      </p:sp>
      <p:pic>
        <p:nvPicPr>
          <p:cNvPr descr="image.png" id="349" name="Google Shape;349;p39"/>
          <p:cNvPicPr preferRelativeResize="0"/>
          <p:nvPr/>
        </p:nvPicPr>
        <p:blipFill rotWithShape="1">
          <a:blip r:embed="rId4">
            <a:alphaModFix/>
          </a:blip>
          <a:srcRect b="0" l="0" r="0" t="0"/>
          <a:stretch/>
        </p:blipFill>
        <p:spPr>
          <a:xfrm>
            <a:off x="1150425" y="2943223"/>
            <a:ext cx="438300" cy="438300"/>
          </a:xfrm>
          <a:prstGeom prst="rect">
            <a:avLst/>
          </a:prstGeom>
          <a:noFill/>
          <a:ln>
            <a:noFill/>
          </a:ln>
        </p:spPr>
      </p:pic>
      <p:pic>
        <p:nvPicPr>
          <p:cNvPr id="350" name="Google Shape;350;p39" title="WhatsApp Image 2026-04-14 at 20.47.35.jpeg"/>
          <p:cNvPicPr preferRelativeResize="0"/>
          <p:nvPr/>
        </p:nvPicPr>
        <p:blipFill rotWithShape="1">
          <a:blip r:embed="rId5">
            <a:alphaModFix/>
          </a:blip>
          <a:srcRect b="6949" l="0" r="0" t="6949"/>
          <a:stretch/>
        </p:blipFill>
        <p:spPr>
          <a:xfrm>
            <a:off x="4143000" y="3784200"/>
            <a:ext cx="858000" cy="1004100"/>
          </a:xfrm>
          <a:prstGeom prst="ellipse">
            <a:avLst/>
          </a:prstGeom>
          <a:noFill/>
          <a:ln cap="flat" cmpd="sng" w="9525">
            <a:solidFill>
              <a:srgbClr val="E2CDCE"/>
            </a:solidFill>
            <a:prstDash val="solid"/>
            <a:round/>
            <a:headEnd len="sm" w="sm" type="none"/>
            <a:tailEnd len="sm" w="sm" type="none"/>
          </a:ln>
        </p:spPr>
      </p:pic>
      <p:pic>
        <p:nvPicPr>
          <p:cNvPr id="351" name="Google Shape;351;p39" title="WhatsApp Image 2026-04-14 at 18.17.44.jpeg"/>
          <p:cNvPicPr preferRelativeResize="0"/>
          <p:nvPr/>
        </p:nvPicPr>
        <p:blipFill rotWithShape="1">
          <a:blip r:embed="rId6">
            <a:alphaModFix/>
          </a:blip>
          <a:srcRect b="44335" l="11294" r="11294" t="7015"/>
          <a:stretch/>
        </p:blipFill>
        <p:spPr>
          <a:xfrm>
            <a:off x="6646800" y="3784200"/>
            <a:ext cx="898800" cy="1004100"/>
          </a:xfrm>
          <a:prstGeom prst="ellipse">
            <a:avLst/>
          </a:prstGeom>
          <a:noFill/>
          <a:ln cap="flat" cmpd="sng" w="9525">
            <a:solidFill>
              <a:srgbClr val="E2CDCE"/>
            </a:solidFill>
            <a:prstDash val="solid"/>
            <a:round/>
            <a:headEnd len="sm" w="sm" type="none"/>
            <a:tailEnd len="sm" w="sm" type="none"/>
          </a:ln>
        </p:spPr>
      </p:pic>
      <p:pic>
        <p:nvPicPr>
          <p:cNvPr id="352" name="Google Shape;352;p39"/>
          <p:cNvPicPr preferRelativeResize="0"/>
          <p:nvPr/>
        </p:nvPicPr>
        <p:blipFill rotWithShape="1">
          <a:blip r:embed="rId7">
            <a:alphaModFix/>
          </a:blip>
          <a:srcRect b="-3260" l="0" r="0" t="3260"/>
          <a:stretch/>
        </p:blipFill>
        <p:spPr>
          <a:xfrm>
            <a:off x="1566899" y="3784199"/>
            <a:ext cx="930300" cy="1004100"/>
          </a:xfrm>
          <a:prstGeom prst="ellipse">
            <a:avLst/>
          </a:prstGeom>
          <a:noFill/>
          <a:ln cap="flat" cmpd="sng" w="9525">
            <a:solidFill>
              <a:srgbClr val="E2CDCE"/>
            </a:solidFill>
            <a:prstDash val="solid"/>
            <a:round/>
            <a:headEnd len="sm" w="sm" type="none"/>
            <a:tailEnd len="sm" w="sm" type="none"/>
          </a:ln>
        </p:spPr>
      </p:pic>
      <p:pic>
        <p:nvPicPr>
          <p:cNvPr id="353" name="Google Shape;353;p39"/>
          <p:cNvPicPr preferRelativeResize="0"/>
          <p:nvPr/>
        </p:nvPicPr>
        <p:blipFill rotWithShape="1">
          <a:blip r:embed="rId8">
            <a:alphaModFix/>
          </a:blip>
          <a:srcRect b="11029" l="10313" r="5228" t="11029"/>
          <a:stretch/>
        </p:blipFill>
        <p:spPr>
          <a:xfrm>
            <a:off x="9191393" y="3784199"/>
            <a:ext cx="816300" cy="1004100"/>
          </a:xfrm>
          <a:prstGeom prst="ellipse">
            <a:avLst/>
          </a:prstGeom>
          <a:noFill/>
          <a:ln cap="flat" cmpd="sng" w="9525">
            <a:solidFill>
              <a:srgbClr val="E2CDCE"/>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7" name="Shape 357"/>
        <p:cNvGrpSpPr/>
        <p:nvPr/>
      </p:nvGrpSpPr>
      <p:grpSpPr>
        <a:xfrm>
          <a:off x="0" y="0"/>
          <a:ext cx="0" cy="0"/>
          <a:chOff x="0" y="0"/>
          <a:chExt cx="0" cy="0"/>
        </a:xfrm>
      </p:grpSpPr>
      <p:sp>
        <p:nvSpPr>
          <p:cNvPr id="358" name="Google Shape;358;p40"/>
          <p:cNvSpPr txBox="1"/>
          <p:nvPr/>
        </p:nvSpPr>
        <p:spPr>
          <a:xfrm>
            <a:off x="819150" y="954700"/>
            <a:ext cx="5411700" cy="1674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lang="en-US" sz="3200">
                <a:solidFill>
                  <a:srgbClr val="FFFFFF"/>
                </a:solidFill>
                <a:latin typeface="Syne ExtraBold"/>
                <a:ea typeface="Syne ExtraBold"/>
                <a:cs typeface="Syne ExtraBold"/>
                <a:sym typeface="Syne ExtraBold"/>
              </a:rPr>
              <a:t>SOFTWARE</a:t>
            </a:r>
            <a:r>
              <a:rPr lang="en-US" sz="3200">
                <a:solidFill>
                  <a:srgbClr val="FFFFFF"/>
                </a:solidFill>
                <a:latin typeface="Syne ExtraBold"/>
                <a:ea typeface="Syne ExtraBold"/>
                <a:cs typeface="Syne ExtraBold"/>
                <a:sym typeface="Syne ExtraBold"/>
              </a:rPr>
              <a:t> DEVELOPMENT</a:t>
            </a:r>
            <a:endParaRPr sz="3200">
              <a:solidFill>
                <a:srgbClr val="FFFFFF"/>
              </a:solidFill>
              <a:latin typeface="Syne ExtraBold"/>
              <a:ea typeface="Syne ExtraBold"/>
              <a:cs typeface="Syne ExtraBold"/>
              <a:sym typeface="Syne ExtraBold"/>
            </a:endParaRPr>
          </a:p>
          <a:p>
            <a:pPr indent="0" lvl="0" marL="0" marR="0" rtl="0" algn="l">
              <a:lnSpc>
                <a:spcPct val="120000"/>
              </a:lnSpc>
              <a:spcBef>
                <a:spcPts val="0"/>
              </a:spcBef>
              <a:spcAft>
                <a:spcPts val="0"/>
              </a:spcAft>
              <a:buNone/>
            </a:pPr>
            <a:r>
              <a:t/>
            </a:r>
            <a:endParaRPr sz="3200">
              <a:solidFill>
                <a:srgbClr val="FFFFFF"/>
              </a:solidFill>
              <a:latin typeface="Syne ExtraBold"/>
              <a:ea typeface="Syne ExtraBold"/>
              <a:cs typeface="Syne ExtraBold"/>
              <a:sym typeface="Syne ExtraBold"/>
            </a:endParaRPr>
          </a:p>
        </p:txBody>
      </p:sp>
      <p:sp>
        <p:nvSpPr>
          <p:cNvPr id="359" name="Google Shape;359;p40"/>
          <p:cNvSpPr/>
          <p:nvPr/>
        </p:nvSpPr>
        <p:spPr>
          <a:xfrm>
            <a:off x="676275" y="954700"/>
            <a:ext cx="47700" cy="9855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60" name="Google Shape;360;p40"/>
          <p:cNvPicPr preferRelativeResize="0"/>
          <p:nvPr/>
        </p:nvPicPr>
        <p:blipFill rotWithShape="1">
          <a:blip r:embed="rId4">
            <a:alphaModFix/>
          </a:blip>
          <a:srcRect b="0" l="23916" r="19032" t="0"/>
          <a:stretch/>
        </p:blipFill>
        <p:spPr>
          <a:xfrm>
            <a:off x="6326025" y="0"/>
            <a:ext cx="5865975" cy="6858001"/>
          </a:xfrm>
          <a:prstGeom prst="rect">
            <a:avLst/>
          </a:prstGeom>
          <a:noFill/>
          <a:ln>
            <a:noFill/>
          </a:ln>
        </p:spPr>
      </p:pic>
      <p:sp>
        <p:nvSpPr>
          <p:cNvPr id="361" name="Google Shape;361;p40"/>
          <p:cNvSpPr txBox="1"/>
          <p:nvPr>
            <p:ph idx="12" type="sldNum"/>
          </p:nvPr>
        </p:nvSpPr>
        <p:spPr>
          <a:xfrm>
            <a:off x="9724950" y="6411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r">
              <a:spcBef>
                <a:spcPts val="0"/>
              </a:spcBef>
              <a:spcAft>
                <a:spcPts val="0"/>
              </a:spcAft>
              <a:buClr>
                <a:srgbClr val="000000"/>
              </a:buClr>
              <a:buFont typeface="Arial"/>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descr="haz el texto mas grande, y que siga el estilo de letra de la presentacion" id="366" name="Google Shape;366;p41"/>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367" name="Google Shape;367;p41"/>
          <p:cNvSpPr txBox="1"/>
          <p:nvPr/>
        </p:nvSpPr>
        <p:spPr>
          <a:xfrm>
            <a:off x="9192000" y="6250275"/>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descr="haz el texto mas grande, y que siga el estilo de letra de la presentacion" id="372" name="Google Shape;372;p42"/>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373" name="Google Shape;373;p42"/>
          <p:cNvSpPr txBox="1"/>
          <p:nvPr/>
        </p:nvSpPr>
        <p:spPr>
          <a:xfrm>
            <a:off x="9093325" y="6249500"/>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haz el texto mas grande, y que siga el estilo de letra de la presentacion" id="378" name="Google Shape;378;p43"/>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379" name="Google Shape;379;p43"/>
          <p:cNvSpPr txBox="1"/>
          <p:nvPr/>
        </p:nvSpPr>
        <p:spPr>
          <a:xfrm>
            <a:off x="9108075" y="6235525"/>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44"/>
          <p:cNvPicPr preferRelativeResize="0"/>
          <p:nvPr/>
        </p:nvPicPr>
        <p:blipFill>
          <a:blip r:embed="rId3">
            <a:alphaModFix/>
          </a:blip>
          <a:stretch>
            <a:fillRect/>
          </a:stretch>
        </p:blipFill>
        <p:spPr>
          <a:xfrm>
            <a:off x="0" y="0"/>
            <a:ext cx="12192000" cy="6858000"/>
          </a:xfrm>
          <a:prstGeom prst="rect">
            <a:avLst/>
          </a:prstGeom>
          <a:noFill/>
          <a:ln>
            <a:noFill/>
          </a:ln>
        </p:spPr>
      </p:pic>
      <p:sp>
        <p:nvSpPr>
          <p:cNvPr id="385" name="Google Shape;385;p44"/>
          <p:cNvSpPr txBox="1"/>
          <p:nvPr>
            <p:ph idx="12" type="sldNum"/>
          </p:nvPr>
        </p:nvSpPr>
        <p:spPr>
          <a:xfrm>
            <a:off x="9865500" y="63341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r">
              <a:spcBef>
                <a:spcPts val="0"/>
              </a:spcBef>
              <a:spcAft>
                <a:spcPts val="0"/>
              </a:spcAft>
              <a:buClr>
                <a:srgbClr val="000000"/>
              </a:buClr>
              <a:buFont typeface="Arial"/>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descr="haz el texto mas grande, y que siga el estilo de letra de la presentacion" id="390" name="Google Shape;390;p45"/>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391" name="Google Shape;391;p45"/>
          <p:cNvSpPr txBox="1"/>
          <p:nvPr/>
        </p:nvSpPr>
        <p:spPr>
          <a:xfrm>
            <a:off x="9060625" y="6289775"/>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descr="haz el texto mas grande, y que siga el estilo de letra de la presentacion" id="396" name="Google Shape;396;p46"/>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397" name="Google Shape;397;p46"/>
          <p:cNvSpPr txBox="1"/>
          <p:nvPr/>
        </p:nvSpPr>
        <p:spPr>
          <a:xfrm>
            <a:off x="9192000" y="6256925"/>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47"/>
          <p:cNvPicPr preferRelativeResize="0"/>
          <p:nvPr/>
        </p:nvPicPr>
        <p:blipFill>
          <a:blip r:embed="rId3">
            <a:alphaModFix/>
          </a:blip>
          <a:stretch>
            <a:fillRect/>
          </a:stretch>
        </p:blipFill>
        <p:spPr>
          <a:xfrm>
            <a:off x="0" y="0"/>
            <a:ext cx="12191990" cy="6858000"/>
          </a:xfrm>
          <a:prstGeom prst="rect">
            <a:avLst/>
          </a:prstGeom>
          <a:noFill/>
          <a:ln>
            <a:noFill/>
          </a:ln>
        </p:spPr>
      </p:pic>
      <p:sp>
        <p:nvSpPr>
          <p:cNvPr id="403" name="Google Shape;403;p47"/>
          <p:cNvSpPr txBox="1"/>
          <p:nvPr>
            <p:ph idx="12" type="sldNum"/>
          </p:nvPr>
        </p:nvSpPr>
        <p:spPr>
          <a:xfrm>
            <a:off x="98655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04" name="Google Shape;404;p47"/>
          <p:cNvSpPr txBox="1"/>
          <p:nvPr/>
        </p:nvSpPr>
        <p:spPr>
          <a:xfrm>
            <a:off x="8999100" y="6228850"/>
            <a:ext cx="3000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b="1" lang="en-US" sz="2000">
                <a:solidFill>
                  <a:schemeClr val="lt1"/>
                </a:solidFill>
                <a:latin typeface="Calibri"/>
                <a:ea typeface="Calibri"/>
                <a:cs typeface="Calibri"/>
                <a:sym typeface="Calibri"/>
              </a:rPr>
              <a:t>‹#›</a:t>
            </a:fld>
            <a:endParaRPr b="1" sz="20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48"/>
          <p:cNvPicPr preferRelativeResize="0"/>
          <p:nvPr/>
        </p:nvPicPr>
        <p:blipFill>
          <a:blip r:embed="rId3">
            <a:alphaModFix/>
          </a:blip>
          <a:stretch>
            <a:fillRect/>
          </a:stretch>
        </p:blipFill>
        <p:spPr>
          <a:xfrm>
            <a:off x="0" y="0"/>
            <a:ext cx="12191990" cy="6858000"/>
          </a:xfrm>
          <a:prstGeom prst="rect">
            <a:avLst/>
          </a:prstGeom>
          <a:noFill/>
          <a:ln>
            <a:noFill/>
          </a:ln>
        </p:spPr>
      </p:pic>
      <p:sp>
        <p:nvSpPr>
          <p:cNvPr id="410" name="Google Shape;410;p48"/>
          <p:cNvSpPr txBox="1"/>
          <p:nvPr>
            <p:ph idx="12" type="sldNum"/>
          </p:nvPr>
        </p:nvSpPr>
        <p:spPr>
          <a:xfrm>
            <a:off x="9765450" y="63230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id="415" name="Google Shape;415;p49"/>
          <p:cNvPicPr preferRelativeResize="0"/>
          <p:nvPr/>
        </p:nvPicPr>
        <p:blipFill>
          <a:blip r:embed="rId3">
            <a:alphaModFix/>
          </a:blip>
          <a:stretch>
            <a:fillRect/>
          </a:stretch>
        </p:blipFill>
        <p:spPr>
          <a:xfrm>
            <a:off x="0" y="0"/>
            <a:ext cx="12191990" cy="6858000"/>
          </a:xfrm>
          <a:prstGeom prst="rect">
            <a:avLst/>
          </a:prstGeom>
          <a:noFill/>
          <a:ln>
            <a:noFill/>
          </a:ln>
        </p:spPr>
      </p:pic>
      <p:sp>
        <p:nvSpPr>
          <p:cNvPr id="416" name="Google Shape;416;p49"/>
          <p:cNvSpPr txBox="1"/>
          <p:nvPr>
            <p:ph idx="12" type="sldNum"/>
          </p:nvPr>
        </p:nvSpPr>
        <p:spPr>
          <a:xfrm>
            <a:off x="9843250" y="63118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0" name="Shape 420"/>
        <p:cNvGrpSpPr/>
        <p:nvPr/>
      </p:nvGrpSpPr>
      <p:grpSpPr>
        <a:xfrm>
          <a:off x="0" y="0"/>
          <a:ext cx="0" cy="0"/>
          <a:chOff x="0" y="0"/>
          <a:chExt cx="0" cy="0"/>
        </a:xfrm>
      </p:grpSpPr>
      <p:sp>
        <p:nvSpPr>
          <p:cNvPr id="421" name="Google Shape;421;p50"/>
          <p:cNvSpPr txBox="1"/>
          <p:nvPr/>
        </p:nvSpPr>
        <p:spPr>
          <a:xfrm>
            <a:off x="819150" y="720225"/>
            <a:ext cx="5527800" cy="28569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lang="en-US" sz="3200">
                <a:solidFill>
                  <a:srgbClr val="FFFFFF"/>
                </a:solidFill>
                <a:latin typeface="Syne ExtraBold"/>
                <a:ea typeface="Syne ExtraBold"/>
                <a:cs typeface="Syne ExtraBold"/>
                <a:sym typeface="Syne ExtraBold"/>
              </a:rPr>
              <a:t>MACHINE LEARNING MODEL DEVELOPMENT</a:t>
            </a:r>
            <a:endParaRPr sz="3200">
              <a:solidFill>
                <a:srgbClr val="FFFFFF"/>
              </a:solidFill>
              <a:latin typeface="Syne ExtraBold"/>
              <a:ea typeface="Syne ExtraBold"/>
              <a:cs typeface="Syne ExtraBold"/>
              <a:sym typeface="Syne ExtraBold"/>
            </a:endParaRPr>
          </a:p>
          <a:p>
            <a:pPr indent="0" lvl="0" marL="0" marR="0" rtl="0" algn="l">
              <a:lnSpc>
                <a:spcPct val="120000"/>
              </a:lnSpc>
              <a:spcBef>
                <a:spcPts val="0"/>
              </a:spcBef>
              <a:spcAft>
                <a:spcPts val="0"/>
              </a:spcAft>
              <a:buNone/>
            </a:pPr>
            <a:r>
              <a:t/>
            </a:r>
            <a:endParaRPr sz="3200">
              <a:solidFill>
                <a:srgbClr val="FFFFFF"/>
              </a:solidFill>
              <a:latin typeface="Syne ExtraBold"/>
              <a:ea typeface="Syne ExtraBold"/>
              <a:cs typeface="Syne ExtraBold"/>
              <a:sym typeface="Syne ExtraBold"/>
            </a:endParaRPr>
          </a:p>
        </p:txBody>
      </p:sp>
      <p:sp>
        <p:nvSpPr>
          <p:cNvPr id="422" name="Google Shape;422;p50"/>
          <p:cNvSpPr/>
          <p:nvPr/>
        </p:nvSpPr>
        <p:spPr>
          <a:xfrm>
            <a:off x="676275" y="720225"/>
            <a:ext cx="47700" cy="20670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23" name="Google Shape;423;p50"/>
          <p:cNvPicPr preferRelativeResize="0"/>
          <p:nvPr/>
        </p:nvPicPr>
        <p:blipFill rotWithShape="1">
          <a:blip r:embed="rId4">
            <a:alphaModFix/>
          </a:blip>
          <a:srcRect b="0" l="4123" r="5059" t="0"/>
          <a:stretch/>
        </p:blipFill>
        <p:spPr>
          <a:xfrm>
            <a:off x="6664200" y="0"/>
            <a:ext cx="5527800" cy="6858000"/>
          </a:xfrm>
          <a:prstGeom prst="rect">
            <a:avLst/>
          </a:prstGeom>
          <a:noFill/>
          <a:ln>
            <a:noFill/>
          </a:ln>
        </p:spPr>
      </p:pic>
      <p:sp>
        <p:nvSpPr>
          <p:cNvPr id="424" name="Google Shape;424;p50"/>
          <p:cNvSpPr txBox="1"/>
          <p:nvPr>
            <p:ph idx="12" type="sldNum"/>
          </p:nvPr>
        </p:nvSpPr>
        <p:spPr>
          <a:xfrm>
            <a:off x="98877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8" name="Shape 428"/>
        <p:cNvGrpSpPr/>
        <p:nvPr/>
      </p:nvGrpSpPr>
      <p:grpSpPr>
        <a:xfrm>
          <a:off x="0" y="0"/>
          <a:ext cx="0" cy="0"/>
          <a:chOff x="0" y="0"/>
          <a:chExt cx="0" cy="0"/>
        </a:xfrm>
      </p:grpSpPr>
      <p:sp>
        <p:nvSpPr>
          <p:cNvPr id="429" name="Google Shape;429;p51"/>
          <p:cNvSpPr/>
          <p:nvPr/>
        </p:nvSpPr>
        <p:spPr>
          <a:xfrm>
            <a:off x="676275" y="485775"/>
            <a:ext cx="47700" cy="438300"/>
          </a:xfrm>
          <a:prstGeom prst="rect">
            <a:avLst/>
          </a:prstGeom>
          <a:solidFill>
            <a:srgbClr val="A78B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51"/>
          <p:cNvSpPr txBox="1"/>
          <p:nvPr/>
        </p:nvSpPr>
        <p:spPr>
          <a:xfrm>
            <a:off x="809600" y="376275"/>
            <a:ext cx="11785500" cy="65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200">
                <a:solidFill>
                  <a:srgbClr val="FFFFFF"/>
                </a:solidFill>
                <a:latin typeface="Syne ExtraBold"/>
                <a:ea typeface="Syne ExtraBold"/>
                <a:cs typeface="Syne ExtraBold"/>
                <a:sym typeface="Syne ExtraBold"/>
              </a:rPr>
              <a:t>Questionnaires Generation Process</a:t>
            </a:r>
            <a:endParaRPr b="0" sz="3200">
              <a:solidFill>
                <a:srgbClr val="FFFFFF"/>
              </a:solidFill>
              <a:latin typeface="Syne ExtraBold"/>
              <a:ea typeface="Syne ExtraBold"/>
              <a:cs typeface="Syne ExtraBold"/>
              <a:sym typeface="Syne ExtraBold"/>
            </a:endParaRPr>
          </a:p>
        </p:txBody>
      </p:sp>
      <p:grpSp>
        <p:nvGrpSpPr>
          <p:cNvPr id="431" name="Google Shape;431;p51"/>
          <p:cNvGrpSpPr/>
          <p:nvPr/>
        </p:nvGrpSpPr>
        <p:grpSpPr>
          <a:xfrm>
            <a:off x="676277" y="1312117"/>
            <a:ext cx="7390516" cy="1503731"/>
            <a:chOff x="676275" y="1333500"/>
            <a:chExt cx="5238900" cy="4191000"/>
          </a:xfrm>
        </p:grpSpPr>
        <p:sp>
          <p:nvSpPr>
            <p:cNvPr id="432" name="Google Shape;432;p51"/>
            <p:cNvSpPr/>
            <p:nvPr/>
          </p:nvSpPr>
          <p:spPr>
            <a:xfrm>
              <a:off x="676275" y="1333500"/>
              <a:ext cx="5238900" cy="4191000"/>
            </a:xfrm>
            <a:prstGeom prst="roundRect">
              <a:avLst>
                <a:gd fmla="val 2727" name="adj"/>
              </a:avLst>
            </a:prstGeom>
            <a:solidFill>
              <a:srgbClr val="161B28"/>
            </a:solidFill>
            <a:ln cap="flat" cmpd="sng" w="110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51"/>
            <p:cNvSpPr txBox="1"/>
            <p:nvPr/>
          </p:nvSpPr>
          <p:spPr>
            <a:xfrm>
              <a:off x="770809" y="1523989"/>
              <a:ext cx="4906200" cy="2096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309">
                  <a:solidFill>
                    <a:srgbClr val="A78BFA"/>
                  </a:solidFill>
                  <a:latin typeface="Syne"/>
                  <a:ea typeface="Syne"/>
                  <a:cs typeface="Syne"/>
                  <a:sym typeface="Syne"/>
                </a:rPr>
                <a:t>First Questionnaire: Optimization</a:t>
              </a:r>
              <a:endParaRPr b="1" sz="2309">
                <a:solidFill>
                  <a:srgbClr val="A78BFA"/>
                </a:solidFill>
                <a:latin typeface="Syne"/>
                <a:ea typeface="Syne"/>
                <a:cs typeface="Syne"/>
                <a:sym typeface="Syne"/>
              </a:endParaRPr>
            </a:p>
            <a:p>
              <a:pPr indent="0" lvl="0" marL="0" rtl="0" algn="l">
                <a:spcBef>
                  <a:spcPts val="1732"/>
                </a:spcBef>
                <a:spcAft>
                  <a:spcPts val="0"/>
                </a:spcAft>
                <a:buNone/>
              </a:pPr>
              <a:r>
                <a:rPr b="0" lang="en-US" sz="2000">
                  <a:solidFill>
                    <a:srgbClr val="A78BFA"/>
                  </a:solidFill>
                  <a:latin typeface="Inter SemiBold"/>
                  <a:ea typeface="Inter SemiBold"/>
                  <a:cs typeface="Inter SemiBold"/>
                  <a:sym typeface="Inter SemiBold"/>
                </a:rPr>
                <a:t>Reference Dataset:</a:t>
              </a:r>
              <a:r>
                <a:rPr lang="en-US" sz="2000">
                  <a:solidFill>
                    <a:srgbClr val="4F8EF7"/>
                  </a:solidFill>
                  <a:latin typeface="Inter SemiBold"/>
                  <a:ea typeface="Inter SemiBold"/>
                  <a:cs typeface="Inter SemiBold"/>
                  <a:sym typeface="Inter SemiBold"/>
                </a:rPr>
                <a:t> </a:t>
              </a:r>
              <a:r>
                <a:rPr lang="en-US" sz="2000">
                  <a:solidFill>
                    <a:srgbClr val="CBD5E1"/>
                  </a:solidFill>
                  <a:latin typeface="Inter"/>
                  <a:ea typeface="Inter"/>
                  <a:cs typeface="Inter"/>
                  <a:sym typeface="Inter"/>
                </a:rPr>
                <a:t>Holland Code (RIASEC) from </a:t>
              </a:r>
              <a:r>
                <a:rPr lang="en-US" sz="2000">
                  <a:solidFill>
                    <a:srgbClr val="CBD5E1"/>
                  </a:solidFill>
                  <a:latin typeface="Inter"/>
                  <a:ea typeface="Inter"/>
                  <a:cs typeface="Inter"/>
                  <a:sym typeface="Inter"/>
                </a:rPr>
                <a:t>Open Psychometrics</a:t>
              </a:r>
              <a:endParaRPr b="1" sz="2000">
                <a:solidFill>
                  <a:schemeClr val="dk1"/>
                </a:solidFill>
              </a:endParaRPr>
            </a:p>
            <a:p>
              <a:pPr indent="0" lvl="0" marL="527876" rtl="0" algn="l">
                <a:spcBef>
                  <a:spcPts val="0"/>
                </a:spcBef>
                <a:spcAft>
                  <a:spcPts val="0"/>
                </a:spcAft>
                <a:buNone/>
              </a:pPr>
              <a:r>
                <a:t/>
              </a:r>
              <a:endParaRPr sz="1386">
                <a:solidFill>
                  <a:srgbClr val="CBD5E1"/>
                </a:solidFill>
                <a:latin typeface="Inter"/>
                <a:ea typeface="Inter"/>
                <a:cs typeface="Inter"/>
                <a:sym typeface="Inter"/>
              </a:endParaRPr>
            </a:p>
          </p:txBody>
        </p:sp>
      </p:grpSp>
      <p:pic>
        <p:nvPicPr>
          <p:cNvPr id="434" name="Google Shape;434;p51"/>
          <p:cNvPicPr preferRelativeResize="0"/>
          <p:nvPr/>
        </p:nvPicPr>
        <p:blipFill>
          <a:blip r:embed="rId4">
            <a:alphaModFix/>
          </a:blip>
          <a:stretch>
            <a:fillRect/>
          </a:stretch>
        </p:blipFill>
        <p:spPr>
          <a:xfrm>
            <a:off x="1172150" y="3094396"/>
            <a:ext cx="6398775" cy="3493476"/>
          </a:xfrm>
          <a:prstGeom prst="rect">
            <a:avLst/>
          </a:prstGeom>
          <a:noFill/>
          <a:ln>
            <a:noFill/>
          </a:ln>
        </p:spPr>
      </p:pic>
      <p:pic>
        <p:nvPicPr>
          <p:cNvPr id="435" name="Google Shape;435;p51"/>
          <p:cNvPicPr preferRelativeResize="0"/>
          <p:nvPr/>
        </p:nvPicPr>
        <p:blipFill>
          <a:blip r:embed="rId5">
            <a:alphaModFix/>
          </a:blip>
          <a:stretch>
            <a:fillRect/>
          </a:stretch>
        </p:blipFill>
        <p:spPr>
          <a:xfrm>
            <a:off x="8238318" y="1328000"/>
            <a:ext cx="3274457" cy="5173425"/>
          </a:xfrm>
          <a:prstGeom prst="rect">
            <a:avLst/>
          </a:prstGeom>
          <a:noFill/>
          <a:ln>
            <a:noFill/>
          </a:ln>
        </p:spPr>
      </p:pic>
      <p:sp>
        <p:nvSpPr>
          <p:cNvPr id="436" name="Google Shape;436;p51"/>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0" name="Shape 440"/>
        <p:cNvGrpSpPr/>
        <p:nvPr/>
      </p:nvGrpSpPr>
      <p:grpSpPr>
        <a:xfrm>
          <a:off x="0" y="0"/>
          <a:ext cx="0" cy="0"/>
          <a:chOff x="0" y="0"/>
          <a:chExt cx="0" cy="0"/>
        </a:xfrm>
      </p:grpSpPr>
      <p:sp>
        <p:nvSpPr>
          <p:cNvPr id="441" name="Google Shape;441;p52"/>
          <p:cNvSpPr/>
          <p:nvPr/>
        </p:nvSpPr>
        <p:spPr>
          <a:xfrm>
            <a:off x="676275" y="485775"/>
            <a:ext cx="47700" cy="438300"/>
          </a:xfrm>
          <a:prstGeom prst="rect">
            <a:avLst/>
          </a:prstGeom>
          <a:solidFill>
            <a:srgbClr val="A78B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52"/>
          <p:cNvSpPr txBox="1"/>
          <p:nvPr/>
        </p:nvSpPr>
        <p:spPr>
          <a:xfrm>
            <a:off x="809600" y="376275"/>
            <a:ext cx="11785500" cy="65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200">
                <a:solidFill>
                  <a:srgbClr val="FFFFFF"/>
                </a:solidFill>
                <a:latin typeface="Syne ExtraBold"/>
                <a:ea typeface="Syne ExtraBold"/>
                <a:cs typeface="Syne ExtraBold"/>
                <a:sym typeface="Syne ExtraBold"/>
              </a:rPr>
              <a:t>Questionnaires Generation </a:t>
            </a:r>
            <a:endParaRPr b="0" sz="3200">
              <a:solidFill>
                <a:srgbClr val="FFFFFF"/>
              </a:solidFill>
              <a:latin typeface="Syne ExtraBold"/>
              <a:ea typeface="Syne ExtraBold"/>
              <a:cs typeface="Syne ExtraBold"/>
              <a:sym typeface="Syne ExtraBold"/>
            </a:endParaRPr>
          </a:p>
          <a:p>
            <a:pPr indent="0" lvl="0" marL="0" rtl="0" algn="l">
              <a:spcBef>
                <a:spcPts val="0"/>
              </a:spcBef>
              <a:spcAft>
                <a:spcPts val="0"/>
              </a:spcAft>
              <a:buNone/>
            </a:pPr>
            <a:r>
              <a:rPr b="0" lang="en-US" sz="3200">
                <a:solidFill>
                  <a:srgbClr val="FFFFFF"/>
                </a:solidFill>
                <a:latin typeface="Syne ExtraBold"/>
                <a:ea typeface="Syne ExtraBold"/>
                <a:cs typeface="Syne ExtraBold"/>
                <a:sym typeface="Syne ExtraBold"/>
              </a:rPr>
              <a:t>Process</a:t>
            </a:r>
            <a:endParaRPr b="0" sz="3200">
              <a:solidFill>
                <a:srgbClr val="FFFFFF"/>
              </a:solidFill>
              <a:latin typeface="Syne ExtraBold"/>
              <a:ea typeface="Syne ExtraBold"/>
              <a:cs typeface="Syne ExtraBold"/>
              <a:sym typeface="Syne ExtraBold"/>
            </a:endParaRPr>
          </a:p>
        </p:txBody>
      </p:sp>
      <p:grpSp>
        <p:nvGrpSpPr>
          <p:cNvPr id="443" name="Google Shape;443;p52"/>
          <p:cNvGrpSpPr/>
          <p:nvPr/>
        </p:nvGrpSpPr>
        <p:grpSpPr>
          <a:xfrm>
            <a:off x="1080717" y="2666150"/>
            <a:ext cx="8451393" cy="2116874"/>
            <a:chOff x="676275" y="1333500"/>
            <a:chExt cx="5238900" cy="4191000"/>
          </a:xfrm>
        </p:grpSpPr>
        <p:sp>
          <p:nvSpPr>
            <p:cNvPr id="444" name="Google Shape;444;p52"/>
            <p:cNvSpPr/>
            <p:nvPr/>
          </p:nvSpPr>
          <p:spPr>
            <a:xfrm>
              <a:off x="676275" y="1333500"/>
              <a:ext cx="5238900" cy="4191000"/>
            </a:xfrm>
            <a:prstGeom prst="roundRect">
              <a:avLst>
                <a:gd fmla="val 2727" name="adj"/>
              </a:avLst>
            </a:prstGeom>
            <a:solidFill>
              <a:srgbClr val="161B28"/>
            </a:solidFill>
            <a:ln cap="flat" cmpd="sng" w="110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52"/>
            <p:cNvSpPr txBox="1"/>
            <p:nvPr/>
          </p:nvSpPr>
          <p:spPr>
            <a:xfrm>
              <a:off x="770801" y="1524033"/>
              <a:ext cx="4906200" cy="311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309">
                  <a:solidFill>
                    <a:srgbClr val="A78BFA"/>
                  </a:solidFill>
                  <a:latin typeface="Syne"/>
                  <a:ea typeface="Syne"/>
                  <a:cs typeface="Syne"/>
                  <a:sym typeface="Syne"/>
                </a:rPr>
                <a:t>Second Questionnaire: Implementation</a:t>
              </a:r>
              <a:endParaRPr b="1" sz="2309">
                <a:solidFill>
                  <a:srgbClr val="A78BFA"/>
                </a:solidFill>
                <a:latin typeface="Syne"/>
                <a:ea typeface="Syne"/>
                <a:cs typeface="Syne"/>
                <a:sym typeface="Syne"/>
              </a:endParaRPr>
            </a:p>
            <a:p>
              <a:pPr indent="0" lvl="0" marL="0" rtl="0" algn="l">
                <a:spcBef>
                  <a:spcPts val="1732"/>
                </a:spcBef>
                <a:spcAft>
                  <a:spcPts val="0"/>
                </a:spcAft>
                <a:buNone/>
              </a:pPr>
              <a:r>
                <a:rPr lang="en-US" sz="2000">
                  <a:solidFill>
                    <a:srgbClr val="A78BFA"/>
                  </a:solidFill>
                  <a:latin typeface="Inter SemiBold"/>
                  <a:ea typeface="Inter SemiBold"/>
                  <a:cs typeface="Inter SemiBold"/>
                  <a:sym typeface="Inter SemiBold"/>
                </a:rPr>
                <a:t>Main Objectives: </a:t>
              </a:r>
              <a:endParaRPr sz="2000">
                <a:solidFill>
                  <a:srgbClr val="CBD5E1"/>
                </a:solidFill>
                <a:latin typeface="Inter"/>
                <a:ea typeface="Inter"/>
                <a:cs typeface="Inter"/>
                <a:sym typeface="Inter"/>
              </a:endParaRPr>
            </a:p>
            <a:p>
              <a:pPr indent="-355600" lvl="0" marL="457200" rtl="0" algn="l">
                <a:spcBef>
                  <a:spcPts val="0"/>
                </a:spcBef>
                <a:spcAft>
                  <a:spcPts val="0"/>
                </a:spcAft>
                <a:buClr>
                  <a:srgbClr val="CBD5E1"/>
                </a:buClr>
                <a:buSzPts val="2000"/>
                <a:buFont typeface="Inter"/>
                <a:buChar char="●"/>
              </a:pPr>
              <a:r>
                <a:rPr lang="en-US" sz="2000">
                  <a:solidFill>
                    <a:srgbClr val="CBD5E1"/>
                  </a:solidFill>
                  <a:latin typeface="Inter"/>
                  <a:ea typeface="Inter"/>
                  <a:cs typeface="Inter"/>
                  <a:sym typeface="Inter"/>
                </a:rPr>
                <a:t>Mapping of the Existing Academic Offer in Łódź </a:t>
              </a:r>
              <a:endParaRPr sz="2000">
                <a:solidFill>
                  <a:srgbClr val="CBD5E1"/>
                </a:solidFill>
                <a:latin typeface="Inter"/>
                <a:ea typeface="Inter"/>
                <a:cs typeface="Inter"/>
                <a:sym typeface="Inter"/>
              </a:endParaRPr>
            </a:p>
            <a:p>
              <a:pPr indent="-355600" lvl="0" marL="457200" rtl="0" algn="l">
                <a:spcBef>
                  <a:spcPts val="0"/>
                </a:spcBef>
                <a:spcAft>
                  <a:spcPts val="0"/>
                </a:spcAft>
                <a:buClr>
                  <a:srgbClr val="CBD5E1"/>
                </a:buClr>
                <a:buSzPts val="2000"/>
                <a:buFont typeface="Inter"/>
                <a:buChar char="●"/>
              </a:pPr>
              <a:r>
                <a:rPr lang="en-US" sz="2000">
                  <a:solidFill>
                    <a:srgbClr val="CBD5E1"/>
                  </a:solidFill>
                  <a:latin typeface="Inter"/>
                  <a:ea typeface="Inter"/>
                  <a:cs typeface="Inter"/>
                  <a:sym typeface="Inter"/>
                </a:rPr>
                <a:t>Strategic Creation of Personalized Questions</a:t>
              </a:r>
              <a:endParaRPr sz="2000">
                <a:solidFill>
                  <a:srgbClr val="CBD5E1"/>
                </a:solidFill>
                <a:latin typeface="Inter"/>
                <a:ea typeface="Inter"/>
                <a:cs typeface="Inter"/>
                <a:sym typeface="Inter"/>
              </a:endParaRPr>
            </a:p>
            <a:p>
              <a:pPr indent="0" lvl="0" marL="527876" rtl="0" algn="l">
                <a:spcBef>
                  <a:spcPts val="0"/>
                </a:spcBef>
                <a:spcAft>
                  <a:spcPts val="0"/>
                </a:spcAft>
                <a:buNone/>
              </a:pPr>
              <a:r>
                <a:t/>
              </a:r>
              <a:endParaRPr sz="1386">
                <a:solidFill>
                  <a:srgbClr val="CBD5E1"/>
                </a:solidFill>
                <a:latin typeface="Inter"/>
                <a:ea typeface="Inter"/>
                <a:cs typeface="Inter"/>
                <a:sym typeface="Inter"/>
              </a:endParaRPr>
            </a:p>
          </p:txBody>
        </p:sp>
      </p:grpSp>
      <p:sp>
        <p:nvSpPr>
          <p:cNvPr id="446" name="Google Shape;446;p52"/>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0" name="Shape 450"/>
        <p:cNvGrpSpPr/>
        <p:nvPr/>
      </p:nvGrpSpPr>
      <p:grpSpPr>
        <a:xfrm>
          <a:off x="0" y="0"/>
          <a:ext cx="0" cy="0"/>
          <a:chOff x="0" y="0"/>
          <a:chExt cx="0" cy="0"/>
        </a:xfrm>
      </p:grpSpPr>
      <p:sp>
        <p:nvSpPr>
          <p:cNvPr id="451" name="Google Shape;451;p53"/>
          <p:cNvSpPr/>
          <p:nvPr/>
        </p:nvSpPr>
        <p:spPr>
          <a:xfrm>
            <a:off x="676275" y="485775"/>
            <a:ext cx="47700" cy="438300"/>
          </a:xfrm>
          <a:prstGeom prst="rect">
            <a:avLst/>
          </a:prstGeom>
          <a:solidFill>
            <a:srgbClr val="A78B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53"/>
          <p:cNvSpPr txBox="1"/>
          <p:nvPr/>
        </p:nvSpPr>
        <p:spPr>
          <a:xfrm>
            <a:off x="819150" y="485775"/>
            <a:ext cx="11232900" cy="438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3200"/>
              </a:spcBef>
              <a:spcAft>
                <a:spcPts val="800"/>
              </a:spcAft>
              <a:buClr>
                <a:schemeClr val="dk1"/>
              </a:buClr>
              <a:buSzPts val="1500"/>
              <a:buFont typeface="Arial"/>
              <a:buNone/>
            </a:pPr>
            <a:r>
              <a:rPr lang="en-US" sz="3200">
                <a:solidFill>
                  <a:srgbClr val="FFFFFF"/>
                </a:solidFill>
                <a:latin typeface="Syne ExtraBold"/>
                <a:ea typeface="Syne ExtraBold"/>
                <a:cs typeface="Syne ExtraBold"/>
                <a:sym typeface="Syne ExtraBold"/>
              </a:rPr>
              <a:t>Machine Learning </a:t>
            </a:r>
            <a:r>
              <a:rPr lang="en-US" sz="3200">
                <a:solidFill>
                  <a:srgbClr val="FFFFFF"/>
                </a:solidFill>
                <a:uFill>
                  <a:noFill/>
                </a:uFill>
                <a:latin typeface="Syne ExtraBold"/>
                <a:ea typeface="Syne ExtraBold"/>
                <a:cs typeface="Syne ExtraBold"/>
                <a:sym typeface="Syne ExtraBold"/>
                <a:hlinkClick r:id="rId4">
                  <a:extLst>
                    <a:ext uri="{A12FA001-AC4F-418D-AE19-62706E023703}">
                      <ahyp:hlinkClr val="tx"/>
                    </a:ext>
                  </a:extLst>
                </a:hlinkClick>
              </a:rPr>
              <a:t>Models</a:t>
            </a:r>
            <a:r>
              <a:rPr lang="en-US" sz="3200">
                <a:solidFill>
                  <a:srgbClr val="FFFFFF"/>
                </a:solidFill>
                <a:latin typeface="Syne ExtraBold"/>
                <a:ea typeface="Syne ExtraBold"/>
                <a:cs typeface="Syne ExtraBold"/>
                <a:sym typeface="Syne ExtraBold"/>
              </a:rPr>
              <a:t> Needed</a:t>
            </a:r>
            <a:endParaRPr b="0" sz="3200">
              <a:solidFill>
                <a:srgbClr val="FFFFFF"/>
              </a:solidFill>
              <a:latin typeface="Syne ExtraBold"/>
              <a:ea typeface="Syne ExtraBold"/>
              <a:cs typeface="Syne ExtraBold"/>
              <a:sym typeface="Syne ExtraBold"/>
            </a:endParaRPr>
          </a:p>
        </p:txBody>
      </p:sp>
      <p:grpSp>
        <p:nvGrpSpPr>
          <p:cNvPr id="453" name="Google Shape;453;p53"/>
          <p:cNvGrpSpPr/>
          <p:nvPr/>
        </p:nvGrpSpPr>
        <p:grpSpPr>
          <a:xfrm>
            <a:off x="1012130" y="3454252"/>
            <a:ext cx="2988269" cy="1533906"/>
            <a:chOff x="6276975" y="1333500"/>
            <a:chExt cx="5238900" cy="4191000"/>
          </a:xfrm>
        </p:grpSpPr>
        <p:sp>
          <p:nvSpPr>
            <p:cNvPr id="454" name="Google Shape;454;p53"/>
            <p:cNvSpPr/>
            <p:nvPr/>
          </p:nvSpPr>
          <p:spPr>
            <a:xfrm>
              <a:off x="6276975" y="1333500"/>
              <a:ext cx="5238900" cy="41910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53"/>
            <p:cNvSpPr txBox="1"/>
            <p:nvPr/>
          </p:nvSpPr>
          <p:spPr>
            <a:xfrm>
              <a:off x="6515106" y="1571632"/>
              <a:ext cx="4762500" cy="22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FFFFFF"/>
                  </a:solidFill>
                  <a:latin typeface="Syne Medium"/>
                  <a:ea typeface="Syne Medium"/>
                  <a:cs typeface="Syne Medium"/>
                  <a:sym typeface="Syne Medium"/>
                </a:rPr>
                <a:t>Model 1</a:t>
              </a:r>
              <a:endParaRPr sz="2000">
                <a:solidFill>
                  <a:srgbClr val="FFFFFF"/>
                </a:solidFill>
                <a:latin typeface="Syne Medium"/>
                <a:ea typeface="Syne Medium"/>
                <a:cs typeface="Syne Medium"/>
                <a:sym typeface="Syne Medium"/>
              </a:endParaRPr>
            </a:p>
            <a:p>
              <a:pPr indent="0" lvl="0" marL="0" rtl="0" algn="l">
                <a:spcBef>
                  <a:spcPts val="1500"/>
                </a:spcBef>
                <a:spcAft>
                  <a:spcPts val="0"/>
                </a:spcAft>
                <a:buNone/>
              </a:pPr>
              <a:r>
                <a:rPr lang="en-US" sz="2000">
                  <a:latin typeface="Syne Medium"/>
                  <a:ea typeface="Syne Medium"/>
                  <a:cs typeface="Syne Medium"/>
                  <a:sym typeface="Syne Medium"/>
                </a:rPr>
                <a:t> </a:t>
              </a:r>
              <a:r>
                <a:rPr lang="en-US" sz="2000">
                  <a:solidFill>
                    <a:srgbClr val="CBD5E1"/>
                  </a:solidFill>
                  <a:latin typeface="Syne Medium"/>
                  <a:ea typeface="Syne Medium"/>
                  <a:cs typeface="Syne Medium"/>
                  <a:sym typeface="Syne Medium"/>
                </a:rPr>
                <a:t>Questionnaire 1</a:t>
              </a:r>
              <a:endParaRPr sz="2000">
                <a:latin typeface="Syne Medium"/>
                <a:ea typeface="Syne Medium"/>
                <a:cs typeface="Syne Medium"/>
                <a:sym typeface="Syne Medium"/>
              </a:endParaRPr>
            </a:p>
            <a:p>
              <a:pPr indent="0" lvl="0" marL="0" rtl="0" algn="l">
                <a:spcBef>
                  <a:spcPts val="1125"/>
                </a:spcBef>
                <a:spcAft>
                  <a:spcPts val="0"/>
                </a:spcAft>
                <a:buNone/>
              </a:pPr>
              <a:r>
                <a:rPr lang="en-US" sz="2000">
                  <a:solidFill>
                    <a:srgbClr val="CBD5E1"/>
                  </a:solidFill>
                  <a:latin typeface="Syne Medium"/>
                  <a:ea typeface="Syne Medium"/>
                  <a:cs typeface="Syne Medium"/>
                  <a:sym typeface="Syne Medium"/>
                </a:rPr>
                <a:t> T</a:t>
              </a:r>
              <a:r>
                <a:rPr lang="en-US" sz="2000">
                  <a:solidFill>
                    <a:srgbClr val="CBD5E1"/>
                  </a:solidFill>
                  <a:latin typeface="Syne Medium"/>
                  <a:ea typeface="Syne Medium"/>
                  <a:cs typeface="Syne Medium"/>
                  <a:sym typeface="Syne Medium"/>
                </a:rPr>
                <a:t>arget: area of study</a:t>
              </a:r>
              <a:endParaRPr i="1" sz="2000">
                <a:solidFill>
                  <a:srgbClr val="64748B"/>
                </a:solidFill>
                <a:latin typeface="Syne Medium"/>
                <a:ea typeface="Syne Medium"/>
                <a:cs typeface="Syne Medium"/>
                <a:sym typeface="Syne Medium"/>
              </a:endParaRPr>
            </a:p>
          </p:txBody>
        </p:sp>
      </p:grpSp>
      <p:grpSp>
        <p:nvGrpSpPr>
          <p:cNvPr id="456" name="Google Shape;456;p53"/>
          <p:cNvGrpSpPr/>
          <p:nvPr/>
        </p:nvGrpSpPr>
        <p:grpSpPr>
          <a:xfrm>
            <a:off x="4794805" y="3454252"/>
            <a:ext cx="2988269" cy="1533906"/>
            <a:chOff x="6276975" y="1333500"/>
            <a:chExt cx="5238900" cy="4191000"/>
          </a:xfrm>
        </p:grpSpPr>
        <p:sp>
          <p:nvSpPr>
            <p:cNvPr id="457" name="Google Shape;457;p53"/>
            <p:cNvSpPr/>
            <p:nvPr/>
          </p:nvSpPr>
          <p:spPr>
            <a:xfrm>
              <a:off x="6276975" y="1333500"/>
              <a:ext cx="5238900" cy="41910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53"/>
            <p:cNvSpPr txBox="1"/>
            <p:nvPr/>
          </p:nvSpPr>
          <p:spPr>
            <a:xfrm>
              <a:off x="6515106" y="1571632"/>
              <a:ext cx="4762500" cy="22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FFFFFF"/>
                  </a:solidFill>
                  <a:latin typeface="Syne Medium"/>
                  <a:ea typeface="Syne Medium"/>
                  <a:cs typeface="Syne Medium"/>
                  <a:sym typeface="Syne Medium"/>
                </a:rPr>
                <a:t>Model 2</a:t>
              </a:r>
              <a:endParaRPr sz="2000">
                <a:solidFill>
                  <a:srgbClr val="FFFFFF"/>
                </a:solidFill>
                <a:latin typeface="Syne Medium"/>
                <a:ea typeface="Syne Medium"/>
                <a:cs typeface="Syne Medium"/>
                <a:sym typeface="Syne Medium"/>
              </a:endParaRPr>
            </a:p>
            <a:p>
              <a:pPr indent="0" lvl="0" marL="0" rtl="0" algn="l">
                <a:spcBef>
                  <a:spcPts val="1500"/>
                </a:spcBef>
                <a:spcAft>
                  <a:spcPts val="0"/>
                </a:spcAft>
                <a:buNone/>
              </a:pPr>
              <a:r>
                <a:rPr lang="en-US" sz="2000">
                  <a:latin typeface="Syne Medium"/>
                  <a:ea typeface="Syne Medium"/>
                  <a:cs typeface="Syne Medium"/>
                  <a:sym typeface="Syne Medium"/>
                </a:rPr>
                <a:t> </a:t>
              </a:r>
              <a:r>
                <a:rPr lang="en-US" sz="2000">
                  <a:solidFill>
                    <a:srgbClr val="CBD5E1"/>
                  </a:solidFill>
                  <a:latin typeface="Syne Medium"/>
                  <a:ea typeface="Syne Medium"/>
                  <a:cs typeface="Syne Medium"/>
                  <a:sym typeface="Syne Medium"/>
                </a:rPr>
                <a:t>Questionnaire 1</a:t>
              </a:r>
              <a:endParaRPr sz="2000">
                <a:latin typeface="Syne Medium"/>
                <a:ea typeface="Syne Medium"/>
                <a:cs typeface="Syne Medium"/>
                <a:sym typeface="Syne Medium"/>
              </a:endParaRPr>
            </a:p>
            <a:p>
              <a:pPr indent="0" lvl="0" marL="0" rtl="0" algn="l">
                <a:spcBef>
                  <a:spcPts val="1125"/>
                </a:spcBef>
                <a:spcAft>
                  <a:spcPts val="0"/>
                </a:spcAft>
                <a:buNone/>
              </a:pPr>
              <a:r>
                <a:rPr lang="en-US" sz="2000">
                  <a:solidFill>
                    <a:srgbClr val="CBD5E1"/>
                  </a:solidFill>
                  <a:latin typeface="Syne Medium"/>
                  <a:ea typeface="Syne Medium"/>
                  <a:cs typeface="Syne Medium"/>
                  <a:sym typeface="Syne Medium"/>
                </a:rPr>
                <a:t> Target: satisfaction</a:t>
              </a:r>
              <a:endParaRPr i="1" sz="2000">
                <a:solidFill>
                  <a:srgbClr val="64748B"/>
                </a:solidFill>
                <a:latin typeface="Syne Medium"/>
                <a:ea typeface="Syne Medium"/>
                <a:cs typeface="Syne Medium"/>
                <a:sym typeface="Syne Medium"/>
              </a:endParaRPr>
            </a:p>
          </p:txBody>
        </p:sp>
      </p:grpSp>
      <p:grpSp>
        <p:nvGrpSpPr>
          <p:cNvPr id="459" name="Google Shape;459;p53"/>
          <p:cNvGrpSpPr/>
          <p:nvPr/>
        </p:nvGrpSpPr>
        <p:grpSpPr>
          <a:xfrm>
            <a:off x="8387205" y="3454252"/>
            <a:ext cx="2988269" cy="1533906"/>
            <a:chOff x="6276975" y="1333500"/>
            <a:chExt cx="5238900" cy="4191000"/>
          </a:xfrm>
        </p:grpSpPr>
        <p:sp>
          <p:nvSpPr>
            <p:cNvPr id="460" name="Google Shape;460;p53"/>
            <p:cNvSpPr/>
            <p:nvPr/>
          </p:nvSpPr>
          <p:spPr>
            <a:xfrm>
              <a:off x="6276975" y="1333500"/>
              <a:ext cx="5238900" cy="41910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53"/>
            <p:cNvSpPr txBox="1"/>
            <p:nvPr/>
          </p:nvSpPr>
          <p:spPr>
            <a:xfrm>
              <a:off x="6515106" y="1571632"/>
              <a:ext cx="4762500" cy="22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FFFFFF"/>
                  </a:solidFill>
                  <a:latin typeface="Syne Medium"/>
                  <a:ea typeface="Syne Medium"/>
                  <a:cs typeface="Syne Medium"/>
                  <a:sym typeface="Syne Medium"/>
                </a:rPr>
                <a:t>Model 3</a:t>
              </a:r>
              <a:endParaRPr sz="2000">
                <a:solidFill>
                  <a:srgbClr val="FFFFFF"/>
                </a:solidFill>
                <a:latin typeface="Syne Medium"/>
                <a:ea typeface="Syne Medium"/>
                <a:cs typeface="Syne Medium"/>
                <a:sym typeface="Syne Medium"/>
              </a:endParaRPr>
            </a:p>
            <a:p>
              <a:pPr indent="0" lvl="0" marL="0" rtl="0" algn="l">
                <a:spcBef>
                  <a:spcPts val="1500"/>
                </a:spcBef>
                <a:spcAft>
                  <a:spcPts val="0"/>
                </a:spcAft>
                <a:buNone/>
              </a:pPr>
              <a:r>
                <a:rPr lang="en-US" sz="2000">
                  <a:latin typeface="Syne Medium"/>
                  <a:ea typeface="Syne Medium"/>
                  <a:cs typeface="Syne Medium"/>
                  <a:sym typeface="Syne Medium"/>
                </a:rPr>
                <a:t> </a:t>
              </a:r>
              <a:r>
                <a:rPr lang="en-US" sz="2000">
                  <a:solidFill>
                    <a:srgbClr val="CBD5E1"/>
                  </a:solidFill>
                  <a:latin typeface="Syne Medium"/>
                  <a:ea typeface="Syne Medium"/>
                  <a:cs typeface="Syne Medium"/>
                  <a:sym typeface="Syne Medium"/>
                </a:rPr>
                <a:t>Questionnaire 2</a:t>
              </a:r>
              <a:endParaRPr sz="2000">
                <a:latin typeface="Syne Medium"/>
                <a:ea typeface="Syne Medium"/>
                <a:cs typeface="Syne Medium"/>
                <a:sym typeface="Syne Medium"/>
              </a:endParaRPr>
            </a:p>
            <a:p>
              <a:pPr indent="0" lvl="0" marL="0" rtl="0" algn="l">
                <a:spcBef>
                  <a:spcPts val="1125"/>
                </a:spcBef>
                <a:spcAft>
                  <a:spcPts val="0"/>
                </a:spcAft>
                <a:buNone/>
              </a:pPr>
              <a:r>
                <a:rPr lang="en-US" sz="2000">
                  <a:solidFill>
                    <a:srgbClr val="CBD5E1"/>
                  </a:solidFill>
                  <a:latin typeface="Syne Medium"/>
                  <a:ea typeface="Syne Medium"/>
                  <a:cs typeface="Syne Medium"/>
                  <a:sym typeface="Syne Medium"/>
                </a:rPr>
                <a:t> Target: </a:t>
              </a:r>
              <a:r>
                <a:rPr lang="en-US" sz="2000">
                  <a:solidFill>
                    <a:srgbClr val="CBD5E1"/>
                  </a:solidFill>
                  <a:latin typeface="Syne Medium"/>
                  <a:ea typeface="Syne Medium"/>
                  <a:cs typeface="Syne Medium"/>
                  <a:sym typeface="Syne Medium"/>
                </a:rPr>
                <a:t>career</a:t>
              </a:r>
              <a:r>
                <a:rPr lang="en-US" sz="2000">
                  <a:solidFill>
                    <a:srgbClr val="CBD5E1"/>
                  </a:solidFill>
                  <a:latin typeface="Syne Medium"/>
                  <a:ea typeface="Syne Medium"/>
                  <a:cs typeface="Syne Medium"/>
                  <a:sym typeface="Syne Medium"/>
                </a:rPr>
                <a:t> of choice</a:t>
              </a:r>
              <a:endParaRPr i="1" sz="2000">
                <a:solidFill>
                  <a:srgbClr val="64748B"/>
                </a:solidFill>
                <a:latin typeface="Syne Medium"/>
                <a:ea typeface="Syne Medium"/>
                <a:cs typeface="Syne Medium"/>
                <a:sym typeface="Syne Medium"/>
              </a:endParaRPr>
            </a:p>
          </p:txBody>
        </p:sp>
      </p:grpSp>
      <p:sp>
        <p:nvSpPr>
          <p:cNvPr id="462" name="Google Shape;462;p53"/>
          <p:cNvSpPr txBox="1"/>
          <p:nvPr/>
        </p:nvSpPr>
        <p:spPr>
          <a:xfrm>
            <a:off x="2491950" y="5579475"/>
            <a:ext cx="7208100" cy="56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3200"/>
              </a:spcBef>
              <a:spcAft>
                <a:spcPts val="800"/>
              </a:spcAft>
              <a:buNone/>
            </a:pPr>
            <a:r>
              <a:rPr lang="en-US" sz="2500">
                <a:solidFill>
                  <a:srgbClr val="FFFFFF"/>
                </a:solidFill>
                <a:latin typeface="Syne Medium"/>
                <a:ea typeface="Syne Medium"/>
                <a:cs typeface="Syne Medium"/>
                <a:sym typeface="Syne Medium"/>
              </a:rPr>
              <a:t>We need 3 models Selected on synthetic data</a:t>
            </a:r>
            <a:endParaRPr sz="2500">
              <a:solidFill>
                <a:schemeClr val="dk1"/>
              </a:solidFill>
              <a:latin typeface="Syne Medium"/>
              <a:ea typeface="Syne Medium"/>
              <a:cs typeface="Syne Medium"/>
              <a:sym typeface="Syne Medium"/>
            </a:endParaRPr>
          </a:p>
        </p:txBody>
      </p:sp>
      <p:sp>
        <p:nvSpPr>
          <p:cNvPr id="463" name="Google Shape;463;p53"/>
          <p:cNvSpPr txBox="1"/>
          <p:nvPr/>
        </p:nvSpPr>
        <p:spPr>
          <a:xfrm>
            <a:off x="723975" y="1746275"/>
            <a:ext cx="10761000" cy="846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3200"/>
              </a:spcBef>
              <a:spcAft>
                <a:spcPts val="800"/>
              </a:spcAft>
              <a:buNone/>
            </a:pPr>
            <a:r>
              <a:rPr lang="en-US" sz="2000">
                <a:solidFill>
                  <a:srgbClr val="FFFFFF"/>
                </a:solidFill>
                <a:latin typeface="Syne Medium"/>
                <a:ea typeface="Syne Medium"/>
                <a:cs typeface="Syne Medium"/>
                <a:sym typeface="Syne Medium"/>
              </a:rPr>
              <a:t>We developed three separate machine learning models for the app. Each model focusing on a single target variable.</a:t>
            </a:r>
            <a:endParaRPr sz="2000">
              <a:solidFill>
                <a:schemeClr val="dk1"/>
              </a:solidFill>
              <a:latin typeface="Syne Medium"/>
              <a:ea typeface="Syne Medium"/>
              <a:cs typeface="Syne Medium"/>
              <a:sym typeface="Syne Medium"/>
            </a:endParaRPr>
          </a:p>
        </p:txBody>
      </p:sp>
      <p:sp>
        <p:nvSpPr>
          <p:cNvPr id="464" name="Google Shape;464;p53"/>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8" name="Shape 468"/>
        <p:cNvGrpSpPr/>
        <p:nvPr/>
      </p:nvGrpSpPr>
      <p:grpSpPr>
        <a:xfrm>
          <a:off x="0" y="0"/>
          <a:ext cx="0" cy="0"/>
          <a:chOff x="0" y="0"/>
          <a:chExt cx="0" cy="0"/>
        </a:xfrm>
      </p:grpSpPr>
      <p:sp>
        <p:nvSpPr>
          <p:cNvPr id="469" name="Google Shape;469;p54"/>
          <p:cNvSpPr/>
          <p:nvPr/>
        </p:nvSpPr>
        <p:spPr>
          <a:xfrm>
            <a:off x="676275" y="485775"/>
            <a:ext cx="47700" cy="438300"/>
          </a:xfrm>
          <a:prstGeom prst="rect">
            <a:avLst/>
          </a:prstGeom>
          <a:solidFill>
            <a:srgbClr val="A78B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54"/>
          <p:cNvSpPr txBox="1"/>
          <p:nvPr/>
        </p:nvSpPr>
        <p:spPr>
          <a:xfrm>
            <a:off x="819150" y="485775"/>
            <a:ext cx="10477500" cy="438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3200"/>
              </a:spcBef>
              <a:spcAft>
                <a:spcPts val="800"/>
              </a:spcAft>
              <a:buNone/>
            </a:pPr>
            <a:r>
              <a:rPr lang="en-US" sz="2850">
                <a:solidFill>
                  <a:srgbClr val="FFFFFF"/>
                </a:solidFill>
                <a:latin typeface="Syne ExtraBold"/>
                <a:ea typeface="Syne ExtraBold"/>
                <a:cs typeface="Syne ExtraBold"/>
                <a:sym typeface="Syne ExtraBold"/>
              </a:rPr>
              <a:t>Explanation of the Tested Models </a:t>
            </a:r>
            <a:endParaRPr b="0" sz="2850">
              <a:solidFill>
                <a:srgbClr val="FFFFFF"/>
              </a:solidFill>
              <a:latin typeface="Syne ExtraBold"/>
              <a:ea typeface="Syne ExtraBold"/>
              <a:cs typeface="Syne ExtraBold"/>
              <a:sym typeface="Syne ExtraBold"/>
            </a:endParaRPr>
          </a:p>
        </p:txBody>
      </p:sp>
      <p:grpSp>
        <p:nvGrpSpPr>
          <p:cNvPr id="471" name="Google Shape;471;p54"/>
          <p:cNvGrpSpPr/>
          <p:nvPr/>
        </p:nvGrpSpPr>
        <p:grpSpPr>
          <a:xfrm>
            <a:off x="698397" y="1411673"/>
            <a:ext cx="2988269" cy="3023276"/>
            <a:chOff x="6276967" y="1333565"/>
            <a:chExt cx="5238900" cy="9483300"/>
          </a:xfrm>
        </p:grpSpPr>
        <p:sp>
          <p:nvSpPr>
            <p:cNvPr id="472" name="Google Shape;472;p54"/>
            <p:cNvSpPr/>
            <p:nvPr/>
          </p:nvSpPr>
          <p:spPr>
            <a:xfrm>
              <a:off x="6276967" y="1333565"/>
              <a:ext cx="5238900" cy="94833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54"/>
            <p:cNvSpPr txBox="1"/>
            <p:nvPr/>
          </p:nvSpPr>
          <p:spPr>
            <a:xfrm>
              <a:off x="6515177" y="1824104"/>
              <a:ext cx="4762500" cy="797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Syne"/>
                  <a:ea typeface="Syne"/>
                  <a:cs typeface="Syne"/>
                  <a:sym typeface="Syne"/>
                </a:rPr>
                <a:t>CLASSIFICATION</a:t>
              </a:r>
              <a:endParaRPr b="1" sz="1800">
                <a:solidFill>
                  <a:srgbClr val="FFFFFF"/>
                </a:solidFill>
                <a:latin typeface="Syne"/>
                <a:ea typeface="Syne"/>
                <a:cs typeface="Syne"/>
                <a:sym typeface="Syne"/>
              </a:endParaRPr>
            </a:p>
            <a:p>
              <a:pPr indent="0" lvl="0" marL="0" rtl="0" algn="l">
                <a:spcBef>
                  <a:spcPts val="1500"/>
                </a:spcBef>
                <a:spcAft>
                  <a:spcPts val="0"/>
                </a:spcAft>
                <a:buNone/>
              </a:pPr>
              <a:r>
                <a:rPr lang="en-US"/>
                <a:t> </a:t>
              </a:r>
              <a:r>
                <a:rPr lang="en-US" sz="1300">
                  <a:solidFill>
                    <a:srgbClr val="CBD5E1"/>
                  </a:solidFill>
                  <a:latin typeface="Inter"/>
                  <a:ea typeface="Inter"/>
                  <a:cs typeface="Inter"/>
                  <a:sym typeface="Inter"/>
                </a:rPr>
                <a:t>- Logistic Regression</a:t>
              </a:r>
              <a:endParaRPr sz="1300">
                <a:solidFill>
                  <a:srgbClr val="CBD5E1"/>
                </a:solidFill>
                <a:latin typeface="Inter"/>
                <a:ea typeface="Inter"/>
                <a:cs typeface="Inter"/>
                <a:sym typeface="Inter"/>
              </a:endParaRPr>
            </a:p>
            <a:p>
              <a:pPr indent="0" lvl="0" marL="0" rtl="0" algn="l">
                <a:spcBef>
                  <a:spcPts val="1125"/>
                </a:spcBef>
                <a:spcAft>
                  <a:spcPts val="0"/>
                </a:spcAft>
                <a:buNone/>
              </a:pPr>
              <a:r>
                <a:rPr lang="en-US" sz="1300">
                  <a:solidFill>
                    <a:srgbClr val="CBD5E1"/>
                  </a:solidFill>
                  <a:latin typeface="Inter"/>
                  <a:ea typeface="Inter"/>
                  <a:cs typeface="Inter"/>
                  <a:sym typeface="Inter"/>
                </a:rPr>
                <a:t>- Naive Bayes</a:t>
              </a:r>
              <a:endParaRPr sz="1300">
                <a:solidFill>
                  <a:srgbClr val="CBD5E1"/>
                </a:solidFill>
                <a:latin typeface="Inter"/>
                <a:ea typeface="Inter"/>
                <a:cs typeface="Inter"/>
                <a:sym typeface="Inter"/>
              </a:endParaRPr>
            </a:p>
            <a:p>
              <a:pPr indent="0" lvl="0" marL="0" rtl="0" algn="l">
                <a:spcBef>
                  <a:spcPts val="1125"/>
                </a:spcBef>
                <a:spcAft>
                  <a:spcPts val="0"/>
                </a:spcAft>
                <a:buNone/>
              </a:pPr>
              <a:r>
                <a:rPr lang="en-US" sz="1300">
                  <a:solidFill>
                    <a:srgbClr val="CBD5E1"/>
                  </a:solidFill>
                  <a:latin typeface="Inter"/>
                  <a:ea typeface="Inter"/>
                  <a:cs typeface="Inter"/>
                  <a:sym typeface="Inter"/>
                </a:rPr>
                <a:t>- </a:t>
              </a:r>
              <a:r>
                <a:rPr lang="en-US" sz="1300">
                  <a:solidFill>
                    <a:srgbClr val="CBD5E1"/>
                  </a:solidFill>
                  <a:latin typeface="Inter"/>
                  <a:ea typeface="Inter"/>
                  <a:cs typeface="Inter"/>
                  <a:sym typeface="Inter"/>
                </a:rPr>
                <a:t>Decision</a:t>
              </a:r>
              <a:r>
                <a:rPr lang="en-US" sz="1300">
                  <a:solidFill>
                    <a:srgbClr val="CBD5E1"/>
                  </a:solidFill>
                  <a:latin typeface="Inter"/>
                  <a:ea typeface="Inter"/>
                  <a:cs typeface="Inter"/>
                  <a:sym typeface="Inter"/>
                </a:rPr>
                <a:t> Tree</a:t>
              </a:r>
              <a:endParaRPr sz="1300">
                <a:solidFill>
                  <a:srgbClr val="CBD5E1"/>
                </a:solidFill>
                <a:latin typeface="Inter"/>
                <a:ea typeface="Inter"/>
                <a:cs typeface="Inter"/>
                <a:sym typeface="Inter"/>
              </a:endParaRPr>
            </a:p>
            <a:p>
              <a:pPr indent="0" lvl="0" marL="0" rtl="0" algn="l">
                <a:spcBef>
                  <a:spcPts val="1125"/>
                </a:spcBef>
                <a:spcAft>
                  <a:spcPts val="0"/>
                </a:spcAft>
                <a:buNone/>
              </a:pPr>
              <a:r>
                <a:rPr lang="en-US" sz="1300">
                  <a:solidFill>
                    <a:srgbClr val="CBD5E1"/>
                  </a:solidFill>
                  <a:latin typeface="Inter"/>
                  <a:ea typeface="Inter"/>
                  <a:cs typeface="Inter"/>
                  <a:sym typeface="Inter"/>
                </a:rPr>
                <a:t>- KNN</a:t>
              </a:r>
              <a:endParaRPr sz="1300">
                <a:solidFill>
                  <a:srgbClr val="CBD5E1"/>
                </a:solidFill>
                <a:latin typeface="Inter"/>
                <a:ea typeface="Inter"/>
                <a:cs typeface="Inter"/>
                <a:sym typeface="Inter"/>
              </a:endParaRPr>
            </a:p>
            <a:p>
              <a:pPr indent="0" lvl="0" marL="0" rtl="0" algn="l">
                <a:spcBef>
                  <a:spcPts val="1125"/>
                </a:spcBef>
                <a:spcAft>
                  <a:spcPts val="0"/>
                </a:spcAft>
                <a:buNone/>
              </a:pPr>
              <a:r>
                <a:rPr lang="en-US" sz="1300">
                  <a:solidFill>
                    <a:srgbClr val="CBD5E1"/>
                  </a:solidFill>
                  <a:latin typeface="Inter"/>
                  <a:ea typeface="Inter"/>
                  <a:cs typeface="Inter"/>
                  <a:sym typeface="Inter"/>
                </a:rPr>
                <a:t>- SVM</a:t>
              </a:r>
              <a:endParaRPr sz="1300">
                <a:solidFill>
                  <a:srgbClr val="CBD5E1"/>
                </a:solidFill>
                <a:latin typeface="Inter"/>
                <a:ea typeface="Inter"/>
                <a:cs typeface="Inter"/>
                <a:sym typeface="Inter"/>
              </a:endParaRPr>
            </a:p>
            <a:p>
              <a:pPr indent="0" lvl="0" marL="0" rtl="0" algn="l">
                <a:spcBef>
                  <a:spcPts val="1125"/>
                </a:spcBef>
                <a:spcAft>
                  <a:spcPts val="1125"/>
                </a:spcAft>
                <a:buNone/>
              </a:pPr>
              <a:r>
                <a:rPr lang="en-US" sz="1300">
                  <a:solidFill>
                    <a:srgbClr val="CBD5E1"/>
                  </a:solidFill>
                  <a:latin typeface="Inter"/>
                  <a:ea typeface="Inter"/>
                  <a:cs typeface="Inter"/>
                  <a:sym typeface="Inter"/>
                </a:rPr>
                <a:t>- Random Forest</a:t>
              </a:r>
              <a:endParaRPr sz="1300">
                <a:solidFill>
                  <a:srgbClr val="CBD5E1"/>
                </a:solidFill>
                <a:latin typeface="Inter"/>
                <a:ea typeface="Inter"/>
                <a:cs typeface="Inter"/>
                <a:sym typeface="Inter"/>
              </a:endParaRPr>
            </a:p>
          </p:txBody>
        </p:sp>
      </p:grpSp>
      <p:pic>
        <p:nvPicPr>
          <p:cNvPr id="474" name="Google Shape;474;p54"/>
          <p:cNvPicPr preferRelativeResize="0"/>
          <p:nvPr/>
        </p:nvPicPr>
        <p:blipFill>
          <a:blip r:embed="rId4">
            <a:alphaModFix/>
          </a:blip>
          <a:stretch>
            <a:fillRect/>
          </a:stretch>
        </p:blipFill>
        <p:spPr>
          <a:xfrm>
            <a:off x="3791775" y="3562424"/>
            <a:ext cx="2991071" cy="1998201"/>
          </a:xfrm>
          <a:prstGeom prst="rect">
            <a:avLst/>
          </a:prstGeom>
          <a:noFill/>
          <a:ln>
            <a:noFill/>
          </a:ln>
        </p:spPr>
      </p:pic>
      <p:pic>
        <p:nvPicPr>
          <p:cNvPr id="475" name="Google Shape;475;p54"/>
          <p:cNvPicPr preferRelativeResize="0"/>
          <p:nvPr/>
        </p:nvPicPr>
        <p:blipFill>
          <a:blip r:embed="rId5">
            <a:alphaModFix/>
          </a:blip>
          <a:stretch>
            <a:fillRect/>
          </a:stretch>
        </p:blipFill>
        <p:spPr>
          <a:xfrm>
            <a:off x="7317300" y="1348174"/>
            <a:ext cx="3639877" cy="1998201"/>
          </a:xfrm>
          <a:prstGeom prst="rect">
            <a:avLst/>
          </a:prstGeom>
          <a:noFill/>
          <a:ln>
            <a:noFill/>
          </a:ln>
        </p:spPr>
      </p:pic>
      <p:pic>
        <p:nvPicPr>
          <p:cNvPr id="476" name="Google Shape;476;p54"/>
          <p:cNvPicPr preferRelativeResize="0"/>
          <p:nvPr/>
        </p:nvPicPr>
        <p:blipFill>
          <a:blip r:embed="rId6">
            <a:alphaModFix/>
          </a:blip>
          <a:stretch>
            <a:fillRect/>
          </a:stretch>
        </p:blipFill>
        <p:spPr>
          <a:xfrm>
            <a:off x="3962288" y="1348174"/>
            <a:ext cx="3175347" cy="1998201"/>
          </a:xfrm>
          <a:prstGeom prst="rect">
            <a:avLst/>
          </a:prstGeom>
          <a:noFill/>
          <a:ln>
            <a:noFill/>
          </a:ln>
        </p:spPr>
      </p:pic>
      <p:pic>
        <p:nvPicPr>
          <p:cNvPr id="477" name="Google Shape;477;p54"/>
          <p:cNvPicPr preferRelativeResize="0"/>
          <p:nvPr/>
        </p:nvPicPr>
        <p:blipFill>
          <a:blip r:embed="rId7">
            <a:alphaModFix/>
          </a:blip>
          <a:stretch>
            <a:fillRect/>
          </a:stretch>
        </p:blipFill>
        <p:spPr>
          <a:xfrm>
            <a:off x="6887950" y="3562424"/>
            <a:ext cx="2277859" cy="1998201"/>
          </a:xfrm>
          <a:prstGeom prst="rect">
            <a:avLst/>
          </a:prstGeom>
          <a:noFill/>
          <a:ln>
            <a:noFill/>
          </a:ln>
        </p:spPr>
      </p:pic>
      <p:pic>
        <p:nvPicPr>
          <p:cNvPr id="478" name="Google Shape;478;p54"/>
          <p:cNvPicPr preferRelativeResize="0"/>
          <p:nvPr/>
        </p:nvPicPr>
        <p:blipFill>
          <a:blip r:embed="rId8">
            <a:alphaModFix/>
          </a:blip>
          <a:stretch>
            <a:fillRect/>
          </a:stretch>
        </p:blipFill>
        <p:spPr>
          <a:xfrm>
            <a:off x="734375" y="4778200"/>
            <a:ext cx="2872076" cy="1907449"/>
          </a:xfrm>
          <a:prstGeom prst="rect">
            <a:avLst/>
          </a:prstGeom>
          <a:noFill/>
          <a:ln>
            <a:noFill/>
          </a:ln>
        </p:spPr>
      </p:pic>
      <p:pic>
        <p:nvPicPr>
          <p:cNvPr id="479" name="Google Shape;479;p54"/>
          <p:cNvPicPr preferRelativeResize="0"/>
          <p:nvPr/>
        </p:nvPicPr>
        <p:blipFill rotWithShape="1">
          <a:blip r:embed="rId9">
            <a:alphaModFix/>
          </a:blip>
          <a:srcRect b="0" l="3947" r="5326" t="0"/>
          <a:stretch/>
        </p:blipFill>
        <p:spPr>
          <a:xfrm>
            <a:off x="9270900" y="3586025"/>
            <a:ext cx="2655851" cy="1951000"/>
          </a:xfrm>
          <a:prstGeom prst="rect">
            <a:avLst/>
          </a:prstGeom>
          <a:noFill/>
          <a:ln>
            <a:noFill/>
          </a:ln>
        </p:spPr>
      </p:pic>
      <p:sp>
        <p:nvSpPr>
          <p:cNvPr id="480" name="Google Shape;480;p54"/>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4" name="Shape 484"/>
        <p:cNvGrpSpPr/>
        <p:nvPr/>
      </p:nvGrpSpPr>
      <p:grpSpPr>
        <a:xfrm>
          <a:off x="0" y="0"/>
          <a:ext cx="0" cy="0"/>
          <a:chOff x="0" y="0"/>
          <a:chExt cx="0" cy="0"/>
        </a:xfrm>
      </p:grpSpPr>
      <p:sp>
        <p:nvSpPr>
          <p:cNvPr id="485" name="Google Shape;485;p55"/>
          <p:cNvSpPr/>
          <p:nvPr/>
        </p:nvSpPr>
        <p:spPr>
          <a:xfrm>
            <a:off x="676275" y="485775"/>
            <a:ext cx="47700" cy="438300"/>
          </a:xfrm>
          <a:prstGeom prst="rect">
            <a:avLst/>
          </a:prstGeom>
          <a:solidFill>
            <a:srgbClr val="A78B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55"/>
          <p:cNvSpPr txBox="1"/>
          <p:nvPr/>
        </p:nvSpPr>
        <p:spPr>
          <a:xfrm>
            <a:off x="819150" y="485775"/>
            <a:ext cx="10477500" cy="438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3200"/>
              </a:spcBef>
              <a:spcAft>
                <a:spcPts val="800"/>
              </a:spcAft>
              <a:buNone/>
            </a:pPr>
            <a:r>
              <a:rPr lang="en-US" sz="2850">
                <a:solidFill>
                  <a:srgbClr val="FFFFFF"/>
                </a:solidFill>
                <a:latin typeface="Syne ExtraBold"/>
                <a:ea typeface="Syne ExtraBold"/>
                <a:cs typeface="Syne ExtraBold"/>
                <a:sym typeface="Syne ExtraBold"/>
              </a:rPr>
              <a:t>Explanation of the Tested Models </a:t>
            </a:r>
            <a:endParaRPr b="0" sz="2850">
              <a:solidFill>
                <a:srgbClr val="FFFFFF"/>
              </a:solidFill>
              <a:latin typeface="Syne ExtraBold"/>
              <a:ea typeface="Syne ExtraBold"/>
              <a:cs typeface="Syne ExtraBold"/>
              <a:sym typeface="Syne ExtraBold"/>
            </a:endParaRPr>
          </a:p>
        </p:txBody>
      </p:sp>
      <p:grpSp>
        <p:nvGrpSpPr>
          <p:cNvPr id="487" name="Google Shape;487;p55"/>
          <p:cNvGrpSpPr/>
          <p:nvPr/>
        </p:nvGrpSpPr>
        <p:grpSpPr>
          <a:xfrm>
            <a:off x="723967" y="1414497"/>
            <a:ext cx="2988269" cy="2973963"/>
            <a:chOff x="6276967" y="1333565"/>
            <a:chExt cx="5238900" cy="9483300"/>
          </a:xfrm>
        </p:grpSpPr>
        <p:sp>
          <p:nvSpPr>
            <p:cNvPr id="488" name="Google Shape;488;p55"/>
            <p:cNvSpPr/>
            <p:nvPr/>
          </p:nvSpPr>
          <p:spPr>
            <a:xfrm>
              <a:off x="6276967" y="1333565"/>
              <a:ext cx="5238900" cy="94833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55"/>
            <p:cNvSpPr txBox="1"/>
            <p:nvPr/>
          </p:nvSpPr>
          <p:spPr>
            <a:xfrm>
              <a:off x="6515177" y="1824104"/>
              <a:ext cx="4762500" cy="797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800">
                  <a:solidFill>
                    <a:schemeClr val="lt1"/>
                  </a:solidFill>
                  <a:latin typeface="Syne"/>
                  <a:ea typeface="Syne"/>
                  <a:cs typeface="Syne"/>
                  <a:sym typeface="Syne"/>
                </a:rPr>
                <a:t>REGRESSION</a:t>
              </a:r>
              <a:endParaRPr b="1" sz="1800">
                <a:solidFill>
                  <a:schemeClr val="lt1"/>
                </a:solidFill>
                <a:latin typeface="Syne"/>
                <a:ea typeface="Syne"/>
                <a:cs typeface="Syne"/>
                <a:sym typeface="Syne"/>
              </a:endParaRPr>
            </a:p>
            <a:p>
              <a:pPr indent="0" lvl="0" marL="0" rtl="0" algn="l">
                <a:spcBef>
                  <a:spcPts val="1500"/>
                </a:spcBef>
                <a:spcAft>
                  <a:spcPts val="0"/>
                </a:spcAft>
                <a:buClr>
                  <a:schemeClr val="dk1"/>
                </a:buClr>
                <a:buSzPts val="1100"/>
                <a:buFont typeface="Arial"/>
                <a:buNone/>
              </a:pPr>
              <a:r>
                <a:rPr lang="en-US">
                  <a:solidFill>
                    <a:schemeClr val="dk1"/>
                  </a:solidFill>
                </a:rPr>
                <a:t> </a:t>
              </a:r>
              <a:r>
                <a:rPr lang="en-US" sz="1300">
                  <a:solidFill>
                    <a:srgbClr val="CBD5E1"/>
                  </a:solidFill>
                  <a:latin typeface="Inter"/>
                  <a:ea typeface="Inter"/>
                  <a:cs typeface="Inter"/>
                  <a:sym typeface="Inter"/>
                </a:rPr>
                <a:t>- Linear Regression</a:t>
              </a:r>
              <a:endParaRPr sz="1300">
                <a:solidFill>
                  <a:srgbClr val="CBD5E1"/>
                </a:solidFill>
                <a:latin typeface="Inter"/>
                <a:ea typeface="Inter"/>
                <a:cs typeface="Inter"/>
                <a:sym typeface="Inter"/>
              </a:endParaRPr>
            </a:p>
            <a:p>
              <a:pPr indent="0" lvl="0" marL="0" rtl="0" algn="l">
                <a:spcBef>
                  <a:spcPts val="1125"/>
                </a:spcBef>
                <a:spcAft>
                  <a:spcPts val="0"/>
                </a:spcAft>
                <a:buClr>
                  <a:schemeClr val="dk1"/>
                </a:buClr>
                <a:buSzPts val="1100"/>
                <a:buFont typeface="Arial"/>
                <a:buNone/>
              </a:pPr>
              <a:r>
                <a:rPr lang="en-US" sz="1300">
                  <a:solidFill>
                    <a:srgbClr val="CBD5E1"/>
                  </a:solidFill>
                  <a:latin typeface="Inter"/>
                  <a:ea typeface="Inter"/>
                  <a:cs typeface="Inter"/>
                  <a:sym typeface="Inter"/>
                </a:rPr>
                <a:t>- Random Forest Regressor</a:t>
              </a:r>
              <a:endParaRPr sz="1300">
                <a:solidFill>
                  <a:srgbClr val="CBD5E1"/>
                </a:solidFill>
                <a:latin typeface="Inter"/>
                <a:ea typeface="Inter"/>
                <a:cs typeface="Inter"/>
                <a:sym typeface="Inter"/>
              </a:endParaRPr>
            </a:p>
            <a:p>
              <a:pPr indent="0" lvl="0" marL="0" rtl="0" algn="l">
                <a:spcBef>
                  <a:spcPts val="1125"/>
                </a:spcBef>
                <a:spcAft>
                  <a:spcPts val="0"/>
                </a:spcAft>
                <a:buClr>
                  <a:schemeClr val="dk1"/>
                </a:buClr>
                <a:buSzPts val="1100"/>
                <a:buFont typeface="Arial"/>
                <a:buNone/>
              </a:pPr>
              <a:r>
                <a:rPr lang="en-US" sz="1300">
                  <a:solidFill>
                    <a:srgbClr val="CBD5E1"/>
                  </a:solidFill>
                  <a:latin typeface="Inter"/>
                  <a:ea typeface="Inter"/>
                  <a:cs typeface="Inter"/>
                  <a:sym typeface="Inter"/>
                </a:rPr>
                <a:t>- Gradient Boosting</a:t>
              </a:r>
              <a:endParaRPr sz="1300">
                <a:solidFill>
                  <a:srgbClr val="CBD5E1"/>
                </a:solidFill>
                <a:latin typeface="Inter"/>
                <a:ea typeface="Inter"/>
                <a:cs typeface="Inter"/>
                <a:sym typeface="Inter"/>
              </a:endParaRPr>
            </a:p>
            <a:p>
              <a:pPr indent="0" lvl="0" marL="0" rtl="0" algn="l">
                <a:spcBef>
                  <a:spcPts val="1125"/>
                </a:spcBef>
                <a:spcAft>
                  <a:spcPts val="0"/>
                </a:spcAft>
                <a:buClr>
                  <a:schemeClr val="dk1"/>
                </a:buClr>
                <a:buSzPts val="1100"/>
                <a:buFont typeface="Arial"/>
                <a:buNone/>
              </a:pPr>
              <a:r>
                <a:rPr lang="en-US" sz="1300">
                  <a:solidFill>
                    <a:srgbClr val="CBD5E1"/>
                  </a:solidFill>
                  <a:latin typeface="Inter"/>
                  <a:ea typeface="Inter"/>
                  <a:cs typeface="Inter"/>
                  <a:sym typeface="Inter"/>
                </a:rPr>
                <a:t>- Decision Tree Regressor</a:t>
              </a:r>
              <a:endParaRPr sz="1300">
                <a:solidFill>
                  <a:srgbClr val="CBD5E1"/>
                </a:solidFill>
                <a:latin typeface="Inter"/>
                <a:ea typeface="Inter"/>
                <a:cs typeface="Inter"/>
                <a:sym typeface="Inter"/>
              </a:endParaRPr>
            </a:p>
            <a:p>
              <a:pPr indent="0" lvl="0" marL="0" rtl="0" algn="l">
                <a:spcBef>
                  <a:spcPts val="1125"/>
                </a:spcBef>
                <a:spcAft>
                  <a:spcPts val="0"/>
                </a:spcAft>
                <a:buClr>
                  <a:schemeClr val="dk1"/>
                </a:buClr>
                <a:buSzPts val="1100"/>
                <a:buFont typeface="Arial"/>
                <a:buNone/>
              </a:pPr>
              <a:r>
                <a:rPr lang="en-US" sz="1300">
                  <a:solidFill>
                    <a:srgbClr val="CBD5E1"/>
                  </a:solidFill>
                  <a:latin typeface="Inter"/>
                  <a:ea typeface="Inter"/>
                  <a:cs typeface="Inter"/>
                  <a:sym typeface="Inter"/>
                </a:rPr>
                <a:t>- KNN Regressor</a:t>
              </a:r>
              <a:endParaRPr sz="1300">
                <a:solidFill>
                  <a:srgbClr val="CBD5E1"/>
                </a:solidFill>
                <a:latin typeface="Inter"/>
                <a:ea typeface="Inter"/>
                <a:cs typeface="Inter"/>
                <a:sym typeface="Inter"/>
              </a:endParaRPr>
            </a:p>
            <a:p>
              <a:pPr indent="0" lvl="0" marL="0" rtl="0" algn="l">
                <a:spcBef>
                  <a:spcPts val="1125"/>
                </a:spcBef>
                <a:spcAft>
                  <a:spcPts val="1125"/>
                </a:spcAft>
                <a:buClr>
                  <a:schemeClr val="dk1"/>
                </a:buClr>
                <a:buSzPts val="1100"/>
                <a:buFont typeface="Arial"/>
                <a:buNone/>
              </a:pPr>
              <a:r>
                <a:rPr lang="en-US" sz="1300">
                  <a:solidFill>
                    <a:srgbClr val="CBD5E1"/>
                  </a:solidFill>
                  <a:latin typeface="Inter"/>
                  <a:ea typeface="Inter"/>
                  <a:cs typeface="Inter"/>
                  <a:sym typeface="Inter"/>
                </a:rPr>
                <a:t>- Neural Network</a:t>
              </a:r>
              <a:endParaRPr b="1" sz="1800">
                <a:solidFill>
                  <a:srgbClr val="FFFFFF"/>
                </a:solidFill>
                <a:latin typeface="Syne"/>
                <a:ea typeface="Syne"/>
                <a:cs typeface="Syne"/>
                <a:sym typeface="Syne"/>
              </a:endParaRPr>
            </a:p>
          </p:txBody>
        </p:sp>
      </p:grpSp>
      <p:pic>
        <p:nvPicPr>
          <p:cNvPr id="490" name="Google Shape;490;p55"/>
          <p:cNvPicPr preferRelativeResize="0"/>
          <p:nvPr/>
        </p:nvPicPr>
        <p:blipFill>
          <a:blip r:embed="rId4">
            <a:alphaModFix/>
          </a:blip>
          <a:stretch>
            <a:fillRect/>
          </a:stretch>
        </p:blipFill>
        <p:spPr>
          <a:xfrm>
            <a:off x="3977573" y="1360050"/>
            <a:ext cx="2259931" cy="2259931"/>
          </a:xfrm>
          <a:prstGeom prst="rect">
            <a:avLst/>
          </a:prstGeom>
          <a:noFill/>
          <a:ln>
            <a:noFill/>
          </a:ln>
        </p:spPr>
      </p:pic>
      <p:pic>
        <p:nvPicPr>
          <p:cNvPr id="491" name="Google Shape;491;p55"/>
          <p:cNvPicPr preferRelativeResize="0"/>
          <p:nvPr/>
        </p:nvPicPr>
        <p:blipFill rotWithShape="1">
          <a:blip r:embed="rId5">
            <a:alphaModFix/>
          </a:blip>
          <a:srcRect b="0" l="15030" r="13537" t="0"/>
          <a:stretch/>
        </p:blipFill>
        <p:spPr>
          <a:xfrm>
            <a:off x="6379037" y="1360050"/>
            <a:ext cx="2259927" cy="2259925"/>
          </a:xfrm>
          <a:prstGeom prst="rect">
            <a:avLst/>
          </a:prstGeom>
          <a:noFill/>
          <a:ln>
            <a:noFill/>
          </a:ln>
        </p:spPr>
      </p:pic>
      <p:pic>
        <p:nvPicPr>
          <p:cNvPr id="492" name="Google Shape;492;p55"/>
          <p:cNvPicPr preferRelativeResize="0"/>
          <p:nvPr/>
        </p:nvPicPr>
        <p:blipFill rotWithShape="1">
          <a:blip r:embed="rId6">
            <a:alphaModFix/>
          </a:blip>
          <a:srcRect b="0" l="13119" r="13097" t="0"/>
          <a:stretch/>
        </p:blipFill>
        <p:spPr>
          <a:xfrm>
            <a:off x="4171525" y="3773600"/>
            <a:ext cx="2868326" cy="2446675"/>
          </a:xfrm>
          <a:prstGeom prst="rect">
            <a:avLst/>
          </a:prstGeom>
          <a:noFill/>
          <a:ln>
            <a:noFill/>
          </a:ln>
        </p:spPr>
      </p:pic>
      <p:pic>
        <p:nvPicPr>
          <p:cNvPr id="493" name="Google Shape;493;p55"/>
          <p:cNvPicPr preferRelativeResize="0"/>
          <p:nvPr/>
        </p:nvPicPr>
        <p:blipFill>
          <a:blip r:embed="rId7">
            <a:alphaModFix/>
          </a:blip>
          <a:stretch>
            <a:fillRect/>
          </a:stretch>
        </p:blipFill>
        <p:spPr>
          <a:xfrm>
            <a:off x="636287" y="4619901"/>
            <a:ext cx="3163624" cy="2096159"/>
          </a:xfrm>
          <a:prstGeom prst="rect">
            <a:avLst/>
          </a:prstGeom>
          <a:noFill/>
          <a:ln>
            <a:noFill/>
          </a:ln>
        </p:spPr>
      </p:pic>
      <p:pic>
        <p:nvPicPr>
          <p:cNvPr id="494" name="Google Shape;494;p55"/>
          <p:cNvPicPr preferRelativeResize="0"/>
          <p:nvPr/>
        </p:nvPicPr>
        <p:blipFill rotWithShape="1">
          <a:blip r:embed="rId8">
            <a:alphaModFix/>
          </a:blip>
          <a:srcRect b="12742" l="8269" r="8460" t="7570"/>
          <a:stretch/>
        </p:blipFill>
        <p:spPr>
          <a:xfrm>
            <a:off x="8780500" y="1353563"/>
            <a:ext cx="3163625" cy="2272898"/>
          </a:xfrm>
          <a:prstGeom prst="rect">
            <a:avLst/>
          </a:prstGeom>
          <a:noFill/>
          <a:ln>
            <a:noFill/>
          </a:ln>
        </p:spPr>
      </p:pic>
      <p:pic>
        <p:nvPicPr>
          <p:cNvPr id="495" name="Google Shape;495;p55"/>
          <p:cNvPicPr preferRelativeResize="0"/>
          <p:nvPr/>
        </p:nvPicPr>
        <p:blipFill>
          <a:blip r:embed="rId9">
            <a:alphaModFix/>
          </a:blip>
          <a:stretch>
            <a:fillRect/>
          </a:stretch>
        </p:blipFill>
        <p:spPr>
          <a:xfrm>
            <a:off x="7289750" y="3773600"/>
            <a:ext cx="3883608" cy="2446676"/>
          </a:xfrm>
          <a:prstGeom prst="rect">
            <a:avLst/>
          </a:prstGeom>
          <a:noFill/>
          <a:ln>
            <a:noFill/>
          </a:ln>
        </p:spPr>
      </p:pic>
      <p:sp>
        <p:nvSpPr>
          <p:cNvPr id="496" name="Google Shape;496;p55"/>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0" name="Shape 500"/>
        <p:cNvGrpSpPr/>
        <p:nvPr/>
      </p:nvGrpSpPr>
      <p:grpSpPr>
        <a:xfrm>
          <a:off x="0" y="0"/>
          <a:ext cx="0" cy="0"/>
          <a:chOff x="0" y="0"/>
          <a:chExt cx="0" cy="0"/>
        </a:xfrm>
      </p:grpSpPr>
      <p:sp>
        <p:nvSpPr>
          <p:cNvPr id="501" name="Google Shape;501;p56"/>
          <p:cNvSpPr txBox="1"/>
          <p:nvPr/>
        </p:nvSpPr>
        <p:spPr>
          <a:xfrm>
            <a:off x="534100" y="1722175"/>
            <a:ext cx="10830000" cy="246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600"/>
          </a:p>
        </p:txBody>
      </p:sp>
      <p:sp>
        <p:nvSpPr>
          <p:cNvPr id="502" name="Google Shape;502;p56"/>
          <p:cNvSpPr txBox="1"/>
          <p:nvPr/>
        </p:nvSpPr>
        <p:spPr>
          <a:xfrm>
            <a:off x="819150" y="389525"/>
            <a:ext cx="11231400" cy="1083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lang="en-US" sz="3200">
                <a:solidFill>
                  <a:srgbClr val="FFFFFF"/>
                </a:solidFill>
                <a:latin typeface="Syne ExtraBold"/>
                <a:ea typeface="Syne ExtraBold"/>
                <a:cs typeface="Syne ExtraBold"/>
                <a:sym typeface="Syne ExtraBold"/>
              </a:rPr>
              <a:t>M</a:t>
            </a:r>
            <a:r>
              <a:rPr lang="en-US" sz="3200">
                <a:solidFill>
                  <a:srgbClr val="FFFFFF"/>
                </a:solidFill>
                <a:latin typeface="Syne ExtraBold"/>
                <a:ea typeface="Syne ExtraBold"/>
                <a:cs typeface="Syne ExtraBold"/>
                <a:sym typeface="Syne ExtraBold"/>
              </a:rPr>
              <a:t>odel 1: Q</a:t>
            </a:r>
            <a:r>
              <a:rPr lang="en-US" sz="3200">
                <a:solidFill>
                  <a:srgbClr val="FFFFFF"/>
                </a:solidFill>
                <a:latin typeface="Syne ExtraBold"/>
                <a:ea typeface="Syne ExtraBold"/>
                <a:cs typeface="Syne ExtraBold"/>
                <a:sym typeface="Syne ExtraBold"/>
              </a:rPr>
              <a:t>uestionnaire</a:t>
            </a:r>
            <a:r>
              <a:rPr lang="en-US" sz="3200">
                <a:solidFill>
                  <a:srgbClr val="FFFFFF"/>
                </a:solidFill>
                <a:latin typeface="Syne ExtraBold"/>
                <a:ea typeface="Syne ExtraBold"/>
                <a:cs typeface="Syne ExtraBold"/>
                <a:sym typeface="Syne ExtraBold"/>
              </a:rPr>
              <a:t> 1 (target-area of study)</a:t>
            </a:r>
            <a:endParaRPr sz="3200"/>
          </a:p>
        </p:txBody>
      </p:sp>
      <p:sp>
        <p:nvSpPr>
          <p:cNvPr id="503" name="Google Shape;503;p56"/>
          <p:cNvSpPr/>
          <p:nvPr/>
        </p:nvSpPr>
        <p:spPr>
          <a:xfrm>
            <a:off x="681025" y="485775"/>
            <a:ext cx="42900" cy="8988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04" name="Google Shape;504;p56"/>
          <p:cNvPicPr preferRelativeResize="0"/>
          <p:nvPr/>
        </p:nvPicPr>
        <p:blipFill>
          <a:blip r:embed="rId4">
            <a:alphaModFix/>
          </a:blip>
          <a:stretch>
            <a:fillRect/>
          </a:stretch>
        </p:blipFill>
        <p:spPr>
          <a:xfrm>
            <a:off x="1303925" y="2120875"/>
            <a:ext cx="9877425" cy="3590925"/>
          </a:xfrm>
          <a:prstGeom prst="rect">
            <a:avLst/>
          </a:prstGeom>
          <a:noFill/>
          <a:ln>
            <a:noFill/>
          </a:ln>
        </p:spPr>
      </p:pic>
      <p:sp>
        <p:nvSpPr>
          <p:cNvPr id="505" name="Google Shape;505;p56"/>
          <p:cNvSpPr txBox="1"/>
          <p:nvPr>
            <p:ph idx="12" type="sldNum"/>
          </p:nvPr>
        </p:nvSpPr>
        <p:spPr>
          <a:xfrm>
            <a:off x="9854375" y="63595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57"/>
          <p:cNvSpPr/>
          <p:nvPr/>
        </p:nvSpPr>
        <p:spPr>
          <a:xfrm>
            <a:off x="676275" y="485775"/>
            <a:ext cx="47700" cy="438300"/>
          </a:xfrm>
          <a:prstGeom prst="rect">
            <a:avLst/>
          </a:prstGeom>
          <a:solidFill>
            <a:srgbClr val="A78B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57"/>
          <p:cNvSpPr txBox="1"/>
          <p:nvPr/>
        </p:nvSpPr>
        <p:spPr>
          <a:xfrm>
            <a:off x="819150" y="485775"/>
            <a:ext cx="10477500" cy="438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3200"/>
              </a:spcBef>
              <a:spcAft>
                <a:spcPts val="800"/>
              </a:spcAft>
              <a:buNone/>
            </a:pPr>
            <a:r>
              <a:rPr lang="en-US" sz="3200">
                <a:solidFill>
                  <a:srgbClr val="FFFFFF"/>
                </a:solidFill>
                <a:latin typeface="Syne ExtraBold"/>
                <a:ea typeface="Syne ExtraBold"/>
                <a:cs typeface="Syne ExtraBold"/>
                <a:sym typeface="Syne ExtraBold"/>
              </a:rPr>
              <a:t>Why Random Forest?</a:t>
            </a:r>
            <a:endParaRPr b="0" sz="3200">
              <a:solidFill>
                <a:srgbClr val="FFFFFF"/>
              </a:solidFill>
              <a:latin typeface="Syne ExtraBold"/>
              <a:ea typeface="Syne ExtraBold"/>
              <a:cs typeface="Syne ExtraBold"/>
              <a:sym typeface="Syne ExtraBold"/>
            </a:endParaRPr>
          </a:p>
        </p:txBody>
      </p:sp>
      <p:grpSp>
        <p:nvGrpSpPr>
          <p:cNvPr id="512" name="Google Shape;512;p57"/>
          <p:cNvGrpSpPr/>
          <p:nvPr/>
        </p:nvGrpSpPr>
        <p:grpSpPr>
          <a:xfrm>
            <a:off x="756814" y="1378994"/>
            <a:ext cx="3178441" cy="1043559"/>
            <a:chOff x="6276975" y="1333500"/>
            <a:chExt cx="5238900" cy="4191000"/>
          </a:xfrm>
        </p:grpSpPr>
        <p:sp>
          <p:nvSpPr>
            <p:cNvPr id="513" name="Google Shape;513;p57"/>
            <p:cNvSpPr/>
            <p:nvPr/>
          </p:nvSpPr>
          <p:spPr>
            <a:xfrm>
              <a:off x="6276975" y="1333500"/>
              <a:ext cx="5238900" cy="41910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4" name="Google Shape;514;p57"/>
            <p:cNvSpPr txBox="1"/>
            <p:nvPr/>
          </p:nvSpPr>
          <p:spPr>
            <a:xfrm>
              <a:off x="6515106" y="1571632"/>
              <a:ext cx="4762500" cy="2262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500"/>
                </a:spcAft>
                <a:buNone/>
              </a:pPr>
              <a:r>
                <a:rPr b="1" lang="en-US" sz="1800">
                  <a:solidFill>
                    <a:srgbClr val="FFFFFF"/>
                  </a:solidFill>
                  <a:latin typeface="Syne"/>
                  <a:ea typeface="Syne"/>
                  <a:cs typeface="Syne"/>
                  <a:sym typeface="Syne"/>
                </a:rPr>
                <a:t>Superior handling of </a:t>
              </a:r>
              <a:r>
                <a:rPr b="1" lang="en-US" sz="1800">
                  <a:solidFill>
                    <a:srgbClr val="FFFFFF"/>
                  </a:solidFill>
                  <a:latin typeface="Syne"/>
                  <a:ea typeface="Syne"/>
                  <a:cs typeface="Syne"/>
                  <a:sym typeface="Syne"/>
                </a:rPr>
                <a:t>overlapping</a:t>
              </a:r>
              <a:r>
                <a:rPr b="1" lang="en-US" sz="1800">
                  <a:solidFill>
                    <a:srgbClr val="FFFFFF"/>
                  </a:solidFill>
                  <a:latin typeface="Syne"/>
                  <a:ea typeface="Syne"/>
                  <a:cs typeface="Syne"/>
                  <a:sym typeface="Syne"/>
                </a:rPr>
                <a:t> academic fields</a:t>
              </a:r>
              <a:endParaRPr i="1" sz="1100">
                <a:solidFill>
                  <a:srgbClr val="64748B"/>
                </a:solidFill>
                <a:latin typeface="Inter"/>
                <a:ea typeface="Inter"/>
                <a:cs typeface="Inter"/>
                <a:sym typeface="Inter"/>
              </a:endParaRPr>
            </a:p>
          </p:txBody>
        </p:sp>
      </p:grpSp>
      <p:grpSp>
        <p:nvGrpSpPr>
          <p:cNvPr id="515" name="Google Shape;515;p57"/>
          <p:cNvGrpSpPr/>
          <p:nvPr/>
        </p:nvGrpSpPr>
        <p:grpSpPr>
          <a:xfrm>
            <a:off x="4539672" y="1378912"/>
            <a:ext cx="2988269" cy="1114387"/>
            <a:chOff x="6276975" y="1333500"/>
            <a:chExt cx="5238900" cy="4191000"/>
          </a:xfrm>
        </p:grpSpPr>
        <p:sp>
          <p:nvSpPr>
            <p:cNvPr id="516" name="Google Shape;516;p57"/>
            <p:cNvSpPr/>
            <p:nvPr/>
          </p:nvSpPr>
          <p:spPr>
            <a:xfrm>
              <a:off x="6276975" y="1333500"/>
              <a:ext cx="5238900" cy="41910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7" name="Google Shape;517;p57"/>
            <p:cNvSpPr txBox="1"/>
            <p:nvPr/>
          </p:nvSpPr>
          <p:spPr>
            <a:xfrm>
              <a:off x="6348255" y="1333529"/>
              <a:ext cx="5167500" cy="349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500"/>
                </a:spcAft>
                <a:buNone/>
              </a:pPr>
              <a:r>
                <a:rPr b="1" lang="en-US" sz="1800">
                  <a:solidFill>
                    <a:srgbClr val="FFFFFF"/>
                  </a:solidFill>
                  <a:latin typeface="Syne"/>
                  <a:ea typeface="Syne"/>
                  <a:cs typeface="Syne"/>
                  <a:sym typeface="Syne"/>
                </a:rPr>
                <a:t>High resistance to overfitting compared to single Decision Trees</a:t>
              </a:r>
              <a:endParaRPr i="1" sz="1100">
                <a:solidFill>
                  <a:srgbClr val="64748B"/>
                </a:solidFill>
                <a:latin typeface="Inter"/>
                <a:ea typeface="Inter"/>
                <a:cs typeface="Inter"/>
                <a:sym typeface="Inter"/>
              </a:endParaRPr>
            </a:p>
          </p:txBody>
        </p:sp>
      </p:grpSp>
      <p:grpSp>
        <p:nvGrpSpPr>
          <p:cNvPr id="518" name="Google Shape;518;p57"/>
          <p:cNvGrpSpPr/>
          <p:nvPr/>
        </p:nvGrpSpPr>
        <p:grpSpPr>
          <a:xfrm>
            <a:off x="8132312" y="1378978"/>
            <a:ext cx="3226660" cy="1043562"/>
            <a:chOff x="6276940" y="1333489"/>
            <a:chExt cx="5238935" cy="4191011"/>
          </a:xfrm>
        </p:grpSpPr>
        <p:sp>
          <p:nvSpPr>
            <p:cNvPr id="519" name="Google Shape;519;p57"/>
            <p:cNvSpPr/>
            <p:nvPr/>
          </p:nvSpPr>
          <p:spPr>
            <a:xfrm>
              <a:off x="6276975" y="1333500"/>
              <a:ext cx="5238900" cy="41910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57"/>
            <p:cNvSpPr txBox="1"/>
            <p:nvPr/>
          </p:nvSpPr>
          <p:spPr>
            <a:xfrm>
              <a:off x="6276940" y="1333489"/>
              <a:ext cx="5238900" cy="2851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500"/>
                </a:spcAft>
                <a:buNone/>
              </a:pPr>
              <a:r>
                <a:rPr b="1" lang="en-US" sz="1800">
                  <a:solidFill>
                    <a:srgbClr val="FFFFFF"/>
                  </a:solidFill>
                  <a:latin typeface="Syne"/>
                  <a:ea typeface="Syne"/>
                  <a:cs typeface="Syne"/>
                  <a:sym typeface="Syne"/>
                </a:rPr>
                <a:t>unmatched robustness without requiring tedious data preprocessing</a:t>
              </a:r>
              <a:endParaRPr i="1" sz="1100">
                <a:solidFill>
                  <a:srgbClr val="64748B"/>
                </a:solidFill>
                <a:latin typeface="Inter"/>
                <a:ea typeface="Inter"/>
                <a:cs typeface="Inter"/>
                <a:sym typeface="Inter"/>
              </a:endParaRPr>
            </a:p>
          </p:txBody>
        </p:sp>
      </p:grpSp>
      <p:pic>
        <p:nvPicPr>
          <p:cNvPr id="521" name="Google Shape;521;p57"/>
          <p:cNvPicPr preferRelativeResize="0"/>
          <p:nvPr/>
        </p:nvPicPr>
        <p:blipFill>
          <a:blip r:embed="rId4">
            <a:alphaModFix/>
          </a:blip>
          <a:stretch>
            <a:fillRect/>
          </a:stretch>
        </p:blipFill>
        <p:spPr>
          <a:xfrm>
            <a:off x="676275" y="3106900"/>
            <a:ext cx="5689700" cy="2685700"/>
          </a:xfrm>
          <a:prstGeom prst="rect">
            <a:avLst/>
          </a:prstGeom>
          <a:noFill/>
          <a:ln>
            <a:noFill/>
          </a:ln>
        </p:spPr>
      </p:pic>
      <p:pic>
        <p:nvPicPr>
          <p:cNvPr id="522" name="Google Shape;522;p57"/>
          <p:cNvPicPr preferRelativeResize="0"/>
          <p:nvPr/>
        </p:nvPicPr>
        <p:blipFill rotWithShape="1">
          <a:blip r:embed="rId5">
            <a:alphaModFix/>
          </a:blip>
          <a:srcRect b="0" l="0" r="4068" t="0"/>
          <a:stretch/>
        </p:blipFill>
        <p:spPr>
          <a:xfrm>
            <a:off x="6644450" y="4102900"/>
            <a:ext cx="5014799" cy="1689700"/>
          </a:xfrm>
          <a:prstGeom prst="rect">
            <a:avLst/>
          </a:prstGeom>
          <a:noFill/>
          <a:ln>
            <a:noFill/>
          </a:ln>
        </p:spPr>
      </p:pic>
      <p:grpSp>
        <p:nvGrpSpPr>
          <p:cNvPr id="523" name="Google Shape;523;p57"/>
          <p:cNvGrpSpPr/>
          <p:nvPr/>
        </p:nvGrpSpPr>
        <p:grpSpPr>
          <a:xfrm>
            <a:off x="7538537" y="2740893"/>
            <a:ext cx="3226660" cy="889752"/>
            <a:chOff x="6276940" y="1333489"/>
            <a:chExt cx="5238935" cy="4191011"/>
          </a:xfrm>
        </p:grpSpPr>
        <p:sp>
          <p:nvSpPr>
            <p:cNvPr id="524" name="Google Shape;524;p57"/>
            <p:cNvSpPr/>
            <p:nvPr/>
          </p:nvSpPr>
          <p:spPr>
            <a:xfrm>
              <a:off x="6276975" y="1333500"/>
              <a:ext cx="5238900" cy="4191000"/>
            </a:xfrm>
            <a:prstGeom prst="roundRect">
              <a:avLst>
                <a:gd fmla="val 2727" name="adj"/>
              </a:avLst>
            </a:prstGeom>
            <a:solidFill>
              <a:srgbClr val="161B28"/>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57"/>
            <p:cNvSpPr txBox="1"/>
            <p:nvPr/>
          </p:nvSpPr>
          <p:spPr>
            <a:xfrm>
              <a:off x="6276940" y="1333489"/>
              <a:ext cx="5238900" cy="2851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500"/>
                </a:spcAft>
                <a:buNone/>
              </a:pPr>
              <a:r>
                <a:rPr b="1" lang="en-US" sz="1800">
                  <a:solidFill>
                    <a:srgbClr val="FFFFFF"/>
                  </a:solidFill>
                  <a:latin typeface="Syne"/>
                  <a:ea typeface="Syne"/>
                  <a:cs typeface="Syne"/>
                  <a:sym typeface="Syne"/>
                </a:rPr>
                <a:t>makes no assumptions and is far more resilient to noisy data</a:t>
              </a:r>
              <a:endParaRPr i="1" sz="1100">
                <a:solidFill>
                  <a:srgbClr val="64748B"/>
                </a:solidFill>
                <a:latin typeface="Inter"/>
                <a:ea typeface="Inter"/>
                <a:cs typeface="Inter"/>
                <a:sym typeface="Inter"/>
              </a:endParaRPr>
            </a:p>
          </p:txBody>
        </p:sp>
      </p:grpSp>
      <p:sp>
        <p:nvSpPr>
          <p:cNvPr id="526" name="Google Shape;526;p57"/>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0" name="Shape 530"/>
        <p:cNvGrpSpPr/>
        <p:nvPr/>
      </p:nvGrpSpPr>
      <p:grpSpPr>
        <a:xfrm>
          <a:off x="0" y="0"/>
          <a:ext cx="0" cy="0"/>
          <a:chOff x="0" y="0"/>
          <a:chExt cx="0" cy="0"/>
        </a:xfrm>
      </p:grpSpPr>
      <p:sp>
        <p:nvSpPr>
          <p:cNvPr id="531" name="Google Shape;531;p58"/>
          <p:cNvSpPr txBox="1"/>
          <p:nvPr/>
        </p:nvSpPr>
        <p:spPr>
          <a:xfrm>
            <a:off x="819150" y="400900"/>
            <a:ext cx="11231400" cy="1083600"/>
          </a:xfrm>
          <a:prstGeom prst="rect">
            <a:avLst/>
          </a:prstGeom>
          <a:noFill/>
          <a:ln>
            <a:noFill/>
          </a:ln>
        </p:spPr>
        <p:txBody>
          <a:bodyPr anchorCtr="0" anchor="ctr" bIns="0" lIns="0" spcFirstLastPara="1" rIns="0" wrap="square" tIns="0">
            <a:spAutoFit/>
          </a:bodyPr>
          <a:lstStyle/>
          <a:p>
            <a:pPr indent="0" lvl="0" marL="0" rtl="0" algn="l">
              <a:lnSpc>
                <a:spcPct val="120000"/>
              </a:lnSpc>
              <a:spcBef>
                <a:spcPts val="0"/>
              </a:spcBef>
              <a:spcAft>
                <a:spcPts val="0"/>
              </a:spcAft>
              <a:buClr>
                <a:schemeClr val="dk1"/>
              </a:buClr>
              <a:buFont typeface="Arial"/>
              <a:buNone/>
            </a:pPr>
            <a:r>
              <a:rPr lang="en-US" sz="3200">
                <a:solidFill>
                  <a:schemeClr val="lt1"/>
                </a:solidFill>
                <a:latin typeface="Syne ExtraBold"/>
                <a:ea typeface="Syne ExtraBold"/>
                <a:cs typeface="Syne ExtraBold"/>
                <a:sym typeface="Syne ExtraBold"/>
              </a:rPr>
              <a:t>M</a:t>
            </a:r>
            <a:r>
              <a:rPr lang="en-US" sz="3200">
                <a:solidFill>
                  <a:schemeClr val="lt1"/>
                </a:solidFill>
                <a:latin typeface="Syne ExtraBold"/>
                <a:ea typeface="Syne ExtraBold"/>
                <a:cs typeface="Syne ExtraBold"/>
                <a:sym typeface="Syne ExtraBold"/>
              </a:rPr>
              <a:t>odel 2: Questionnaire 1 </a:t>
            </a:r>
            <a:endParaRPr sz="3200">
              <a:solidFill>
                <a:schemeClr val="lt1"/>
              </a:solidFill>
              <a:latin typeface="Syne ExtraBold"/>
              <a:ea typeface="Syne ExtraBold"/>
              <a:cs typeface="Syne ExtraBold"/>
              <a:sym typeface="Syne ExtraBold"/>
            </a:endParaRPr>
          </a:p>
          <a:p>
            <a:pPr indent="0" lvl="0" marL="0" rtl="0" algn="l">
              <a:lnSpc>
                <a:spcPct val="120000"/>
              </a:lnSpc>
              <a:spcBef>
                <a:spcPts val="0"/>
              </a:spcBef>
              <a:spcAft>
                <a:spcPts val="0"/>
              </a:spcAft>
              <a:buClr>
                <a:schemeClr val="dk1"/>
              </a:buClr>
              <a:buFont typeface="Arial"/>
              <a:buNone/>
            </a:pPr>
            <a:r>
              <a:rPr lang="en-US" sz="3200">
                <a:solidFill>
                  <a:schemeClr val="lt1"/>
                </a:solidFill>
                <a:latin typeface="Syne ExtraBold"/>
                <a:ea typeface="Syne ExtraBold"/>
                <a:cs typeface="Syne ExtraBold"/>
                <a:sym typeface="Syne ExtraBold"/>
              </a:rPr>
              <a:t>(target-satisfaction)</a:t>
            </a:r>
            <a:endParaRPr sz="3200"/>
          </a:p>
        </p:txBody>
      </p:sp>
      <p:pic>
        <p:nvPicPr>
          <p:cNvPr id="532" name="Google Shape;532;p58"/>
          <p:cNvPicPr preferRelativeResize="0"/>
          <p:nvPr/>
        </p:nvPicPr>
        <p:blipFill>
          <a:blip r:embed="rId4">
            <a:alphaModFix/>
          </a:blip>
          <a:stretch>
            <a:fillRect/>
          </a:stretch>
        </p:blipFill>
        <p:spPr>
          <a:xfrm>
            <a:off x="725101" y="1888950"/>
            <a:ext cx="10741774" cy="4286046"/>
          </a:xfrm>
          <a:prstGeom prst="rect">
            <a:avLst/>
          </a:prstGeom>
          <a:noFill/>
          <a:ln>
            <a:noFill/>
          </a:ln>
        </p:spPr>
      </p:pic>
      <p:sp>
        <p:nvSpPr>
          <p:cNvPr id="533" name="Google Shape;533;p58"/>
          <p:cNvSpPr/>
          <p:nvPr/>
        </p:nvSpPr>
        <p:spPr>
          <a:xfrm>
            <a:off x="681025" y="485775"/>
            <a:ext cx="42900" cy="8988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58"/>
          <p:cNvSpPr txBox="1"/>
          <p:nvPr>
            <p:ph idx="12" type="sldNum"/>
          </p:nvPr>
        </p:nvSpPr>
        <p:spPr>
          <a:xfrm>
            <a:off x="9916950" y="63452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r">
              <a:spcBef>
                <a:spcPts val="0"/>
              </a:spcBef>
              <a:spcAft>
                <a:spcPts val="0"/>
              </a:spcAft>
              <a:buClr>
                <a:srgbClr val="000000"/>
              </a:buClr>
              <a:buFont typeface="Arial"/>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8" name="Shape 538"/>
        <p:cNvGrpSpPr/>
        <p:nvPr/>
      </p:nvGrpSpPr>
      <p:grpSpPr>
        <a:xfrm>
          <a:off x="0" y="0"/>
          <a:ext cx="0" cy="0"/>
          <a:chOff x="0" y="0"/>
          <a:chExt cx="0" cy="0"/>
        </a:xfrm>
      </p:grpSpPr>
      <p:sp>
        <p:nvSpPr>
          <p:cNvPr id="539" name="Google Shape;539;p59"/>
          <p:cNvSpPr txBox="1"/>
          <p:nvPr/>
        </p:nvSpPr>
        <p:spPr>
          <a:xfrm>
            <a:off x="676275" y="1736375"/>
            <a:ext cx="10365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500"/>
          </a:p>
        </p:txBody>
      </p:sp>
      <p:sp>
        <p:nvSpPr>
          <p:cNvPr id="540" name="Google Shape;540;p59"/>
          <p:cNvSpPr txBox="1"/>
          <p:nvPr/>
        </p:nvSpPr>
        <p:spPr>
          <a:xfrm>
            <a:off x="819150" y="485775"/>
            <a:ext cx="11231400" cy="10836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lang="en-US" sz="3200">
                <a:solidFill>
                  <a:srgbClr val="FFFFFF"/>
                </a:solidFill>
                <a:latin typeface="Syne ExtraBold"/>
                <a:ea typeface="Syne ExtraBold"/>
                <a:cs typeface="Syne ExtraBold"/>
                <a:sym typeface="Syne ExtraBold"/>
              </a:rPr>
              <a:t>M</a:t>
            </a:r>
            <a:r>
              <a:rPr lang="en-US" sz="3200">
                <a:solidFill>
                  <a:srgbClr val="FFFFFF"/>
                </a:solidFill>
                <a:latin typeface="Syne ExtraBold"/>
                <a:ea typeface="Syne ExtraBold"/>
                <a:cs typeface="Syne ExtraBold"/>
                <a:sym typeface="Syne ExtraBold"/>
              </a:rPr>
              <a:t>odel 3: Questionnaire 2 </a:t>
            </a:r>
            <a:endParaRPr sz="3200">
              <a:solidFill>
                <a:srgbClr val="FFFFFF"/>
              </a:solidFill>
              <a:latin typeface="Syne ExtraBold"/>
              <a:ea typeface="Syne ExtraBold"/>
              <a:cs typeface="Syne ExtraBold"/>
              <a:sym typeface="Syne ExtraBold"/>
            </a:endParaRPr>
          </a:p>
          <a:p>
            <a:pPr indent="0" lvl="0" marL="0" marR="0" rtl="0" algn="l">
              <a:lnSpc>
                <a:spcPct val="120000"/>
              </a:lnSpc>
              <a:spcBef>
                <a:spcPts val="0"/>
              </a:spcBef>
              <a:spcAft>
                <a:spcPts val="0"/>
              </a:spcAft>
              <a:buNone/>
            </a:pPr>
            <a:r>
              <a:rPr lang="en-US" sz="3200">
                <a:solidFill>
                  <a:srgbClr val="FFFFFF"/>
                </a:solidFill>
                <a:latin typeface="Syne ExtraBold"/>
                <a:ea typeface="Syne ExtraBold"/>
                <a:cs typeface="Syne ExtraBold"/>
                <a:sym typeface="Syne ExtraBold"/>
              </a:rPr>
              <a:t>(target-degree)</a:t>
            </a:r>
            <a:endParaRPr sz="3200"/>
          </a:p>
        </p:txBody>
      </p:sp>
      <p:pic>
        <p:nvPicPr>
          <p:cNvPr id="541" name="Google Shape;541;p59"/>
          <p:cNvPicPr preferRelativeResize="0"/>
          <p:nvPr/>
        </p:nvPicPr>
        <p:blipFill>
          <a:blip r:embed="rId4">
            <a:alphaModFix/>
          </a:blip>
          <a:stretch>
            <a:fillRect/>
          </a:stretch>
        </p:blipFill>
        <p:spPr>
          <a:xfrm>
            <a:off x="1264925" y="2320125"/>
            <a:ext cx="9662149" cy="3383500"/>
          </a:xfrm>
          <a:prstGeom prst="rect">
            <a:avLst/>
          </a:prstGeom>
          <a:noFill/>
          <a:ln>
            <a:noFill/>
          </a:ln>
        </p:spPr>
      </p:pic>
      <p:sp>
        <p:nvSpPr>
          <p:cNvPr id="542" name="Google Shape;542;p59"/>
          <p:cNvSpPr/>
          <p:nvPr/>
        </p:nvSpPr>
        <p:spPr>
          <a:xfrm>
            <a:off x="681025" y="485775"/>
            <a:ext cx="42900" cy="898800"/>
          </a:xfrm>
          <a:prstGeom prst="rect">
            <a:avLst/>
          </a:prstGeom>
          <a:solidFill>
            <a:srgbClr val="A78B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3" name="Google Shape;543;p59"/>
          <p:cNvSpPr txBox="1"/>
          <p:nvPr>
            <p:ph idx="12" type="sldNum"/>
          </p:nvPr>
        </p:nvSpPr>
        <p:spPr>
          <a:xfrm>
            <a:off x="9916950" y="63674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7" name="Shape 547"/>
        <p:cNvGrpSpPr/>
        <p:nvPr/>
      </p:nvGrpSpPr>
      <p:grpSpPr>
        <a:xfrm>
          <a:off x="0" y="0"/>
          <a:ext cx="0" cy="0"/>
          <a:chOff x="0" y="0"/>
          <a:chExt cx="0" cy="0"/>
        </a:xfrm>
      </p:grpSpPr>
      <p:pic>
        <p:nvPicPr>
          <p:cNvPr descr="image.png" id="548" name="Google Shape;548;p60"/>
          <p:cNvPicPr preferRelativeResize="0"/>
          <p:nvPr/>
        </p:nvPicPr>
        <p:blipFill rotWithShape="1">
          <a:blip r:embed="rId4">
            <a:alphaModFix/>
          </a:blip>
          <a:srcRect b="0" l="0" r="0" t="0"/>
          <a:stretch/>
        </p:blipFill>
        <p:spPr>
          <a:xfrm>
            <a:off x="6286500" y="1788225"/>
            <a:ext cx="5334000" cy="1945875"/>
          </a:xfrm>
          <a:prstGeom prst="rect">
            <a:avLst/>
          </a:prstGeom>
          <a:noFill/>
          <a:ln>
            <a:noFill/>
          </a:ln>
        </p:spPr>
      </p:pic>
      <p:sp>
        <p:nvSpPr>
          <p:cNvPr id="549" name="Google Shape;549;p60"/>
          <p:cNvSpPr txBox="1"/>
          <p:nvPr/>
        </p:nvSpPr>
        <p:spPr>
          <a:xfrm>
            <a:off x="866775" y="2083500"/>
            <a:ext cx="4980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550" name="Google Shape;550;p60"/>
          <p:cNvSpPr txBox="1"/>
          <p:nvPr/>
        </p:nvSpPr>
        <p:spPr>
          <a:xfrm>
            <a:off x="6581775" y="1971900"/>
            <a:ext cx="49806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00" u="none" cap="none" strike="noStrike">
                <a:solidFill>
                  <a:srgbClr val="A78BFA"/>
                </a:solidFill>
                <a:latin typeface="Syne"/>
                <a:ea typeface="Syne"/>
                <a:cs typeface="Syne"/>
                <a:sym typeface="Syne"/>
              </a:rPr>
              <a:t>Gaussian Noise Injection</a:t>
            </a:r>
            <a:endParaRPr sz="2200"/>
          </a:p>
        </p:txBody>
      </p:sp>
      <p:sp>
        <p:nvSpPr>
          <p:cNvPr id="551" name="Google Shape;551;p60"/>
          <p:cNvSpPr txBox="1"/>
          <p:nvPr/>
        </p:nvSpPr>
        <p:spPr>
          <a:xfrm>
            <a:off x="6581775" y="2502600"/>
            <a:ext cx="4743600" cy="7389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1600">
                <a:solidFill>
                  <a:srgbClr val="CBD5E1"/>
                </a:solidFill>
                <a:latin typeface="DM Sans"/>
                <a:ea typeface="DM Sans"/>
                <a:cs typeface="DM Sans"/>
                <a:sym typeface="DM Sans"/>
              </a:rPr>
              <a:t>Small amounts of random Gaussian noise (±0.1 to ±0.2) are added to cloned minority samples to introduce variation and prevent overfitting. </a:t>
            </a:r>
            <a:endParaRPr sz="1600"/>
          </a:p>
        </p:txBody>
      </p:sp>
      <p:sp>
        <p:nvSpPr>
          <p:cNvPr id="552" name="Google Shape;552;p60"/>
          <p:cNvSpPr txBox="1"/>
          <p:nvPr/>
        </p:nvSpPr>
        <p:spPr>
          <a:xfrm>
            <a:off x="571500" y="571500"/>
            <a:ext cx="11601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200" u="none" cap="none" strike="noStrike">
                <a:solidFill>
                  <a:schemeClr val="lt1"/>
                </a:solidFill>
                <a:latin typeface="Syne ExtraBold"/>
                <a:ea typeface="Syne ExtraBold"/>
                <a:cs typeface="Syne ExtraBold"/>
                <a:sym typeface="Syne ExtraBold"/>
              </a:rPr>
              <a:t>DATA AUGMENTATION</a:t>
            </a:r>
            <a:endParaRPr sz="3200">
              <a:solidFill>
                <a:schemeClr val="lt1"/>
              </a:solidFill>
            </a:endParaRPr>
          </a:p>
        </p:txBody>
      </p:sp>
      <p:sp>
        <p:nvSpPr>
          <p:cNvPr id="553" name="Google Shape;553;p60"/>
          <p:cNvSpPr/>
          <p:nvPr/>
        </p:nvSpPr>
        <p:spPr>
          <a:xfrm>
            <a:off x="513375" y="1144975"/>
            <a:ext cx="11049000" cy="9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54" name="Google Shape;554;p60"/>
          <p:cNvPicPr preferRelativeResize="0"/>
          <p:nvPr/>
        </p:nvPicPr>
        <p:blipFill rotWithShape="1">
          <a:blip r:embed="rId5">
            <a:alphaModFix/>
          </a:blip>
          <a:srcRect b="23457" l="5616" r="4520" t="14959"/>
          <a:stretch/>
        </p:blipFill>
        <p:spPr>
          <a:xfrm>
            <a:off x="1319263" y="3866950"/>
            <a:ext cx="3838475" cy="2054325"/>
          </a:xfrm>
          <a:prstGeom prst="rect">
            <a:avLst/>
          </a:prstGeom>
          <a:noFill/>
          <a:ln>
            <a:noFill/>
          </a:ln>
        </p:spPr>
      </p:pic>
      <p:sp>
        <p:nvSpPr>
          <p:cNvPr id="555" name="Google Shape;555;p60"/>
          <p:cNvSpPr txBox="1"/>
          <p:nvPr/>
        </p:nvSpPr>
        <p:spPr>
          <a:xfrm>
            <a:off x="1371600" y="5400568"/>
            <a:ext cx="3733800" cy="215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t/>
            </a:r>
            <a:endParaRPr/>
          </a:p>
        </p:txBody>
      </p:sp>
      <p:pic>
        <p:nvPicPr>
          <p:cNvPr id="556" name="Google Shape;556;p60"/>
          <p:cNvPicPr preferRelativeResize="0"/>
          <p:nvPr/>
        </p:nvPicPr>
        <p:blipFill rotWithShape="1">
          <a:blip r:embed="rId6">
            <a:alphaModFix/>
          </a:blip>
          <a:srcRect b="22307" l="4731" r="3936" t="15885"/>
          <a:stretch/>
        </p:blipFill>
        <p:spPr>
          <a:xfrm>
            <a:off x="7152851" y="3889125"/>
            <a:ext cx="3838450" cy="2009987"/>
          </a:xfrm>
          <a:prstGeom prst="rect">
            <a:avLst/>
          </a:prstGeom>
          <a:noFill/>
          <a:ln>
            <a:noFill/>
          </a:ln>
        </p:spPr>
      </p:pic>
      <p:pic>
        <p:nvPicPr>
          <p:cNvPr descr="image.png" id="557" name="Google Shape;557;p60"/>
          <p:cNvPicPr preferRelativeResize="0"/>
          <p:nvPr/>
        </p:nvPicPr>
        <p:blipFill rotWithShape="1">
          <a:blip r:embed="rId4">
            <a:alphaModFix/>
          </a:blip>
          <a:srcRect b="0" l="0" r="0" t="0"/>
          <a:stretch/>
        </p:blipFill>
        <p:spPr>
          <a:xfrm>
            <a:off x="571500" y="1776577"/>
            <a:ext cx="5334000" cy="1945875"/>
          </a:xfrm>
          <a:prstGeom prst="rect">
            <a:avLst/>
          </a:prstGeom>
          <a:noFill/>
          <a:ln>
            <a:noFill/>
          </a:ln>
        </p:spPr>
      </p:pic>
      <p:sp>
        <p:nvSpPr>
          <p:cNvPr id="558" name="Google Shape;558;p60"/>
          <p:cNvSpPr txBox="1"/>
          <p:nvPr/>
        </p:nvSpPr>
        <p:spPr>
          <a:xfrm>
            <a:off x="866775" y="1978927"/>
            <a:ext cx="4980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A78BFA"/>
                </a:solidFill>
                <a:latin typeface="Syne"/>
                <a:ea typeface="Syne"/>
                <a:cs typeface="Syne"/>
                <a:sym typeface="Syne"/>
              </a:rPr>
              <a:t>SMOTE Strategy</a:t>
            </a:r>
            <a:endParaRPr b="1" sz="2100">
              <a:solidFill>
                <a:srgbClr val="A78BFA"/>
              </a:solidFill>
              <a:latin typeface="Syne"/>
              <a:ea typeface="Syne"/>
              <a:cs typeface="Syne"/>
              <a:sym typeface="Syne"/>
            </a:endParaRPr>
          </a:p>
          <a:p>
            <a:pPr indent="0" lvl="0" marL="0" marR="0" rtl="0" algn="l">
              <a:spcBef>
                <a:spcPts val="0"/>
              </a:spcBef>
              <a:spcAft>
                <a:spcPts val="0"/>
              </a:spcAft>
              <a:buNone/>
            </a:pPr>
            <a:r>
              <a:t/>
            </a:r>
            <a:endParaRPr b="1" sz="2100">
              <a:solidFill>
                <a:srgbClr val="A78BFA"/>
              </a:solidFill>
              <a:latin typeface="Syne"/>
              <a:ea typeface="Syne"/>
              <a:cs typeface="Syne"/>
              <a:sym typeface="Syne"/>
            </a:endParaRPr>
          </a:p>
        </p:txBody>
      </p:sp>
      <p:sp>
        <p:nvSpPr>
          <p:cNvPr id="559" name="Google Shape;559;p60"/>
          <p:cNvSpPr txBox="1"/>
          <p:nvPr/>
        </p:nvSpPr>
        <p:spPr>
          <a:xfrm>
            <a:off x="866775" y="2490938"/>
            <a:ext cx="4743600" cy="12315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1600">
                <a:solidFill>
                  <a:srgbClr val="CBD5E1"/>
                </a:solidFill>
                <a:latin typeface="DM Sans"/>
                <a:ea typeface="DM Sans"/>
                <a:cs typeface="DM Sans"/>
                <a:sym typeface="DM Sans"/>
              </a:rPr>
              <a:t>Synthetic Minority Over-sampling: Synthetic data is generated by interpolation between existing minority instances, filling the data space without memorization.</a:t>
            </a:r>
            <a:endParaRPr sz="1600">
              <a:solidFill>
                <a:srgbClr val="CBD5E1"/>
              </a:solidFill>
              <a:latin typeface="DM Sans"/>
              <a:ea typeface="DM Sans"/>
              <a:cs typeface="DM Sans"/>
              <a:sym typeface="DM Sans"/>
            </a:endParaRPr>
          </a:p>
          <a:p>
            <a:pPr indent="0" lvl="0" marL="0" marR="0" rtl="0" algn="just">
              <a:lnSpc>
                <a:spcPct val="100000"/>
              </a:lnSpc>
              <a:spcBef>
                <a:spcPts val="0"/>
              </a:spcBef>
              <a:spcAft>
                <a:spcPts val="0"/>
              </a:spcAft>
              <a:buNone/>
            </a:pPr>
            <a:r>
              <a:t/>
            </a:r>
            <a:endParaRPr sz="1600">
              <a:solidFill>
                <a:srgbClr val="CBD5E1"/>
              </a:solidFill>
              <a:latin typeface="DM Sans"/>
              <a:ea typeface="DM Sans"/>
              <a:cs typeface="DM Sans"/>
              <a:sym typeface="DM Sans"/>
            </a:endParaRPr>
          </a:p>
        </p:txBody>
      </p:sp>
      <p:sp>
        <p:nvSpPr>
          <p:cNvPr id="560" name="Google Shape;560;p60"/>
          <p:cNvSpPr txBox="1"/>
          <p:nvPr>
            <p:ph idx="12" type="sldNum"/>
          </p:nvPr>
        </p:nvSpPr>
        <p:spPr>
          <a:xfrm>
            <a:off x="9843250" y="63786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descr="haz q en la diapositiva se muestre un flujo: stage 1 (random forest)--&gt; area of study as output--&gt; stage 2---&gt;satisfaction---&gt;(ONLY IF AREA==technology)--&gt;stage 3(random forest)--&gt; degree as output" id="565" name="Google Shape;565;p61"/>
          <p:cNvPicPr preferRelativeResize="0"/>
          <p:nvPr/>
        </p:nvPicPr>
        <p:blipFill>
          <a:blip r:embed="rId3">
            <a:alphaModFix/>
          </a:blip>
          <a:stretch>
            <a:fillRect/>
          </a:stretch>
        </p:blipFill>
        <p:spPr>
          <a:xfrm>
            <a:off x="-47625" y="0"/>
            <a:ext cx="12287250" cy="6858000"/>
          </a:xfrm>
          <a:prstGeom prst="rect">
            <a:avLst/>
          </a:prstGeom>
          <a:noFill/>
          <a:ln>
            <a:noFill/>
          </a:ln>
        </p:spPr>
      </p:pic>
      <p:cxnSp>
        <p:nvCxnSpPr>
          <p:cNvPr id="566" name="Google Shape;566;p61"/>
          <p:cNvCxnSpPr/>
          <p:nvPr/>
        </p:nvCxnSpPr>
        <p:spPr>
          <a:xfrm>
            <a:off x="3352150" y="4036500"/>
            <a:ext cx="0" cy="261000"/>
          </a:xfrm>
          <a:prstGeom prst="straightConnector1">
            <a:avLst/>
          </a:prstGeom>
          <a:noFill/>
          <a:ln cap="flat" cmpd="sng" w="9525">
            <a:solidFill>
              <a:srgbClr val="AC9C80"/>
            </a:solidFill>
            <a:prstDash val="solid"/>
            <a:round/>
            <a:headEnd len="med" w="med" type="none"/>
            <a:tailEnd len="med" w="med" type="triangle"/>
          </a:ln>
        </p:spPr>
      </p:cxnSp>
      <p:cxnSp>
        <p:nvCxnSpPr>
          <p:cNvPr id="567" name="Google Shape;567;p61"/>
          <p:cNvCxnSpPr/>
          <p:nvPr/>
        </p:nvCxnSpPr>
        <p:spPr>
          <a:xfrm>
            <a:off x="6152400" y="4074100"/>
            <a:ext cx="0" cy="261000"/>
          </a:xfrm>
          <a:prstGeom prst="straightConnector1">
            <a:avLst/>
          </a:prstGeom>
          <a:noFill/>
          <a:ln cap="flat" cmpd="sng" w="9525">
            <a:solidFill>
              <a:srgbClr val="AC9C80"/>
            </a:solidFill>
            <a:prstDash val="solid"/>
            <a:round/>
            <a:headEnd len="med" w="med" type="none"/>
            <a:tailEnd len="med" w="med" type="triangle"/>
          </a:ln>
        </p:spPr>
      </p:cxnSp>
      <p:cxnSp>
        <p:nvCxnSpPr>
          <p:cNvPr id="568" name="Google Shape;568;p61"/>
          <p:cNvCxnSpPr/>
          <p:nvPr/>
        </p:nvCxnSpPr>
        <p:spPr>
          <a:xfrm>
            <a:off x="11287775" y="4074100"/>
            <a:ext cx="0" cy="261000"/>
          </a:xfrm>
          <a:prstGeom prst="straightConnector1">
            <a:avLst/>
          </a:prstGeom>
          <a:noFill/>
          <a:ln cap="flat" cmpd="sng" w="9525">
            <a:solidFill>
              <a:srgbClr val="AC9C80"/>
            </a:solidFill>
            <a:prstDash val="solid"/>
            <a:round/>
            <a:headEnd len="med" w="med" type="none"/>
            <a:tailEnd len="med" w="med" type="triangle"/>
          </a:ln>
        </p:spPr>
      </p:cxnSp>
      <p:sp>
        <p:nvSpPr>
          <p:cNvPr id="569" name="Google Shape;569;p61"/>
          <p:cNvSpPr txBox="1"/>
          <p:nvPr>
            <p:ph idx="12" type="sldNum"/>
          </p:nvPr>
        </p:nvSpPr>
        <p:spPr>
          <a:xfrm>
            <a:off x="9909950" y="63452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descr="haz q en la diapositiva se muestre EN INGLES un flujo: INTERFAZ MUESTRA LA ENCUESTA→ PASA A ORIENT AI DATOS ENCUESTA--&gt;PREDICE AREA OF STUDY Y SATISFACTION→ DEVUELVE RESULTADOS Q SE MUESTRAN POR PANTALLA Y LLEGAN AL CORREO DEL USUARIO (junto con un enlace a la facultad seleccionada)--&gt; si se ha predicho technologies (politecnika) SE MUESTRA SEGUNDO CUESTIONARIO→ SE RECOGEN NUEVOS DATOS Q SE ENVIAN EN FORMATO JSON A SEGUNDO MDOELO RF ENTRENADO→ PREDICE CARRERA Y DEVUELVE JSON A INTERFAZ-&gt; MUESTRA POR PANTALLA CARRERA Y ENVIA CORREO CON CARRERA Y LINK A ELLA " id="574" name="Google Shape;574;p62"/>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575" name="Google Shape;575;p62"/>
          <p:cNvSpPr txBox="1"/>
          <p:nvPr>
            <p:ph idx="12" type="sldNum"/>
          </p:nvPr>
        </p:nvSpPr>
        <p:spPr>
          <a:xfrm>
            <a:off x="9876625" y="63230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r">
              <a:spcBef>
                <a:spcPts val="0"/>
              </a:spcBef>
              <a:spcAft>
                <a:spcPts val="0"/>
              </a:spcAft>
              <a:buClr>
                <a:srgbClr val="000000"/>
              </a:buClr>
              <a:buFont typeface="Arial"/>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p63"/>
          <p:cNvSpPr txBox="1"/>
          <p:nvPr/>
        </p:nvSpPr>
        <p:spPr>
          <a:xfrm>
            <a:off x="3332100" y="342300"/>
            <a:ext cx="5527800" cy="7695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lang="en-US" sz="5000">
                <a:solidFill>
                  <a:srgbClr val="FFFFFF"/>
                </a:solidFill>
                <a:latin typeface="Syne ExtraBold"/>
                <a:ea typeface="Syne ExtraBold"/>
                <a:cs typeface="Syne ExtraBold"/>
                <a:sym typeface="Syne ExtraBold"/>
              </a:rPr>
              <a:t>ORIENT AI</a:t>
            </a:r>
            <a:endParaRPr sz="5000">
              <a:solidFill>
                <a:srgbClr val="FFFFFF"/>
              </a:solidFill>
              <a:latin typeface="Syne ExtraBold"/>
              <a:ea typeface="Syne ExtraBold"/>
              <a:cs typeface="Syne ExtraBold"/>
              <a:sym typeface="Syne ExtraBold"/>
            </a:endParaRPr>
          </a:p>
        </p:txBody>
      </p:sp>
      <p:sp>
        <p:nvSpPr>
          <p:cNvPr id="581" name="Google Shape;581;p63"/>
          <p:cNvSpPr txBox="1"/>
          <p:nvPr>
            <p:ph idx="12" type="sldNum"/>
          </p:nvPr>
        </p:nvSpPr>
        <p:spPr>
          <a:xfrm>
            <a:off x="9798800" y="63603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rtl="0" algn="ctr">
              <a:spcBef>
                <a:spcPts val="0"/>
              </a:spcBef>
              <a:spcAft>
                <a:spcPts val="0"/>
              </a:spcAft>
              <a:buClr>
                <a:srgbClr val="000000"/>
              </a:buClr>
              <a:buFont typeface="Arial"/>
              <a:buNone/>
            </a:pPr>
            <a:r>
              <a:t/>
            </a:r>
            <a:endParaRPr/>
          </a:p>
        </p:txBody>
      </p:sp>
      <p:pic>
        <p:nvPicPr>
          <p:cNvPr id="582" name="Google Shape;582;p63"/>
          <p:cNvPicPr preferRelativeResize="0"/>
          <p:nvPr/>
        </p:nvPicPr>
        <p:blipFill>
          <a:blip r:embed="rId4">
            <a:alphaModFix/>
          </a:blip>
          <a:stretch>
            <a:fillRect/>
          </a:stretch>
        </p:blipFill>
        <p:spPr>
          <a:xfrm>
            <a:off x="3888338" y="1297550"/>
            <a:ext cx="4415325" cy="4473925"/>
          </a:xfrm>
          <a:prstGeom prst="rect">
            <a:avLst/>
          </a:prstGeom>
          <a:noFill/>
          <a:ln>
            <a:noFill/>
          </a:ln>
        </p:spPr>
      </p:pic>
      <p:sp>
        <p:nvSpPr>
          <p:cNvPr id="583" name="Google Shape;583;p63"/>
          <p:cNvSpPr txBox="1"/>
          <p:nvPr/>
        </p:nvSpPr>
        <p:spPr>
          <a:xfrm>
            <a:off x="3224300" y="6393025"/>
            <a:ext cx="6402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584" name="Google Shape;584;p63"/>
          <p:cNvSpPr txBox="1"/>
          <p:nvPr/>
        </p:nvSpPr>
        <p:spPr>
          <a:xfrm>
            <a:off x="2993413" y="5957225"/>
            <a:ext cx="6205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400" u="sng">
                <a:solidFill>
                  <a:schemeClr val="hlink"/>
                </a:solidFill>
                <a:hlinkClick r:id="rId5"/>
              </a:rPr>
              <a:t>https://orientai-deployment.streamlit.app/</a:t>
            </a:r>
            <a:endParaRPr sz="2400">
              <a:solidFill>
                <a:schemeClr val="lt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p64"/>
          <p:cNvPicPr preferRelativeResize="0"/>
          <p:nvPr/>
        </p:nvPicPr>
        <p:blipFill>
          <a:blip r:embed="rId3">
            <a:alphaModFix/>
          </a:blip>
          <a:stretch>
            <a:fillRect/>
          </a:stretch>
        </p:blipFill>
        <p:spPr>
          <a:xfrm>
            <a:off x="5192" y="0"/>
            <a:ext cx="12192000" cy="6858000"/>
          </a:xfrm>
          <a:prstGeom prst="rect">
            <a:avLst/>
          </a:prstGeom>
          <a:noFill/>
          <a:ln>
            <a:noFill/>
          </a:ln>
        </p:spPr>
      </p:pic>
      <p:sp>
        <p:nvSpPr>
          <p:cNvPr id="590" name="Google Shape;590;p64"/>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65"/>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596" name="Google Shape;596;p65"/>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p>
        </p:txBody>
      </p:sp>
      <p:pic>
        <p:nvPicPr>
          <p:cNvPr id="597" name="Google Shape;597;p65"/>
          <p:cNvPicPr preferRelativeResize="0"/>
          <p:nvPr/>
        </p:nvPicPr>
        <p:blipFill>
          <a:blip r:embed="rId3">
            <a:alphaModFix/>
          </a:blip>
          <a:stretch>
            <a:fillRect/>
          </a:stretch>
        </p:blipFill>
        <p:spPr>
          <a:xfrm>
            <a:off x="5192" y="-2"/>
            <a:ext cx="12192001" cy="6858000"/>
          </a:xfrm>
          <a:prstGeom prst="rect">
            <a:avLst/>
          </a:prstGeom>
          <a:noFill/>
          <a:ln>
            <a:noFill/>
          </a:ln>
        </p:spPr>
      </p:pic>
      <p:sp>
        <p:nvSpPr>
          <p:cNvPr id="598" name="Google Shape;598;p65"/>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6"/>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604" name="Google Shape;604;p66"/>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p>
        </p:txBody>
      </p:sp>
      <p:pic>
        <p:nvPicPr>
          <p:cNvPr id="605" name="Google Shape;605;p66"/>
          <p:cNvPicPr preferRelativeResize="0"/>
          <p:nvPr/>
        </p:nvPicPr>
        <p:blipFill>
          <a:blip r:embed="rId3">
            <a:alphaModFix/>
          </a:blip>
          <a:stretch>
            <a:fillRect/>
          </a:stretch>
        </p:blipFill>
        <p:spPr>
          <a:xfrm>
            <a:off x="-50" y="-1"/>
            <a:ext cx="12192000" cy="6858000"/>
          </a:xfrm>
          <a:prstGeom prst="rect">
            <a:avLst/>
          </a:prstGeom>
          <a:noFill/>
          <a:ln>
            <a:noFill/>
          </a:ln>
        </p:spPr>
      </p:pic>
      <p:sp>
        <p:nvSpPr>
          <p:cNvPr id="606" name="Google Shape;606;p66"/>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7"/>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612" name="Google Shape;612;p67"/>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p>
        </p:txBody>
      </p:sp>
      <p:pic>
        <p:nvPicPr>
          <p:cNvPr id="613" name="Google Shape;613;p67"/>
          <p:cNvPicPr preferRelativeResize="0"/>
          <p:nvPr/>
        </p:nvPicPr>
        <p:blipFill>
          <a:blip r:embed="rId3">
            <a:alphaModFix/>
          </a:blip>
          <a:stretch>
            <a:fillRect/>
          </a:stretch>
        </p:blipFill>
        <p:spPr>
          <a:xfrm>
            <a:off x="-50" y="3"/>
            <a:ext cx="12192000" cy="6858000"/>
          </a:xfrm>
          <a:prstGeom prst="rect">
            <a:avLst/>
          </a:prstGeom>
          <a:noFill/>
          <a:ln>
            <a:noFill/>
          </a:ln>
        </p:spPr>
      </p:pic>
      <p:sp>
        <p:nvSpPr>
          <p:cNvPr id="614" name="Google Shape;614;p67"/>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8"/>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620" name="Google Shape;620;p68"/>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p>
        </p:txBody>
      </p:sp>
      <p:pic>
        <p:nvPicPr>
          <p:cNvPr id="621" name="Google Shape;621;p68"/>
          <p:cNvPicPr preferRelativeResize="0"/>
          <p:nvPr/>
        </p:nvPicPr>
        <p:blipFill>
          <a:blip r:embed="rId3">
            <a:alphaModFix/>
          </a:blip>
          <a:stretch>
            <a:fillRect/>
          </a:stretch>
        </p:blipFill>
        <p:spPr>
          <a:xfrm>
            <a:off x="0" y="-3"/>
            <a:ext cx="12192001" cy="6858000"/>
          </a:xfrm>
          <a:prstGeom prst="rect">
            <a:avLst/>
          </a:prstGeom>
          <a:noFill/>
          <a:ln>
            <a:noFill/>
          </a:ln>
        </p:spPr>
      </p:pic>
      <p:sp>
        <p:nvSpPr>
          <p:cNvPr id="622" name="Google Shape;622;p68"/>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9"/>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628" name="Google Shape;628;p69"/>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p>
        </p:txBody>
      </p:sp>
      <p:pic>
        <p:nvPicPr>
          <p:cNvPr id="629" name="Google Shape;629;p69"/>
          <p:cNvPicPr preferRelativeResize="0"/>
          <p:nvPr/>
        </p:nvPicPr>
        <p:blipFill>
          <a:blip r:embed="rId3">
            <a:alphaModFix/>
          </a:blip>
          <a:stretch>
            <a:fillRect/>
          </a:stretch>
        </p:blipFill>
        <p:spPr>
          <a:xfrm>
            <a:off x="0" y="18242"/>
            <a:ext cx="12192002" cy="6821517"/>
          </a:xfrm>
          <a:prstGeom prst="rect">
            <a:avLst/>
          </a:prstGeom>
          <a:noFill/>
          <a:ln>
            <a:noFill/>
          </a:ln>
        </p:spPr>
      </p:pic>
      <p:sp>
        <p:nvSpPr>
          <p:cNvPr id="630" name="Google Shape;630;p69"/>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0"/>
          <p:cNvSpPr txBox="1"/>
          <p:nvPr>
            <p:ph type="title"/>
          </p:nvPr>
        </p:nvSpPr>
        <p:spPr>
          <a:xfrm>
            <a:off x="415600" y="593367"/>
            <a:ext cx="11360700" cy="763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636" name="Google Shape;636;p70"/>
          <p:cNvSpPr txBox="1"/>
          <p:nvPr>
            <p:ph idx="1" type="body"/>
          </p:nvPr>
        </p:nvSpPr>
        <p:spPr>
          <a:xfrm>
            <a:off x="415600" y="1536633"/>
            <a:ext cx="11360700" cy="45552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p>
        </p:txBody>
      </p:sp>
      <p:pic>
        <p:nvPicPr>
          <p:cNvPr id="637" name="Google Shape;637;p70"/>
          <p:cNvPicPr preferRelativeResize="0"/>
          <p:nvPr/>
        </p:nvPicPr>
        <p:blipFill>
          <a:blip r:embed="rId3">
            <a:alphaModFix/>
          </a:blip>
          <a:stretch>
            <a:fillRect/>
          </a:stretch>
        </p:blipFill>
        <p:spPr>
          <a:xfrm>
            <a:off x="-50" y="-2"/>
            <a:ext cx="12192000" cy="6858000"/>
          </a:xfrm>
          <a:prstGeom prst="rect">
            <a:avLst/>
          </a:prstGeom>
          <a:noFill/>
          <a:ln>
            <a:noFill/>
          </a:ln>
        </p:spPr>
      </p:pic>
      <p:sp>
        <p:nvSpPr>
          <p:cNvPr id="638" name="Google Shape;638;p70"/>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2" name="Shape 642"/>
        <p:cNvGrpSpPr/>
        <p:nvPr/>
      </p:nvGrpSpPr>
      <p:grpSpPr>
        <a:xfrm>
          <a:off x="0" y="0"/>
          <a:ext cx="0" cy="0"/>
          <a:chOff x="0" y="0"/>
          <a:chExt cx="0" cy="0"/>
        </a:xfrm>
      </p:grpSpPr>
      <p:sp>
        <p:nvSpPr>
          <p:cNvPr id="643" name="Google Shape;643;p71"/>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7" name="Shape 647"/>
        <p:cNvGrpSpPr/>
        <p:nvPr/>
      </p:nvGrpSpPr>
      <p:grpSpPr>
        <a:xfrm>
          <a:off x="0" y="0"/>
          <a:ext cx="0" cy="0"/>
          <a:chOff x="0" y="0"/>
          <a:chExt cx="0" cy="0"/>
        </a:xfrm>
      </p:grpSpPr>
      <p:sp>
        <p:nvSpPr>
          <p:cNvPr id="648" name="Google Shape;648;p72"/>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dk1"/>
                </a:solidFill>
              </a:rPr>
              <a:t>‹#›</a:t>
            </a:fld>
            <a:endParaRPr b="1" sz="2000">
              <a:solidFill>
                <a:schemeClr val="dk1"/>
              </a:solidFill>
            </a:endParaRPr>
          </a:p>
          <a:p>
            <a:pPr indent="0" lvl="0" marL="0" rtl="0" algn="r">
              <a:spcBef>
                <a:spcPts val="0"/>
              </a:spcBef>
              <a:spcAft>
                <a:spcPts val="0"/>
              </a:spcAft>
              <a:buNone/>
            </a:pPr>
            <a:r>
              <a:t/>
            </a:r>
            <a:endParaRPr>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2" name="Shape 652"/>
        <p:cNvGrpSpPr/>
        <p:nvPr/>
      </p:nvGrpSpPr>
      <p:grpSpPr>
        <a:xfrm>
          <a:off x="0" y="0"/>
          <a:ext cx="0" cy="0"/>
          <a:chOff x="0" y="0"/>
          <a:chExt cx="0" cy="0"/>
        </a:xfrm>
      </p:grpSpPr>
      <p:pic>
        <p:nvPicPr>
          <p:cNvPr descr="image.png" id="653" name="Google Shape;653;p73"/>
          <p:cNvPicPr preferRelativeResize="0"/>
          <p:nvPr/>
        </p:nvPicPr>
        <p:blipFill rotWithShape="1">
          <a:blip r:embed="rId4">
            <a:alphaModFix/>
          </a:blip>
          <a:srcRect b="0" l="0" r="0" t="0"/>
          <a:stretch/>
        </p:blipFill>
        <p:spPr>
          <a:xfrm>
            <a:off x="432000" y="2436477"/>
            <a:ext cx="3524250" cy="1985025"/>
          </a:xfrm>
          <a:prstGeom prst="rect">
            <a:avLst/>
          </a:prstGeom>
          <a:noFill/>
          <a:ln>
            <a:noFill/>
          </a:ln>
        </p:spPr>
      </p:pic>
      <p:pic>
        <p:nvPicPr>
          <p:cNvPr descr="image.png" id="654" name="Google Shape;654;p73"/>
          <p:cNvPicPr preferRelativeResize="0"/>
          <p:nvPr/>
        </p:nvPicPr>
        <p:blipFill rotWithShape="1">
          <a:blip r:embed="rId5">
            <a:alphaModFix/>
          </a:blip>
          <a:srcRect b="0" l="0" r="0" t="0"/>
          <a:stretch/>
        </p:blipFill>
        <p:spPr>
          <a:xfrm>
            <a:off x="4338450" y="2436490"/>
            <a:ext cx="3524250" cy="1985025"/>
          </a:xfrm>
          <a:prstGeom prst="rect">
            <a:avLst/>
          </a:prstGeom>
          <a:noFill/>
          <a:ln>
            <a:noFill/>
          </a:ln>
        </p:spPr>
      </p:pic>
      <p:pic>
        <p:nvPicPr>
          <p:cNvPr descr="image.png" id="655" name="Google Shape;655;p73"/>
          <p:cNvPicPr preferRelativeResize="0"/>
          <p:nvPr/>
        </p:nvPicPr>
        <p:blipFill rotWithShape="1">
          <a:blip r:embed="rId6">
            <a:alphaModFix/>
          </a:blip>
          <a:srcRect b="0" l="0" r="0" t="0"/>
          <a:stretch/>
        </p:blipFill>
        <p:spPr>
          <a:xfrm>
            <a:off x="8244900" y="2436500"/>
            <a:ext cx="3524250" cy="1985025"/>
          </a:xfrm>
          <a:prstGeom prst="rect">
            <a:avLst/>
          </a:prstGeom>
          <a:noFill/>
          <a:ln>
            <a:noFill/>
          </a:ln>
        </p:spPr>
      </p:pic>
      <p:pic>
        <p:nvPicPr>
          <p:cNvPr descr="image.png" id="656" name="Google Shape;656;p73"/>
          <p:cNvPicPr preferRelativeResize="0"/>
          <p:nvPr/>
        </p:nvPicPr>
        <p:blipFill rotWithShape="1">
          <a:blip r:embed="rId7">
            <a:alphaModFix/>
          </a:blip>
          <a:srcRect b="0" l="0" r="0" t="0"/>
          <a:stretch/>
        </p:blipFill>
        <p:spPr>
          <a:xfrm>
            <a:off x="1934657" y="2571531"/>
            <a:ext cx="500335" cy="400266"/>
          </a:xfrm>
          <a:prstGeom prst="rect">
            <a:avLst/>
          </a:prstGeom>
          <a:noFill/>
          <a:ln>
            <a:noFill/>
          </a:ln>
        </p:spPr>
      </p:pic>
      <p:sp>
        <p:nvSpPr>
          <p:cNvPr id="657" name="Google Shape;657;p73"/>
          <p:cNvSpPr txBox="1"/>
          <p:nvPr/>
        </p:nvSpPr>
        <p:spPr>
          <a:xfrm>
            <a:off x="422700" y="3171937"/>
            <a:ext cx="3524400" cy="94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800" u="none" cap="none" strike="noStrike">
                <a:solidFill>
                  <a:srgbClr val="CBD5E1"/>
                </a:solidFill>
                <a:latin typeface="DM Sans"/>
                <a:ea typeface="DM Sans"/>
                <a:cs typeface="DM Sans"/>
                <a:sym typeface="DM Sans"/>
              </a:rPr>
              <a:t>Educational Centers</a:t>
            </a:r>
            <a:br>
              <a:rPr b="0" i="0" lang="en-US" sz="1800" u="none" cap="none" strike="noStrike">
                <a:solidFill>
                  <a:schemeClr val="dk1"/>
                </a:solidFill>
                <a:latin typeface="Calibri"/>
                <a:ea typeface="Calibri"/>
                <a:cs typeface="Calibri"/>
                <a:sym typeface="Calibri"/>
              </a:rPr>
            </a:br>
            <a:r>
              <a:rPr b="0" i="0" lang="en-US" sz="1800" u="none" cap="none" strike="noStrike">
                <a:solidFill>
                  <a:srgbClr val="CBD5E1"/>
                </a:solidFill>
                <a:latin typeface="DM Sans"/>
                <a:ea typeface="DM Sans"/>
                <a:cs typeface="DM Sans"/>
                <a:sym typeface="DM Sans"/>
              </a:rPr>
              <a:t> Integration in high schools to guide students pre-selection.</a:t>
            </a:r>
            <a:endParaRPr sz="1800"/>
          </a:p>
        </p:txBody>
      </p:sp>
      <p:pic>
        <p:nvPicPr>
          <p:cNvPr descr="image.png" id="658" name="Google Shape;658;p73"/>
          <p:cNvPicPr preferRelativeResize="0"/>
          <p:nvPr/>
        </p:nvPicPr>
        <p:blipFill rotWithShape="1">
          <a:blip r:embed="rId8">
            <a:alphaModFix/>
          </a:blip>
          <a:srcRect b="0" l="0" r="0" t="0"/>
          <a:stretch/>
        </p:blipFill>
        <p:spPr>
          <a:xfrm>
            <a:off x="5880234" y="2565901"/>
            <a:ext cx="440531" cy="440531"/>
          </a:xfrm>
          <a:prstGeom prst="rect">
            <a:avLst/>
          </a:prstGeom>
          <a:noFill/>
          <a:ln>
            <a:noFill/>
          </a:ln>
        </p:spPr>
      </p:pic>
      <p:sp>
        <p:nvSpPr>
          <p:cNvPr id="659" name="Google Shape;659;p73"/>
          <p:cNvSpPr txBox="1"/>
          <p:nvPr/>
        </p:nvSpPr>
        <p:spPr>
          <a:xfrm>
            <a:off x="4338375" y="3226698"/>
            <a:ext cx="3524400" cy="94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800" u="none" cap="none" strike="noStrike">
                <a:solidFill>
                  <a:srgbClr val="CBD5E1"/>
                </a:solidFill>
                <a:latin typeface="DM Sans"/>
                <a:ea typeface="DM Sans"/>
                <a:cs typeface="DM Sans"/>
                <a:sym typeface="DM Sans"/>
              </a:rPr>
              <a:t>Continuous Learning</a:t>
            </a:r>
            <a:br>
              <a:rPr b="0" i="0" lang="en-US" sz="1800" u="none" cap="none" strike="noStrike">
                <a:solidFill>
                  <a:schemeClr val="dk1"/>
                </a:solidFill>
                <a:latin typeface="Calibri"/>
                <a:ea typeface="Calibri"/>
                <a:cs typeface="Calibri"/>
                <a:sym typeface="Calibri"/>
              </a:rPr>
            </a:br>
            <a:r>
              <a:rPr b="0" i="0" lang="en-US" sz="1800" u="none" cap="none" strike="noStrike">
                <a:solidFill>
                  <a:srgbClr val="CBD5E1"/>
                </a:solidFill>
                <a:latin typeface="DM Sans"/>
                <a:ea typeface="DM Sans"/>
                <a:cs typeface="DM Sans"/>
                <a:sym typeface="DM Sans"/>
              </a:rPr>
              <a:t> Re-training based on real-time feedback loops from graduates.</a:t>
            </a:r>
            <a:endParaRPr sz="1800"/>
          </a:p>
        </p:txBody>
      </p:sp>
      <p:pic>
        <p:nvPicPr>
          <p:cNvPr descr="image.png" id="660" name="Google Shape;660;p73"/>
          <p:cNvPicPr preferRelativeResize="0"/>
          <p:nvPr/>
        </p:nvPicPr>
        <p:blipFill rotWithShape="1">
          <a:blip r:embed="rId9">
            <a:alphaModFix/>
          </a:blip>
          <a:srcRect b="0" l="0" r="0" t="0"/>
          <a:stretch/>
        </p:blipFill>
        <p:spPr>
          <a:xfrm>
            <a:off x="9766141" y="2628326"/>
            <a:ext cx="479104" cy="479104"/>
          </a:xfrm>
          <a:prstGeom prst="rect">
            <a:avLst/>
          </a:prstGeom>
          <a:noFill/>
          <a:ln>
            <a:noFill/>
          </a:ln>
        </p:spPr>
      </p:pic>
      <p:sp>
        <p:nvSpPr>
          <p:cNvPr id="661" name="Google Shape;661;p73"/>
          <p:cNvSpPr txBox="1"/>
          <p:nvPr/>
        </p:nvSpPr>
        <p:spPr>
          <a:xfrm>
            <a:off x="8244900" y="3290300"/>
            <a:ext cx="3524400" cy="94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800" u="none" cap="none" strike="noStrike">
                <a:solidFill>
                  <a:srgbClr val="CBD5E1"/>
                </a:solidFill>
                <a:latin typeface="DM Sans"/>
                <a:ea typeface="DM Sans"/>
                <a:cs typeface="DM Sans"/>
                <a:sym typeface="DM Sans"/>
              </a:rPr>
              <a:t>Global Scalability</a:t>
            </a:r>
            <a:br>
              <a:rPr b="0" i="0" lang="en-US" sz="1800" u="none" cap="none" strike="noStrike">
                <a:solidFill>
                  <a:schemeClr val="dk1"/>
                </a:solidFill>
                <a:latin typeface="Calibri"/>
                <a:ea typeface="Calibri"/>
                <a:cs typeface="Calibri"/>
                <a:sym typeface="Calibri"/>
              </a:rPr>
            </a:br>
            <a:r>
              <a:rPr b="0" i="0" lang="en-US" sz="1800" u="none" cap="none" strike="noStrike">
                <a:solidFill>
                  <a:srgbClr val="CBD5E1"/>
                </a:solidFill>
                <a:latin typeface="DM Sans"/>
                <a:ea typeface="DM Sans"/>
                <a:cs typeface="DM Sans"/>
                <a:sym typeface="DM Sans"/>
              </a:rPr>
              <a:t> Deploying to AWS/Cloud to reach international markets.</a:t>
            </a:r>
            <a:endParaRPr sz="1800"/>
          </a:p>
        </p:txBody>
      </p:sp>
      <p:sp>
        <p:nvSpPr>
          <p:cNvPr id="662" name="Google Shape;662;p73"/>
          <p:cNvSpPr txBox="1"/>
          <p:nvPr/>
        </p:nvSpPr>
        <p:spPr>
          <a:xfrm>
            <a:off x="571500" y="571500"/>
            <a:ext cx="116016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200" u="none" cap="none" strike="noStrike">
                <a:solidFill>
                  <a:schemeClr val="lt1"/>
                </a:solidFill>
                <a:latin typeface="Syne ExtraBold"/>
                <a:ea typeface="Syne ExtraBold"/>
                <a:cs typeface="Syne ExtraBold"/>
                <a:sym typeface="Syne ExtraBold"/>
              </a:rPr>
              <a:t>THE FUTURE OF ORIENT AI</a:t>
            </a:r>
            <a:endParaRPr sz="3200">
              <a:solidFill>
                <a:schemeClr val="lt1"/>
              </a:solidFill>
            </a:endParaRPr>
          </a:p>
        </p:txBody>
      </p:sp>
      <p:sp>
        <p:nvSpPr>
          <p:cNvPr id="663" name="Google Shape;663;p73"/>
          <p:cNvSpPr/>
          <p:nvPr/>
        </p:nvSpPr>
        <p:spPr>
          <a:xfrm>
            <a:off x="571500" y="1150450"/>
            <a:ext cx="11049000" cy="9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4" name="Google Shape;664;p73"/>
          <p:cNvSpPr txBox="1"/>
          <p:nvPr/>
        </p:nvSpPr>
        <p:spPr>
          <a:xfrm>
            <a:off x="676200" y="5177237"/>
            <a:ext cx="10839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000" u="none" cap="none" strike="noStrike">
                <a:solidFill>
                  <a:srgbClr val="94A3B8"/>
                </a:solidFill>
                <a:latin typeface="Inter"/>
                <a:ea typeface="Inter"/>
                <a:cs typeface="Inter"/>
                <a:sym typeface="Inter"/>
              </a:rPr>
              <a:t>Let's make academic selection objective, predictable, and </a:t>
            </a:r>
            <a:r>
              <a:rPr lang="en-US" sz="2000">
                <a:solidFill>
                  <a:srgbClr val="94A3B8"/>
                </a:solidFill>
                <a:latin typeface="Inter"/>
                <a:ea typeface="Inter"/>
                <a:cs typeface="Inter"/>
                <a:sym typeface="Inter"/>
              </a:rPr>
              <a:t>reachable</a:t>
            </a:r>
            <a:r>
              <a:rPr b="0" i="0" lang="en-US" sz="2000" u="none" cap="none" strike="noStrike">
                <a:solidFill>
                  <a:srgbClr val="94A3B8"/>
                </a:solidFill>
                <a:latin typeface="Inter"/>
                <a:ea typeface="Inter"/>
                <a:cs typeface="Inter"/>
                <a:sym typeface="Inter"/>
              </a:rPr>
              <a:t>.</a:t>
            </a:r>
            <a:endParaRPr sz="2000"/>
          </a:p>
        </p:txBody>
      </p:sp>
      <p:sp>
        <p:nvSpPr>
          <p:cNvPr id="665" name="Google Shape;665;p73"/>
          <p:cNvSpPr txBox="1"/>
          <p:nvPr>
            <p:ph idx="12" type="sldNum"/>
          </p:nvPr>
        </p:nvSpPr>
        <p:spPr>
          <a:xfrm>
            <a:off x="9635700" y="6362550"/>
            <a:ext cx="2133600" cy="365100"/>
          </a:xfrm>
          <a:prstGeom prst="rect">
            <a:avLst/>
          </a:prstGeom>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r>
              <a:rPr b="1" lang="en-US" sz="2000">
                <a:solidFill>
                  <a:schemeClr val="lt1"/>
                </a:solidFill>
              </a:rPr>
              <a:t>44</a:t>
            </a:r>
            <a:endParaRPr b="1" sz="20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9" name="Shape 669"/>
        <p:cNvGrpSpPr/>
        <p:nvPr/>
      </p:nvGrpSpPr>
      <p:grpSpPr>
        <a:xfrm>
          <a:off x="0" y="0"/>
          <a:ext cx="0" cy="0"/>
          <a:chOff x="0" y="0"/>
          <a:chExt cx="0" cy="0"/>
        </a:xfrm>
      </p:grpSpPr>
      <p:pic>
        <p:nvPicPr>
          <p:cNvPr descr="image.png" id="670" name="Google Shape;670;p74"/>
          <p:cNvPicPr preferRelativeResize="0"/>
          <p:nvPr/>
        </p:nvPicPr>
        <p:blipFill rotWithShape="1">
          <a:blip r:embed="rId4">
            <a:alphaModFix/>
          </a:blip>
          <a:srcRect b="0" l="0" r="0" t="0"/>
          <a:stretch/>
        </p:blipFill>
        <p:spPr>
          <a:xfrm>
            <a:off x="3117500" y="2939725"/>
            <a:ext cx="5956996" cy="3137925"/>
          </a:xfrm>
          <a:prstGeom prst="rect">
            <a:avLst/>
          </a:prstGeom>
          <a:noFill/>
          <a:ln>
            <a:noFill/>
          </a:ln>
        </p:spPr>
      </p:pic>
      <p:sp>
        <p:nvSpPr>
          <p:cNvPr id="671" name="Google Shape;671;p74"/>
          <p:cNvSpPr txBox="1"/>
          <p:nvPr/>
        </p:nvSpPr>
        <p:spPr>
          <a:xfrm>
            <a:off x="405213" y="1669187"/>
            <a:ext cx="11381400" cy="669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0" lang="en-US" sz="4350" u="none" cap="none" strike="noStrike">
                <a:solidFill>
                  <a:srgbClr val="FFFFFF"/>
                </a:solidFill>
                <a:latin typeface="Syne ExtraBold"/>
                <a:ea typeface="Syne ExtraBold"/>
                <a:cs typeface="Syne ExtraBold"/>
                <a:sym typeface="Syne ExtraBold"/>
              </a:rPr>
              <a:t>Questions &amp; Answers</a:t>
            </a:r>
            <a:endParaRPr>
              <a:latin typeface="Syne ExtraBold"/>
              <a:ea typeface="Syne ExtraBold"/>
              <a:cs typeface="Syne ExtraBold"/>
              <a:sym typeface="Syne ExtraBold"/>
            </a:endParaRPr>
          </a:p>
        </p:txBody>
      </p:sp>
      <p:pic>
        <p:nvPicPr>
          <p:cNvPr descr="image.png" id="672" name="Google Shape;672;p74"/>
          <p:cNvPicPr preferRelativeResize="0"/>
          <p:nvPr/>
        </p:nvPicPr>
        <p:blipFill rotWithShape="1">
          <a:blip r:embed="rId5">
            <a:alphaModFix/>
          </a:blip>
          <a:srcRect b="0" l="0" r="0" t="0"/>
          <a:stretch/>
        </p:blipFill>
        <p:spPr>
          <a:xfrm>
            <a:off x="5926152" y="3105989"/>
            <a:ext cx="339737" cy="339737"/>
          </a:xfrm>
          <a:prstGeom prst="rect">
            <a:avLst/>
          </a:prstGeom>
          <a:noFill/>
          <a:ln>
            <a:noFill/>
          </a:ln>
        </p:spPr>
      </p:pic>
      <p:sp>
        <p:nvSpPr>
          <p:cNvPr id="673" name="Google Shape;673;p74"/>
          <p:cNvSpPr txBox="1"/>
          <p:nvPr/>
        </p:nvSpPr>
        <p:spPr>
          <a:xfrm>
            <a:off x="4144861" y="3630148"/>
            <a:ext cx="3902400" cy="260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93" u="none" cap="none" strike="noStrike">
                <a:solidFill>
                  <a:srgbClr val="FFFFFF"/>
                </a:solidFill>
                <a:latin typeface="DM Sans"/>
                <a:ea typeface="DM Sans"/>
                <a:cs typeface="DM Sans"/>
                <a:sym typeface="DM Sans"/>
              </a:rPr>
              <a:t>GET IN TOUCH!</a:t>
            </a:r>
            <a:endParaRPr sz="1693"/>
          </a:p>
        </p:txBody>
      </p:sp>
      <p:sp>
        <p:nvSpPr>
          <p:cNvPr id="674" name="Google Shape;674;p74"/>
          <p:cNvSpPr txBox="1"/>
          <p:nvPr/>
        </p:nvSpPr>
        <p:spPr>
          <a:xfrm>
            <a:off x="3318971" y="4075192"/>
            <a:ext cx="5553900" cy="1870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19" u="none" cap="none" strike="noStrike">
                <a:solidFill>
                  <a:srgbClr val="B7B7B7"/>
                </a:solidFill>
                <a:latin typeface="DM Sans"/>
                <a:ea typeface="DM Sans"/>
                <a:cs typeface="DM Sans"/>
                <a:sym typeface="DM Sans"/>
              </a:rPr>
              <a:t>Contact: </a:t>
            </a:r>
            <a:endParaRPr sz="1519">
              <a:solidFill>
                <a:srgbClr val="B7B7B7"/>
              </a:solidFill>
              <a:latin typeface="DM Sans"/>
              <a:ea typeface="DM Sans"/>
              <a:cs typeface="DM Sans"/>
              <a:sym typeface="DM Sans"/>
            </a:endParaRPr>
          </a:p>
          <a:p>
            <a:pPr indent="0" lvl="0" marL="0" marR="0" rtl="0" algn="ctr">
              <a:spcBef>
                <a:spcPts val="0"/>
              </a:spcBef>
              <a:spcAft>
                <a:spcPts val="0"/>
              </a:spcAft>
              <a:buNone/>
            </a:pPr>
            <a:r>
              <a:rPr lang="en-US" sz="1519">
                <a:solidFill>
                  <a:srgbClr val="B7B7B7"/>
                </a:solidFill>
                <a:latin typeface="DM Sans"/>
                <a:ea typeface="DM Sans"/>
                <a:cs typeface="DM Sans"/>
                <a:sym typeface="DM Sans"/>
              </a:rPr>
              <a:t>Aroa Aguiño Domínguez –&gt; 905686@edu.p.lodz.pl</a:t>
            </a:r>
            <a:endParaRPr sz="1519">
              <a:solidFill>
                <a:srgbClr val="B7B7B7"/>
              </a:solidFill>
              <a:latin typeface="DM Sans"/>
              <a:ea typeface="DM Sans"/>
              <a:cs typeface="DM Sans"/>
              <a:sym typeface="DM Sans"/>
            </a:endParaRPr>
          </a:p>
          <a:p>
            <a:pPr indent="0" lvl="0" marL="0" marR="0" rtl="0" algn="ctr">
              <a:spcBef>
                <a:spcPts val="0"/>
              </a:spcBef>
              <a:spcAft>
                <a:spcPts val="0"/>
              </a:spcAft>
              <a:buNone/>
            </a:pPr>
            <a:r>
              <a:rPr lang="en-US" sz="1519">
                <a:solidFill>
                  <a:srgbClr val="B7B7B7"/>
                </a:solidFill>
                <a:latin typeface="DM Sans"/>
                <a:ea typeface="DM Sans"/>
                <a:cs typeface="DM Sans"/>
                <a:sym typeface="DM Sans"/>
              </a:rPr>
              <a:t>Maria Encina Díez del Río --&gt; 905687@edu.p.lodz.pl</a:t>
            </a:r>
            <a:endParaRPr sz="1519">
              <a:solidFill>
                <a:srgbClr val="B7B7B7"/>
              </a:solidFill>
              <a:latin typeface="DM Sans"/>
              <a:ea typeface="DM Sans"/>
              <a:cs typeface="DM Sans"/>
              <a:sym typeface="DM Sans"/>
            </a:endParaRPr>
          </a:p>
          <a:p>
            <a:pPr indent="0" lvl="0" marL="0" marR="0" rtl="0" algn="ctr">
              <a:spcBef>
                <a:spcPts val="0"/>
              </a:spcBef>
              <a:spcAft>
                <a:spcPts val="0"/>
              </a:spcAft>
              <a:buNone/>
            </a:pPr>
            <a:r>
              <a:rPr lang="en-US" sz="1519">
                <a:solidFill>
                  <a:srgbClr val="B7B7B7"/>
                </a:solidFill>
                <a:latin typeface="DM Sans"/>
                <a:ea typeface="DM Sans"/>
                <a:cs typeface="DM Sans"/>
                <a:sym typeface="DM Sans"/>
              </a:rPr>
              <a:t>Mario Fernández Costello --&gt; 905688@edu.p.lodz.pl</a:t>
            </a:r>
            <a:endParaRPr sz="1519">
              <a:solidFill>
                <a:srgbClr val="B7B7B7"/>
              </a:solidFill>
              <a:latin typeface="DM Sans"/>
              <a:ea typeface="DM Sans"/>
              <a:cs typeface="DM Sans"/>
              <a:sym typeface="DM Sans"/>
            </a:endParaRPr>
          </a:p>
          <a:p>
            <a:pPr indent="0" lvl="0" marL="0" marR="0" rtl="0" algn="ctr">
              <a:spcBef>
                <a:spcPts val="0"/>
              </a:spcBef>
              <a:spcAft>
                <a:spcPts val="0"/>
              </a:spcAft>
              <a:buNone/>
            </a:pPr>
            <a:r>
              <a:rPr lang="en-US" sz="1519">
                <a:solidFill>
                  <a:srgbClr val="B7B7B7"/>
                </a:solidFill>
                <a:latin typeface="DM Sans"/>
                <a:ea typeface="DM Sans"/>
                <a:cs typeface="DM Sans"/>
                <a:sym typeface="DM Sans"/>
              </a:rPr>
              <a:t>Naroa Genicio Iglesias --&gt; 905689@edu.p.lodz.pl</a:t>
            </a:r>
            <a:endParaRPr sz="1519">
              <a:solidFill>
                <a:srgbClr val="B7B7B7"/>
              </a:solidFill>
              <a:latin typeface="DM Sans"/>
              <a:ea typeface="DM Sans"/>
              <a:cs typeface="DM Sans"/>
              <a:sym typeface="DM Sans"/>
            </a:endParaRPr>
          </a:p>
          <a:p>
            <a:pPr indent="0" lvl="0" marL="0" marR="0" rtl="0" algn="ctr">
              <a:spcBef>
                <a:spcPts val="0"/>
              </a:spcBef>
              <a:spcAft>
                <a:spcPts val="0"/>
              </a:spcAft>
              <a:buNone/>
            </a:pPr>
            <a:r>
              <a:rPr lang="en-US" sz="1519">
                <a:solidFill>
                  <a:srgbClr val="B7B7B7"/>
                </a:solidFill>
                <a:latin typeface="DM Sans"/>
                <a:ea typeface="DM Sans"/>
                <a:cs typeface="DM Sans"/>
                <a:sym typeface="DM Sans"/>
              </a:rPr>
              <a:t>David Sánchez Sánchez --&gt; 905590@edu.p.lodz.pl</a:t>
            </a:r>
            <a:endParaRPr sz="1519">
              <a:solidFill>
                <a:srgbClr val="B7B7B7"/>
              </a:solidFill>
              <a:latin typeface="DM Sans"/>
              <a:ea typeface="DM Sans"/>
              <a:cs typeface="DM Sans"/>
              <a:sym typeface="DM Sans"/>
            </a:endParaRPr>
          </a:p>
          <a:p>
            <a:pPr indent="0" lvl="0" marL="0" marR="0" rtl="0" algn="ctr">
              <a:spcBef>
                <a:spcPts val="0"/>
              </a:spcBef>
              <a:spcAft>
                <a:spcPts val="0"/>
              </a:spcAft>
              <a:buNone/>
            </a:pPr>
            <a:r>
              <a:rPr lang="en-US" sz="1519">
                <a:solidFill>
                  <a:srgbClr val="B7B7B7"/>
                </a:solidFill>
                <a:latin typeface="DM Sans"/>
                <a:ea typeface="DM Sans"/>
                <a:cs typeface="DM Sans"/>
                <a:sym typeface="DM Sans"/>
              </a:rPr>
              <a:t>Jaime Esteban Reano --&gt; 905805@edu.p.lodz.pl</a:t>
            </a:r>
            <a:endParaRPr sz="1519">
              <a:solidFill>
                <a:srgbClr val="B7B7B7"/>
              </a:solidFill>
              <a:latin typeface="DM Sans"/>
              <a:ea typeface="DM Sans"/>
              <a:cs typeface="DM Sans"/>
              <a:sym typeface="DM Sans"/>
            </a:endParaRPr>
          </a:p>
          <a:p>
            <a:pPr indent="0" lvl="0" marL="0" marR="0" rtl="0" algn="ctr">
              <a:spcBef>
                <a:spcPts val="0"/>
              </a:spcBef>
              <a:spcAft>
                <a:spcPts val="0"/>
              </a:spcAft>
              <a:buNone/>
            </a:pPr>
            <a:r>
              <a:rPr lang="en-US" sz="1519">
                <a:solidFill>
                  <a:srgbClr val="B7B7B7"/>
                </a:solidFill>
                <a:latin typeface="DM Sans"/>
                <a:ea typeface="DM Sans"/>
                <a:cs typeface="DM Sans"/>
                <a:sym typeface="DM Sans"/>
              </a:rPr>
              <a:t>Jorge Domínguez Palomo --&gt; 905804@edu.p.lodz.pl</a:t>
            </a:r>
            <a:endParaRPr sz="1519">
              <a:solidFill>
                <a:srgbClr val="B7B7B7"/>
              </a:solidFill>
              <a:latin typeface="DM Sans"/>
              <a:ea typeface="DM Sans"/>
              <a:cs typeface="DM Sans"/>
              <a:sym typeface="DM Sans"/>
            </a:endParaRPr>
          </a:p>
        </p:txBody>
      </p:sp>
      <p:sp>
        <p:nvSpPr>
          <p:cNvPr id="675" name="Google Shape;675;p74"/>
          <p:cNvSpPr txBox="1"/>
          <p:nvPr>
            <p:ph idx="12" type="sldNum"/>
          </p:nvPr>
        </p:nvSpPr>
        <p:spPr>
          <a:xfrm>
            <a:off x="9653025" y="6411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fld id="{00000000-1234-1234-1234-123412341234}" type="slidenum">
              <a:rPr b="1" lang="en-US" sz="2000">
                <a:solidFill>
                  <a:schemeClr val="lt1"/>
                </a:solidFill>
              </a:rPr>
              <a:t>‹#›</a:t>
            </a:fld>
            <a:endParaRPr b="1" sz="2000">
              <a:solidFill>
                <a:schemeClr val="lt1"/>
              </a:solidFill>
            </a:endParaRPr>
          </a:p>
          <a:p>
            <a:pPr indent="0" lvl="0" marL="0" marR="0" rtl="0" algn="r">
              <a:lnSpc>
                <a:spcPct val="100000"/>
              </a:lnSpc>
              <a:spcBef>
                <a:spcPts val="0"/>
              </a:spcBef>
              <a:spcAft>
                <a:spcPts val="0"/>
              </a:spcAft>
              <a:buNone/>
            </a:pPr>
            <a:r>
              <a:t/>
            </a:r>
            <a:endParaRPr b="1" sz="20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