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Bodoni Moda"/>
      <p:regular r:id="rId24"/>
      <p:bold r:id="rId25"/>
      <p:italic r:id="rId26"/>
      <p:boldItalic r:id="rId27"/>
    </p:embeddedFont>
    <p:embeddedFont>
      <p:font typeface="Poppins"/>
      <p:regular r:id="rId28"/>
      <p:bold r:id="rId29"/>
      <p:italic r:id="rId30"/>
      <p:boldItalic r:id="rId31"/>
    </p:embeddedFont>
    <p:embeddedFont>
      <p:font typeface="Bebas Neue"/>
      <p:regular r:id="rId32"/>
    </p:embeddedFont>
    <p:embeddedFont>
      <p:font typeface="Poppins Medium"/>
      <p:regular r:id="rId33"/>
      <p:bold r:id="rId34"/>
      <p:italic r:id="rId35"/>
      <p:boldItalic r:id="rId36"/>
    </p:embeddedFont>
    <p:embeddedFont>
      <p:font typeface="Poppins ExtraLigh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ExtraLight-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BodoniModa-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odoniModa-italic.fntdata"/><Relationship Id="rId25" Type="http://schemas.openxmlformats.org/officeDocument/2006/relationships/font" Target="fonts/BodoniModa-bold.fntdata"/><Relationship Id="rId28" Type="http://schemas.openxmlformats.org/officeDocument/2006/relationships/font" Target="fonts/Poppins-regular.fntdata"/><Relationship Id="rId27" Type="http://schemas.openxmlformats.org/officeDocument/2006/relationships/font" Target="fonts/BodoniModa-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6.xml"/><Relationship Id="rId33" Type="http://schemas.openxmlformats.org/officeDocument/2006/relationships/font" Target="fonts/PoppinsMedium-regular.fntdata"/><Relationship Id="rId10" Type="http://schemas.openxmlformats.org/officeDocument/2006/relationships/slide" Target="slides/slide5.xml"/><Relationship Id="rId32" Type="http://schemas.openxmlformats.org/officeDocument/2006/relationships/font" Target="fonts/BebasNeue-regular.fntdata"/><Relationship Id="rId13" Type="http://schemas.openxmlformats.org/officeDocument/2006/relationships/slide" Target="slides/slide8.xml"/><Relationship Id="rId35" Type="http://schemas.openxmlformats.org/officeDocument/2006/relationships/font" Target="fonts/PoppinsMedium-italic.fntdata"/><Relationship Id="rId12" Type="http://schemas.openxmlformats.org/officeDocument/2006/relationships/slide" Target="slides/slide7.xml"/><Relationship Id="rId34" Type="http://schemas.openxmlformats.org/officeDocument/2006/relationships/font" Target="fonts/PoppinsMedium-bold.fntdata"/><Relationship Id="rId15" Type="http://schemas.openxmlformats.org/officeDocument/2006/relationships/slide" Target="slides/slide10.xml"/><Relationship Id="rId37" Type="http://schemas.openxmlformats.org/officeDocument/2006/relationships/font" Target="fonts/PoppinsExtraLight-regular.fntdata"/><Relationship Id="rId14" Type="http://schemas.openxmlformats.org/officeDocument/2006/relationships/slide" Target="slides/slide9.xml"/><Relationship Id="rId36" Type="http://schemas.openxmlformats.org/officeDocument/2006/relationships/font" Target="fonts/PoppinsMedium-boldItalic.fntdata"/><Relationship Id="rId17" Type="http://schemas.openxmlformats.org/officeDocument/2006/relationships/slide" Target="slides/slide12.xml"/><Relationship Id="rId39" Type="http://schemas.openxmlformats.org/officeDocument/2006/relationships/font" Target="fonts/PoppinsExtraLight-italic.fntdata"/><Relationship Id="rId16" Type="http://schemas.openxmlformats.org/officeDocument/2006/relationships/slide" Target="slides/slide11.xml"/><Relationship Id="rId38" Type="http://schemas.openxmlformats.org/officeDocument/2006/relationships/font" Target="fonts/PoppinsExtra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5f3a5b23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5f3a5b23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mario</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Hello everyone, we are Team 7. Our project is called </a:t>
            </a:r>
            <a:r>
              <a:rPr b="1" lang="es">
                <a:solidFill>
                  <a:schemeClr val="dk1"/>
                </a:solidFill>
              </a:rPr>
              <a:t>ORIENT AI</a:t>
            </a:r>
            <a:r>
              <a:rPr lang="es">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We’re here to address a problem that is incredibly common, yet almost always underestimated: how students choose their academic future.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5fb56694b_2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5fb56694b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mario </a:t>
            </a:r>
            <a:br>
              <a:rPr lang="es"/>
            </a:br>
            <a:r>
              <a:rPr lang="es">
                <a:solidFill>
                  <a:schemeClr val="dk1"/>
                </a:solidFill>
              </a:rPr>
              <a:t>Before we dive in, I’d like to introduce you to the team.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We are Aroa, Naroa, María Encina, Mario, Jaime, Jorge, and David.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We are all Erasmus students from Spain, and arriving here in Lodz gave us a fresh perspective on this issue.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5f3947d02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5f3947d02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mario</a:t>
            </a:r>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What we discovered—and you can see this on the slide—is that this isn't just an individual struggle. </a:t>
            </a:r>
            <a:r>
              <a:rPr b="1" lang="es">
                <a:solidFill>
                  <a:schemeClr val="dk1"/>
                </a:solidFill>
              </a:rPr>
              <a:t>It’s a systemic one.</a:t>
            </a:r>
            <a:r>
              <a:rPr lang="es">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While we’ve been living and studying here in Lodz, we’ve had dozens of informal conversations with fellow students at the Politechnika.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Across every faculty, we found the exact same pattern. Students described their transition from high school to university using three words: </a:t>
            </a:r>
            <a:r>
              <a:rPr b="1" lang="es">
                <a:solidFill>
                  <a:schemeClr val="dk1"/>
                </a:solidFill>
              </a:rPr>
              <a:t>Stressful, Uncertain,</a:t>
            </a:r>
            <a:r>
              <a:rPr lang="es">
                <a:solidFill>
                  <a:schemeClr val="dk1"/>
                </a:solidFill>
              </a:rPr>
              <a:t> and </a:t>
            </a:r>
            <a:r>
              <a:rPr b="1" lang="es">
                <a:solidFill>
                  <a:schemeClr val="dk1"/>
                </a:solidFill>
              </a:rPr>
              <a:t>Blind.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Most people aren't choosing their degrees because they have a deep passion for the subject. Instead, they’re feeling the weight of </a:t>
            </a:r>
            <a:r>
              <a:rPr b="1" lang="es">
                <a:solidFill>
                  <a:schemeClr val="dk1"/>
                </a:solidFill>
              </a:rPr>
              <a:t>external pressure</a:t>
            </a:r>
            <a:r>
              <a:rPr lang="es">
                <a:solidFill>
                  <a:schemeClr val="dk1"/>
                </a:solidFill>
              </a:rPr>
              <a:t> from family, a total </a:t>
            </a:r>
            <a:r>
              <a:rPr b="1" lang="es">
                <a:solidFill>
                  <a:schemeClr val="dk1"/>
                </a:solidFill>
              </a:rPr>
              <a:t>lack of guidance</a:t>
            </a:r>
            <a:r>
              <a:rPr lang="es">
                <a:solidFill>
                  <a:schemeClr val="dk1"/>
                </a:solidFill>
              </a:rPr>
              <a:t> from their schools, or they are simply </a:t>
            </a:r>
            <a:r>
              <a:rPr b="1" lang="es">
                <a:solidFill>
                  <a:schemeClr val="dk1"/>
                </a:solidFill>
              </a:rPr>
              <a:t>eliminating options</a:t>
            </a:r>
            <a:r>
              <a:rPr lang="es">
                <a:solidFill>
                  <a:schemeClr val="dk1"/>
                </a:solidFill>
              </a:rPr>
              <a:t> until only one is left.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We realized we weren't just looking at stressed students; we were looking at a systemic failure in career guidance.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0aa1a1a14578e1c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40aa1a1a14578e1c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mario</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So we asked ourselves: Is this still happening everywhere today, or were these just a few isolated cases?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That led us to the next step: checking if we were right using real data.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To show you how we went from those first conversations to actual facts, Jaime will take over.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5f3a5b23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5f3a5b23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jaime</a:t>
            </a:r>
            <a:endParaRPr/>
          </a:p>
          <a:p>
            <a:pPr indent="0" lvl="0" marL="0" rtl="0" algn="l">
              <a:spcBef>
                <a:spcPts val="0"/>
              </a:spcBef>
              <a:spcAft>
                <a:spcPts val="0"/>
              </a:spcAft>
              <a:buClr>
                <a:schemeClr val="dk1"/>
              </a:buClr>
              <a:buSzPts val="1100"/>
              <a:buFont typeface="Arial"/>
              <a:buNone/>
            </a:pPr>
            <a:r>
              <a:rPr lang="es"/>
              <a:t>To validate our hypothesis, we contacted both high school students and university students. The feedback was very consistent: students still feel confused and unsupported</a:t>
            </a:r>
            <a:endParaRPr/>
          </a:p>
          <a:p>
            <a:pPr indent="0" lvl="0" marL="0" rtl="0" algn="l">
              <a:spcBef>
                <a:spcPts val="0"/>
              </a:spcBef>
              <a:spcAft>
                <a:spcPts val="0"/>
              </a:spcAft>
              <a:buNone/>
            </a:pPr>
            <a:r>
              <a:rPr lang="es"/>
              <a:t>and current guidance systems have not evolved, they do not adapt to real student needs.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5f3a5b23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e5f3a5b23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jaime</a:t>
            </a:r>
            <a:endParaRPr/>
          </a:p>
          <a:p>
            <a:pPr indent="0" lvl="0" marL="0" rtl="0" algn="l">
              <a:spcBef>
                <a:spcPts val="0"/>
              </a:spcBef>
              <a:spcAft>
                <a:spcPts val="0"/>
              </a:spcAft>
              <a:buClr>
                <a:schemeClr val="dk1"/>
              </a:buClr>
              <a:buSzPts val="1100"/>
              <a:buFont typeface="Arial"/>
              <a:buNone/>
            </a:pPr>
            <a:r>
              <a:rPr lang="es"/>
              <a:t>To move from qualitative observations to quantitative data, we designed a structured survey. We distributed it through Google Forms,</a:t>
            </a:r>
            <a:endParaRPr/>
          </a:p>
          <a:p>
            <a:pPr indent="0" lvl="0" marL="0" rtl="0" algn="l">
              <a:spcBef>
                <a:spcPts val="0"/>
              </a:spcBef>
              <a:spcAft>
                <a:spcPts val="0"/>
              </a:spcAft>
              <a:buClr>
                <a:schemeClr val="dk1"/>
              </a:buClr>
              <a:buSzPts val="1100"/>
              <a:buFont typeface="Arial"/>
              <a:buNone/>
            </a:pPr>
            <a:r>
              <a:rPr lang="es"/>
              <a:t>targeting high school students currently choosing their future. It was shared through our former schools and even delivered directly in classrooms,</a:t>
            </a:r>
            <a:endParaRPr/>
          </a:p>
          <a:p>
            <a:pPr indent="0" lvl="0" marL="0" rtl="0" algn="l">
              <a:spcBef>
                <a:spcPts val="0"/>
              </a:spcBef>
              <a:spcAft>
                <a:spcPts val="0"/>
              </a:spcAft>
              <a:buNone/>
            </a:pPr>
            <a:r>
              <a:rPr lang="es"/>
              <a:t>ensuring a relevant and reliable sample.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74a9131354104a8f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74a9131354104a8f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jaime</a:t>
            </a:r>
            <a:endParaRPr/>
          </a:p>
          <a:p>
            <a:pPr indent="0" lvl="0" marL="0" rtl="0" algn="l">
              <a:spcBef>
                <a:spcPts val="0"/>
              </a:spcBef>
              <a:spcAft>
                <a:spcPts val="0"/>
              </a:spcAft>
              <a:buClr>
                <a:schemeClr val="dk1"/>
              </a:buClr>
              <a:buSzPts val="1100"/>
              <a:buFont typeface="Arial"/>
              <a:buNone/>
            </a:pPr>
            <a:r>
              <a:rPr lang="es"/>
              <a:t>The survey had three main objectives: First, measure decision fatigue, how overwhelmed students feel. Second, assess trust in current guidance systems.</a:t>
            </a:r>
            <a:endParaRPr/>
          </a:p>
          <a:p>
            <a:pPr indent="0" lvl="0" marL="0" rtl="0" algn="l">
              <a:spcBef>
                <a:spcPts val="0"/>
              </a:spcBef>
              <a:spcAft>
                <a:spcPts val="0"/>
              </a:spcAft>
              <a:buNone/>
            </a:pPr>
            <a:r>
              <a:rPr lang="es"/>
              <a:t>And third, identify what we call the ‘satisfaction gap’, the fear of choosing something that won’t make them happy. Now, let’s look at what we actually found.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f3947d02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5f3947d02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a:solidFill>
                  <a:srgbClr val="222222"/>
                </a:solidFill>
                <a:highlight>
                  <a:srgbClr val="FFFFFF"/>
                </a:highlight>
              </a:rPr>
              <a:t> So, in these slides we present the results of a survey conducted with 108 high school students about how they feel when choosing their future degree.</a:t>
            </a:r>
            <a:endParaRPr>
              <a:solidFill>
                <a:srgbClr val="222222"/>
              </a:solidFill>
              <a:highlight>
                <a:srgbClr val="FFFFFF"/>
              </a:highlight>
            </a:endParaRPr>
          </a:p>
          <a:p>
            <a:pPr indent="0" lvl="0" marL="0" rtl="0" algn="just">
              <a:spcBef>
                <a:spcPts val="0"/>
              </a:spcBef>
              <a:spcAft>
                <a:spcPts val="0"/>
              </a:spcAft>
              <a:buClr>
                <a:schemeClr val="dk1"/>
              </a:buClr>
              <a:buSzPts val="1100"/>
              <a:buFont typeface="Arial"/>
              <a:buNone/>
            </a:pPr>
            <a:r>
              <a:t/>
            </a:r>
            <a:endParaRPr>
              <a:solidFill>
                <a:schemeClr val="dk1"/>
              </a:solidFill>
            </a:endParaRPr>
          </a:p>
          <a:p>
            <a:pPr indent="0" lvl="0" marL="0" rtl="0" algn="just">
              <a:spcBef>
                <a:spcPts val="0"/>
              </a:spcBef>
              <a:spcAft>
                <a:spcPts val="0"/>
              </a:spcAft>
              <a:buClr>
                <a:schemeClr val="dk1"/>
              </a:buClr>
              <a:buSzPts val="1100"/>
              <a:buFont typeface="Arial"/>
              <a:buNone/>
            </a:pPr>
            <a:r>
              <a:rPr lang="es">
                <a:solidFill>
                  <a:srgbClr val="222222"/>
                </a:solidFill>
                <a:highlight>
                  <a:srgbClr val="FFFFFF"/>
                </a:highlight>
              </a:rPr>
              <a:t>First of all, we can see a clear lack of certainty. Only 9.3% of students say they are completely sure about what they want to study. Meanwhile, almost half of them have several options but feel unsure, and a large percentage say they have no idea at all.</a:t>
            </a:r>
            <a:endParaRPr>
              <a:solidFill>
                <a:srgbClr val="222222"/>
              </a:solidFill>
              <a:highlight>
                <a:srgbClr val="FFFFFF"/>
              </a:highlight>
            </a:endParaRPr>
          </a:p>
          <a:p>
            <a:pPr indent="0" lvl="0" marL="0" rtl="0" algn="just">
              <a:spcBef>
                <a:spcPts val="0"/>
              </a:spcBef>
              <a:spcAft>
                <a:spcPts val="0"/>
              </a:spcAft>
              <a:buClr>
                <a:schemeClr val="dk1"/>
              </a:buClr>
              <a:buSzPts val="1100"/>
              <a:buFont typeface="Arial"/>
              <a:buNone/>
            </a:pPr>
            <a:r>
              <a:t/>
            </a:r>
            <a:endParaRPr>
              <a:solidFill>
                <a:schemeClr val="dk1"/>
              </a:solidFill>
            </a:endParaRPr>
          </a:p>
          <a:p>
            <a:pPr indent="0" lvl="0" marL="0" rtl="0" algn="just">
              <a:spcBef>
                <a:spcPts val="0"/>
              </a:spcBef>
              <a:spcAft>
                <a:spcPts val="0"/>
              </a:spcAft>
              <a:buNone/>
            </a:pPr>
            <a:r>
              <a:rPr lang="es">
                <a:solidFill>
                  <a:srgbClr val="222222"/>
                </a:solidFill>
                <a:highlight>
                  <a:srgbClr val="FFFFFF"/>
                </a:highlight>
              </a:rPr>
              <a:t>When it comes to the information they receive, more than half of the students feel that it is not enough or not personalized. This suggests that the problem is not only indecision, but also a lack of proper guidance</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5f3947d02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5f3947d02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rgbClr val="222222"/>
                </a:solidFill>
                <a:highlight>
                  <a:srgbClr val="FFFFFF"/>
                </a:highlight>
              </a:rPr>
              <a:t>Looking at their emotions, the situation is even more concerning. Around 66% report high levels of stress when making this decision. Many students also feel pressure and fear of choosing the wrong path, and some even avoid thinking about it because it causes anxiety.</a:t>
            </a:r>
            <a:endParaRPr>
              <a:solidFill>
                <a:srgbClr val="222222"/>
              </a:solidFill>
              <a:highlight>
                <a:srgbClr val="FFFFFF"/>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s">
                <a:solidFill>
                  <a:srgbClr val="222222"/>
                </a:solidFill>
                <a:highlight>
                  <a:srgbClr val="FFFFFF"/>
                </a:highlight>
              </a:rPr>
              <a:t>However, there is an interesting insight: more than 70% of students said they would use a mobile app that helps them find the right degree based on their interests.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f3a5b23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5f3a5b23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Let's look at the survey results from 108 students. The data shows a very clear problem.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First, we looked at what drives their decisions. A massive </a:t>
            </a:r>
            <a:r>
              <a:rPr b="1" lang="es">
                <a:solidFill>
                  <a:schemeClr val="dk1"/>
                </a:solidFill>
              </a:rPr>
              <a:t>57%</a:t>
            </a:r>
            <a:r>
              <a:rPr lang="es">
                <a:solidFill>
                  <a:schemeClr val="dk1"/>
                </a:solidFill>
              </a:rPr>
              <a:t> said their biggest fear is starting a degree and realizing later that it doesn't make them happy. The real problem isn't just making a choice—it's the fear of making the </a:t>
            </a:r>
            <a:r>
              <a:rPr b="1" lang="es">
                <a:solidFill>
                  <a:schemeClr val="dk1"/>
                </a:solidFill>
              </a:rPr>
              <a:t>wrong</a:t>
            </a:r>
            <a:r>
              <a:rPr lang="es">
                <a:solidFill>
                  <a:schemeClr val="dk1"/>
                </a:solidFill>
              </a:rPr>
              <a:t> choice.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Second, our current guidance systems are failing them. Only </a:t>
            </a:r>
            <a:r>
              <a:rPr b="1" lang="es">
                <a:solidFill>
                  <a:schemeClr val="dk1"/>
                </a:solidFill>
              </a:rPr>
              <a:t>9%</a:t>
            </a:r>
            <a:r>
              <a:rPr lang="es">
                <a:solidFill>
                  <a:schemeClr val="dk1"/>
                </a:solidFill>
              </a:rPr>
              <a:t> of students feel their school gives them enough helpful guidance. The vast majority feel the information is too general, scarce, or outdated.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What about classic career tests? Half of the students said these tests are just long and boring, and the results didn't fit them at all.</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s">
                <a:solidFill>
                  <a:schemeClr val="dk1"/>
                </a:solidFill>
              </a:rPr>
              <a:t>In conclusion, our current tools are generating </a:t>
            </a:r>
            <a:r>
              <a:rPr b="1" lang="es">
                <a:solidFill>
                  <a:schemeClr val="dk1"/>
                </a:solidFill>
              </a:rPr>
              <a:t>decision fatigue</a:t>
            </a:r>
            <a:r>
              <a:rPr lang="es">
                <a:solidFill>
                  <a:schemeClr val="dk1"/>
                </a:solidFill>
              </a:rPr>
              <a:t> instead of giving students the clarity they really need."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fb3638c4254deaa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fb3638c4254deaa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"Moving on, our data proves there is a strong demand for a completely new solution.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First, </a:t>
            </a:r>
            <a:r>
              <a:rPr b="1" lang="es">
                <a:solidFill>
                  <a:schemeClr val="dk1"/>
                </a:solidFill>
              </a:rPr>
              <a:t>70.1%</a:t>
            </a:r>
            <a:r>
              <a:rPr lang="es">
                <a:solidFill>
                  <a:schemeClr val="dk1"/>
                </a:solidFill>
              </a:rPr>
              <a:t> of students told us they would use an app powered by AI to recommend a degree. Specifically, they want what we call a 'Satisfaction Index'—a feature that predicts their chances of being happy and not dropping 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Second, the reaction to this idea is extremely positive. </a:t>
            </a:r>
            <a:r>
              <a:rPr b="1" lang="es">
                <a:solidFill>
                  <a:schemeClr val="dk1"/>
                </a:solidFill>
              </a:rPr>
              <a:t>76.6%</a:t>
            </a:r>
            <a:r>
              <a:rPr lang="es">
                <a:solidFill>
                  <a:schemeClr val="dk1"/>
                </a:solidFill>
              </a:rPr>
              <a:t> of students said they find the concept of AI predicting their satisfaction to be absolutely 'incredible.'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Finally, a massive </a:t>
            </a:r>
            <a:r>
              <a:rPr b="1" lang="es">
                <a:solidFill>
                  <a:schemeClr val="dk1"/>
                </a:solidFill>
              </a:rPr>
              <a:t>90.7%</a:t>
            </a:r>
            <a:r>
              <a:rPr lang="es">
                <a:solidFill>
                  <a:schemeClr val="dk1"/>
                </a:solidFill>
              </a:rPr>
              <a:t> stated they prefer an experience that is fast and dynamic, rather than taking long, traditional tests.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So, the conclusion is clear. Students don't want the old systems. There is a huge demand for a tool that is personalized, intelligent, and highly efficient."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5f3947d02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e5f3947d02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a:t>naroa</a:t>
            </a:r>
            <a:endParaRPr>
              <a:solidFill>
                <a:schemeClr val="dk1"/>
              </a:solidFill>
            </a:endParaRPr>
          </a:p>
          <a:p>
            <a:pPr indent="0" lvl="0" marL="0" rtl="0" algn="just">
              <a:lnSpc>
                <a:spcPct val="115000"/>
              </a:lnSpc>
              <a:spcBef>
                <a:spcPts val="0"/>
              </a:spcBef>
              <a:spcAft>
                <a:spcPts val="0"/>
              </a:spcAft>
              <a:buNone/>
            </a:pPr>
            <a:r>
              <a:rPr lang="es">
                <a:solidFill>
                  <a:schemeClr val="dk1"/>
                </a:solidFill>
              </a:rPr>
              <a:t>So, as we mentioned, there is a clear demand for a new type of solution, so we looked at what already exists in the market. There are several interesting approaches using AI in career guidance.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
                <a:solidFill>
                  <a:schemeClr val="dk1"/>
                </a:solidFill>
              </a:rPr>
              <a:t>For example, some platforms like Pymetrics use neuroscience-based games to assess cognitive and emotional traits. Others, like AI career coaches, use conversational AI to guide users. We also see solutions based on big data, which analyze the career paths of millions of professionals to suggest possible futures. So overall, these tools are clearly moving in the right direction, they use AI, personalization, and data.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
                <a:solidFill>
                  <a:schemeClr val="dk1"/>
                </a:solidFill>
              </a:rPr>
              <a:t>However, despite these advances, they still don’t fully solve the problem we identified.</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c7147159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cc714715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a:solidFill>
                  <a:schemeClr val="dk1"/>
                </a:solidFill>
              </a:rPr>
              <a:t>naroa</a:t>
            </a:r>
            <a:endParaRPr>
              <a:solidFill>
                <a:schemeClr val="dk1"/>
              </a:solidFill>
            </a:endParaRPr>
          </a:p>
          <a:p>
            <a:pPr indent="0" lvl="0" marL="0" rtl="0" algn="just">
              <a:lnSpc>
                <a:spcPct val="115000"/>
              </a:lnSpc>
              <a:spcBef>
                <a:spcPts val="0"/>
              </a:spcBef>
              <a:spcAft>
                <a:spcPts val="0"/>
              </a:spcAft>
              <a:buNone/>
            </a:pPr>
            <a:r>
              <a:rPr lang="es">
                <a:solidFill>
                  <a:schemeClr val="dk1"/>
                </a:solidFill>
              </a:rPr>
              <a:t>Current tools have three major flaws.</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
                <a:solidFill>
                  <a:schemeClr val="dk1"/>
                </a:solidFill>
              </a:rPr>
              <a:t>First, Inflexibility: they fail to detect non-linear patterns. For example, a student who loves both music and math might be perfect for Sound Engineering, but standard tests will just tell them to pick one or the other.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
                <a:solidFill>
                  <a:schemeClr val="dk1"/>
                </a:solidFill>
              </a:rPr>
              <a:t>Second, there is a Market Disconnect: many systems are not updated with new and emerging careers, especially in fast-changing technological fields.</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
                <a:solidFill>
                  <a:schemeClr val="dk1"/>
                </a:solidFill>
              </a:rPr>
              <a:t>But the most critical issue is the Wellbeing Blind Spot. They focus purely on aptitude, what you are good at, but they completely ignore satisfaction. This is why so many people end up in careers they excel at but actually hate, directly contributing to dissatisfaction and dropout rates we see today.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cc7147159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cc714715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aroa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Lo que digo: </a:t>
            </a:r>
            <a:r>
              <a:rPr lang="es">
                <a:solidFill>
                  <a:schemeClr val="dk1"/>
                </a:solidFill>
              </a:rPr>
              <a:t>To understand our impact, we must look at who we are building for.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Our </a:t>
            </a:r>
            <a:r>
              <a:rPr b="1" lang="es">
                <a:solidFill>
                  <a:schemeClr val="dk1"/>
                </a:solidFill>
              </a:rPr>
              <a:t>Primary users</a:t>
            </a:r>
            <a:r>
              <a:rPr lang="es">
                <a:solidFill>
                  <a:schemeClr val="dk1"/>
                </a:solidFill>
              </a:rPr>
              <a:t> are students who are facing 'choice paralysis' and need personalized, data-backed guidance.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Secondary stakeholders</a:t>
            </a:r>
            <a:r>
              <a:rPr lang="es">
                <a:solidFill>
                  <a:schemeClr val="dk1"/>
                </a:solidFill>
              </a:rPr>
              <a:t> include parents and counselors, who need objective metrics to support student wellbeing and remove the guesswork from the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Finally, we provide massive value to </a:t>
            </a:r>
            <a:r>
              <a:rPr b="1" lang="es">
                <a:solidFill>
                  <a:schemeClr val="dk1"/>
                </a:solidFill>
              </a:rPr>
              <a:t>Universities and Employers</a:t>
            </a:r>
            <a:r>
              <a:rPr lang="es">
                <a:solidFill>
                  <a:schemeClr val="dk1"/>
                </a:solidFill>
              </a:rPr>
              <a:t>. By ensuring a genuine 'Person-Environment Fit,' we help them drastically reduce dropout rates and hire professionals who are actually aligned with their roles."</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s"/>
            </a:br>
            <a:r>
              <a:rPr lang="es"/>
              <a:t>Our solution targets three main groups: First, students, who need personalized guidance. Second, counselors and parents, who want objective data. And third, universities and employers, who want better alignment and lower dropout rates.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just">
              <a:lnSpc>
                <a:spcPct val="162857"/>
              </a:lnSpc>
              <a:spcBef>
                <a:spcPts val="0"/>
              </a:spcBef>
              <a:spcAft>
                <a:spcPts val="0"/>
              </a:spcAft>
              <a:buNone/>
            </a:pPr>
            <a:r>
              <a:rPr lang="es" sz="1096">
                <a:solidFill>
                  <a:schemeClr val="dk1"/>
                </a:solidFill>
                <a:latin typeface="Poppins"/>
                <a:ea typeface="Poppins"/>
                <a:cs typeface="Poppins"/>
                <a:sym typeface="Poppins"/>
              </a:rPr>
              <a:t>Pre-university or university students with doubts seeking data-validated, personalized career recommendations.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rPr lang="es" sz="1096">
                <a:solidFill>
                  <a:schemeClr val="dk1"/>
                </a:solidFill>
                <a:latin typeface="Poppins"/>
                <a:ea typeface="Poppins"/>
                <a:cs typeface="Poppins"/>
                <a:sym typeface="Poppins"/>
              </a:rPr>
              <a:t>School counselors and families seeking objective data to reduce uncertainty and support student wellbeing.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rPr lang="es" sz="1096">
                <a:solidFill>
                  <a:schemeClr val="dk1"/>
                </a:solidFill>
                <a:latin typeface="Poppins"/>
                <a:ea typeface="Poppins"/>
                <a:cs typeface="Poppins"/>
                <a:sym typeface="Poppins"/>
              </a:rPr>
              <a:t>Institutions seeking to reduce dropout rates and hire professionals with genuine Person-Environment Fit.</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Clr>
                <a:srgbClr val="4C4C4C"/>
              </a:buClr>
              <a:buSzPts val="1096"/>
              <a:buFont typeface="Arial"/>
              <a:buNone/>
            </a:pPr>
            <a:r>
              <a:t/>
            </a:r>
            <a:endParaRPr sz="1096">
              <a:solidFill>
                <a:schemeClr val="dk1"/>
              </a:solidFill>
              <a:latin typeface="Poppins"/>
              <a:ea typeface="Poppins"/>
              <a:cs typeface="Poppins"/>
              <a:sym typeface="Poppi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5f3947d02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e5f3947d02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aroa</a:t>
            </a:r>
            <a:endParaRPr/>
          </a:p>
          <a:p>
            <a:pPr indent="0" lvl="0" marL="0" rtl="0" algn="l">
              <a:spcBef>
                <a:spcPts val="0"/>
              </a:spcBef>
              <a:spcAft>
                <a:spcPts val="0"/>
              </a:spcAft>
              <a:buClr>
                <a:schemeClr val="dk1"/>
              </a:buClr>
              <a:buSzPts val="1100"/>
              <a:buFont typeface="Arial"/>
              <a:buNone/>
            </a:pPr>
            <a:r>
              <a:rPr lang="es"/>
              <a:t>Lo que digo:  </a:t>
            </a:r>
            <a:r>
              <a:rPr lang="es">
                <a:solidFill>
                  <a:schemeClr val="dk1"/>
                </a:solidFill>
              </a:rPr>
              <a:t>We solve this through three key technical innovations: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s">
                <a:solidFill>
                  <a:schemeClr val="dk1"/>
                </a:solidFill>
              </a:rPr>
              <a:t>First, we tackle </a:t>
            </a:r>
            <a:r>
              <a:rPr b="1" lang="es">
                <a:solidFill>
                  <a:schemeClr val="dk1"/>
                </a:solidFill>
              </a:rPr>
              <a:t>Decision Fatigue</a:t>
            </a:r>
            <a:r>
              <a:rPr lang="es">
                <a:solidFill>
                  <a:schemeClr val="dk1"/>
                </a:solidFill>
              </a:rPr>
              <a:t>. Traditional 200-question tests are mentally exhausting. Research proves that halfway through these monotonous forms, students stop reflecting and start answering randomly just to finish. This creates 'dirty data’ noise that makes any final result statistically unreliable.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
                <a:solidFill>
                  <a:schemeClr val="dk1"/>
                </a:solidFill>
              </a:rPr>
              <a:t>Second, we move past </a:t>
            </a:r>
            <a:r>
              <a:rPr b="1" lang="es">
                <a:solidFill>
                  <a:schemeClr val="dk1"/>
                </a:solidFill>
              </a:rPr>
              <a:t>Rigid Rule-Based Models</a:t>
            </a:r>
            <a:r>
              <a:rPr lang="es">
                <a:solidFill>
                  <a:schemeClr val="dk1"/>
                </a:solidFill>
              </a:rPr>
              <a:t>. Most existing tools still rely on simple 1990s arithmetic: This is dangerously oversimplified. It’s too rigid for today’s world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
                <a:solidFill>
                  <a:schemeClr val="dk1"/>
                </a:solidFill>
              </a:rPr>
              <a:t>Lastly, we recognize that </a:t>
            </a:r>
            <a:r>
              <a:rPr b="1" lang="es">
                <a:solidFill>
                  <a:schemeClr val="dk1"/>
                </a:solidFill>
              </a:rPr>
              <a:t>Aptitude does not equal Satisfaction</a:t>
            </a:r>
            <a:r>
              <a:rPr lang="es">
                <a:solidFill>
                  <a:schemeClr val="dk1"/>
                </a:solidFill>
              </a:rPr>
              <a:t>. is assuming that being good at something means you should do it for life. We’ve all heard it:' But technical skill does not guarantee professional happiness. This logic ignores the risk of burnout and leads to students choosing careers they will eventually abandon.</a:t>
            </a:r>
            <a:endParaRPr>
              <a:solidFill>
                <a:schemeClr val="dk1"/>
              </a:solidFill>
            </a:endParaRPr>
          </a:p>
          <a:p>
            <a:pPr indent="0" lvl="0" marL="0" rtl="0" algn="l">
              <a:lnSpc>
                <a:spcPct val="115000"/>
              </a:lnSpc>
              <a:spcBef>
                <a:spcPts val="1200"/>
              </a:spcBef>
              <a:spcAft>
                <a:spcPts val="0"/>
              </a:spcAft>
              <a:buNone/>
            </a:pPr>
            <a:r>
              <a:rPr lang="es">
                <a:solidFill>
                  <a:schemeClr val="dk1"/>
                </a:solidFill>
              </a:rPr>
              <a:t>We are here to change this. We solve these three systemic flaws through three key technical innovations that Encina will now explain.</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2- </a:t>
            </a:r>
            <a:r>
              <a:rPr lang="es">
                <a:solidFill>
                  <a:schemeClr val="dk1"/>
                </a:solidFill>
              </a:rPr>
              <a:t> Instead of monotonous 200-question tests, we use a </a:t>
            </a:r>
            <a:r>
              <a:rPr b="1" lang="es">
                <a:solidFill>
                  <a:schemeClr val="dk1"/>
                </a:solidFill>
              </a:rPr>
              <a:t>two-stage hierarchical survey</a:t>
            </a:r>
            <a:r>
              <a:rPr lang="es">
                <a:solidFill>
                  <a:schemeClr val="dk1"/>
                </a:solidFill>
              </a:rPr>
              <a:t> that only asks specialized questions once a profile begins to emerge. </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None/>
            </a:pPr>
            <a:r>
              <a:rPr lang="es">
                <a:solidFill>
                  <a:schemeClr val="dk1"/>
                </a:solidFill>
              </a:rPr>
              <a:t>3- </a:t>
            </a:r>
            <a:r>
              <a:rPr lang="es">
                <a:solidFill>
                  <a:schemeClr val="dk1"/>
                </a:solidFill>
              </a:rPr>
              <a:t>Being good at math doesn't mean you'll enjoy being an accountant. Our </a:t>
            </a:r>
            <a:r>
              <a:rPr b="1" lang="es">
                <a:solidFill>
                  <a:schemeClr val="dk1"/>
                </a:solidFill>
              </a:rPr>
              <a:t>parallel regression model</a:t>
            </a:r>
            <a:r>
              <a:rPr lang="es">
                <a:solidFill>
                  <a:schemeClr val="dk1"/>
                </a:solidFill>
              </a:rPr>
              <a:t> predicts a long-term </a:t>
            </a:r>
            <a:r>
              <a:rPr b="1" lang="es">
                <a:solidFill>
                  <a:schemeClr val="dk1"/>
                </a:solidFill>
              </a:rPr>
              <a:t>Satisfaction Index</a:t>
            </a:r>
            <a:r>
              <a:rPr lang="es">
                <a:solidFill>
                  <a:schemeClr val="dk1"/>
                </a:solidFill>
              </a:rPr>
              <a:t>, ensuring students choose careers they will actually stay in."</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We identified three core problems: Decision fatigue, Rigid models, And lack of satisfaction prediction. And we translate each into a technical solution:</a:t>
            </a:r>
            <a:endParaRPr/>
          </a:p>
          <a:p>
            <a:pPr indent="0" lvl="0" marL="0" rtl="0" algn="l">
              <a:spcBef>
                <a:spcPts val="0"/>
              </a:spcBef>
              <a:spcAft>
                <a:spcPts val="0"/>
              </a:spcAft>
              <a:buNone/>
            </a:pPr>
            <a:r>
              <a:rPr lang="es"/>
              <a:t>a hierarchical survey, neural networks for complex patterns and a model that predicts a satisfaction index. All of this leads us to the final definition of the problem.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62857"/>
              </a:lnSpc>
              <a:spcBef>
                <a:spcPts val="0"/>
              </a:spcBef>
              <a:spcAft>
                <a:spcPts val="0"/>
              </a:spcAft>
              <a:buNone/>
            </a:pPr>
            <a:r>
              <a:rPr lang="es" sz="1105">
                <a:solidFill>
                  <a:srgbClr val="4C4C4C"/>
                </a:solidFill>
                <a:latin typeface="Poppins"/>
                <a:ea typeface="Poppins"/>
                <a:cs typeface="Poppins"/>
                <a:sym typeface="Poppins"/>
              </a:rPr>
              <a:t>Traditional tests sum points linearly, missing complex hybrid profiles. </a:t>
            </a:r>
            <a:r>
              <a:rPr b="1" lang="es" sz="1105">
                <a:solidFill>
                  <a:schemeClr val="dk1"/>
                </a:solidFill>
                <a:latin typeface="Poppins"/>
                <a:ea typeface="Poppins"/>
                <a:cs typeface="Poppins"/>
                <a:sym typeface="Poppins"/>
              </a:rPr>
              <a:t>Solution:</a:t>
            </a:r>
            <a:r>
              <a:rPr lang="es" sz="1105">
                <a:solidFill>
                  <a:schemeClr val="dk1"/>
                </a:solidFill>
                <a:latin typeface="Poppins"/>
                <a:ea typeface="Poppins"/>
                <a:cs typeface="Poppins"/>
                <a:sym typeface="Poppins"/>
              </a:rPr>
              <a:t> Likert-scale feature vectors (1–5) fed into Neural Networks to detect non-linear patterns.</a:t>
            </a:r>
            <a:endParaRPr sz="1105">
              <a:solidFill>
                <a:schemeClr val="dk1"/>
              </a:solidFill>
              <a:latin typeface="Poppins"/>
              <a:ea typeface="Poppins"/>
              <a:cs typeface="Poppins"/>
              <a:sym typeface="Poppins"/>
            </a:endParaRPr>
          </a:p>
          <a:p>
            <a:pPr indent="0" lvl="0" marL="0" rtl="0" algn="l">
              <a:lnSpc>
                <a:spcPct val="162857"/>
              </a:lnSpc>
              <a:spcBef>
                <a:spcPts val="0"/>
              </a:spcBef>
              <a:spcAft>
                <a:spcPts val="0"/>
              </a:spcAft>
              <a:buClr>
                <a:srgbClr val="4C4C4C"/>
              </a:buClr>
              <a:buSzPts val="1105"/>
              <a:buFont typeface="Arial"/>
              <a:buNone/>
            </a:pPr>
            <a:r>
              <a:rPr lang="es" sz="1105">
                <a:solidFill>
                  <a:srgbClr val="4C4C4C"/>
                </a:solidFill>
                <a:latin typeface="Poppins"/>
                <a:ea typeface="Poppins"/>
                <a:cs typeface="Poppins"/>
                <a:sym typeface="Poppins"/>
              </a:rPr>
              <a:t>Students pick careers they're good at, not ones they'll enjoy — driving dropout.</a:t>
            </a:r>
            <a:r>
              <a:rPr b="1" lang="es" sz="1105">
                <a:solidFill>
                  <a:schemeClr val="dk1"/>
                </a:solidFill>
                <a:latin typeface="Poppins"/>
                <a:ea typeface="Poppins"/>
                <a:cs typeface="Poppins"/>
                <a:sym typeface="Poppins"/>
              </a:rPr>
              <a:t>Solution:</a:t>
            </a:r>
            <a:r>
              <a:rPr lang="es" sz="1105">
                <a:solidFill>
                  <a:schemeClr val="dk1"/>
                </a:solidFill>
                <a:latin typeface="Poppins"/>
                <a:ea typeface="Poppins"/>
                <a:cs typeface="Poppins"/>
                <a:sym typeface="Poppins"/>
              </a:rPr>
              <a:t> Parallel regression model predicting a long-term Satisfaction Index (0–100%).</a:t>
            </a:r>
            <a:endParaRPr sz="1105">
              <a:solidFill>
                <a:schemeClr val="dk1"/>
              </a:solidFill>
              <a:latin typeface="Poppins"/>
              <a:ea typeface="Poppins"/>
              <a:cs typeface="Poppins"/>
              <a:sym typeface="Poppi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74a9131354104a8f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74a9131354104a8f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encina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
              <a:t> we have adknoledge that theres a</a:t>
            </a:r>
            <a:r>
              <a:rPr b="1" lang="es"/>
              <a:t> lack of </a:t>
            </a:r>
            <a:r>
              <a:rPr b="1" lang="es">
                <a:solidFill>
                  <a:schemeClr val="dk1"/>
                </a:solidFill>
              </a:rPr>
              <a:t>a guiding tool </a:t>
            </a:r>
            <a:r>
              <a:rPr lang="es">
                <a:solidFill>
                  <a:schemeClr val="dk1"/>
                </a:solidFill>
              </a:rPr>
              <a:t>that truly</a:t>
            </a:r>
            <a:r>
              <a:rPr b="1" lang="es">
                <a:solidFill>
                  <a:schemeClr val="dk1"/>
                </a:solidFill>
              </a:rPr>
              <a:t> integrates quantitative data analysis</a:t>
            </a:r>
            <a:r>
              <a:rPr lang="es">
                <a:solidFill>
                  <a:schemeClr val="dk1"/>
                </a:solidFill>
              </a:rPr>
              <a:t> with something as human as </a:t>
            </a:r>
            <a:r>
              <a:rPr b="1" lang="es">
                <a:solidFill>
                  <a:schemeClr val="dk1"/>
                </a:solidFill>
              </a:rPr>
              <a:t>personal satisfaction</a:t>
            </a:r>
            <a:r>
              <a:rPr lang="es">
                <a:solidFill>
                  <a:schemeClr val="dk1"/>
                </a:solidFill>
              </a:rPr>
              <a:t>.</a:t>
            </a:r>
            <a:endParaRPr/>
          </a:p>
          <a:p>
            <a:pPr indent="0" lvl="0" marL="0" rtl="0" algn="l">
              <a:spcBef>
                <a:spcPts val="0"/>
              </a:spcBef>
              <a:spcAft>
                <a:spcPts val="0"/>
              </a:spcAft>
              <a:buNone/>
            </a:pPr>
            <a:r>
              <a:rPr lang="es"/>
              <a:t>At Orient AI, we don't just offer advice; we're proposing a </a:t>
            </a:r>
            <a:r>
              <a:rPr b="1" lang="es"/>
              <a:t>Machine Learning-Based Recommendation System</a:t>
            </a:r>
            <a:r>
              <a:rPr lang="es"/>
              <a:t> that replaces intuition with mathematical precision.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c7147159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c7147159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encina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what does o ai involve?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Our </a:t>
            </a:r>
            <a:r>
              <a:rPr b="1" lang="es"/>
              <a:t>primary competitive advantage is data input optimization</a:t>
            </a:r>
            <a:r>
              <a:rPr lang="es"/>
              <a:t>. instead of endless tests generate fatigue and bias, we implement a cascading survey architecture </a:t>
            </a:r>
            <a:r>
              <a:rPr lang="es">
                <a:solidFill>
                  <a:schemeClr val="dk1"/>
                </a:solidFill>
              </a:rPr>
              <a:t>(Level 1: Scope / Level 2: Specialty)</a:t>
            </a:r>
            <a:r>
              <a:rPr lang="es"/>
              <a:t>. We filter out noise from the very first level so that every data vector entering our model is of high quality, guaranteeing a much finer and more specific classification.</a:t>
            </a:r>
            <a:br>
              <a:rPr lang="es"/>
            </a:b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At the heart of Orient AI, there’s a multi-class classification model (like Random Forest and XGBoost) that will process data vectors and detects through non-linear ecutions,  correlations not seen by the human eye. The true competitive advantage of this model is its </a:t>
            </a:r>
            <a:r>
              <a:rPr b="1" lang="es"/>
              <a:t>ability to identify latent correlations and internal structures in the data that are virtually imperceptible to the human eye.</a:t>
            </a:r>
            <a:r>
              <a:rPr lang="es"/>
              <a:t> While a traditional career advisor might rely on linear trends or subjective experiences, Orient AI uses nonlinear decision functions to:</a:t>
            </a:r>
            <a:endParaRPr/>
          </a:p>
          <a:p>
            <a:pPr indent="0" lvl="0" marL="0" rtl="0" algn="l">
              <a:spcBef>
                <a:spcPts val="0"/>
              </a:spcBef>
              <a:spcAft>
                <a:spcPts val="0"/>
              </a:spcAft>
              <a:buClr>
                <a:schemeClr val="dk1"/>
              </a:buClr>
              <a:buSzPts val="1100"/>
              <a:buFont typeface="Arial"/>
              <a:buNone/>
            </a:pPr>
            <a:r>
              <a:t/>
            </a:r>
            <a:endParaRPr/>
          </a:p>
          <a:p>
            <a:pPr indent="-298450" lvl="0" marL="457200" rtl="0" algn="l">
              <a:spcBef>
                <a:spcPts val="0"/>
              </a:spcBef>
              <a:spcAft>
                <a:spcPts val="0"/>
              </a:spcAft>
              <a:buSzPts val="1100"/>
              <a:buChar char="-"/>
            </a:pPr>
            <a:r>
              <a:rPr lang="es"/>
              <a:t>Map complex interconnections: Detect how seemingly unrelated variables (such as problem-solving habits, specific personality traits, and technical preferences) converge to indicate an aptitude for a particular career.</a:t>
            </a:r>
            <a:endParaRPr/>
          </a:p>
          <a:p>
            <a:pPr indent="0" lvl="0" marL="0" rtl="0" algn="l">
              <a:spcBef>
                <a:spcPts val="0"/>
              </a:spcBef>
              <a:spcAft>
                <a:spcPts val="0"/>
              </a:spcAft>
              <a:buClr>
                <a:schemeClr val="dk1"/>
              </a:buClr>
              <a:buSzPts val="1100"/>
              <a:buFont typeface="Arial"/>
              <a:buNone/>
            </a:pPr>
            <a:r>
              <a:t/>
            </a:r>
            <a:endParaRPr/>
          </a:p>
          <a:p>
            <a:pPr indent="-298450" lvl="0" marL="457200" rtl="0" algn="l">
              <a:spcBef>
                <a:spcPts val="0"/>
              </a:spcBef>
              <a:spcAft>
                <a:spcPts val="0"/>
              </a:spcAft>
              <a:buSzPts val="1100"/>
              <a:buChar char="-"/>
            </a:pPr>
            <a:r>
              <a:rPr lang="es"/>
              <a:t>Identify multidimensional patterns: The model navigates high-dimensional spaces to find "clusters of success," recognizing that career affinity is not the result of a single factor, but rather a complex data architecture.</a:t>
            </a:r>
            <a:endParaRPr/>
          </a:p>
          <a:p>
            <a:pPr indent="0" lvl="0" marL="0" rtl="0" algn="l">
              <a:spcBef>
                <a:spcPts val="0"/>
              </a:spcBef>
              <a:spcAft>
                <a:spcPts val="0"/>
              </a:spcAft>
              <a:buClr>
                <a:schemeClr val="dk1"/>
              </a:buClr>
              <a:buSzPts val="1100"/>
              <a:buFont typeface="Arial"/>
              <a:buNone/>
            </a:pPr>
            <a:br>
              <a:rPr lang="es"/>
            </a:br>
            <a:br>
              <a:rPr lang="es"/>
            </a:br>
            <a:br>
              <a:rPr lang="es"/>
            </a:br>
            <a:r>
              <a:rPr lang="es"/>
              <a:t>But the real differentiating factor is our Parallel Regression Model. We not only predict where the student should go, but also how long they will want to stay there. We quantify the Probability of Satisfaction, we are not just looking for academic success, but for professional sustainability. </a:t>
            </a:r>
            <a:r>
              <a:rPr b="1" lang="es"/>
              <a:t>With Orient AI, students not only discover what they're good at, but also where they'll truly thrive.</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5f47443c6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e5f47443c6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And with that, we would be happy to answer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rgbClr val="E6DED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2" name="Google Shape;52;p13"/>
          <p:cNvSpPr/>
          <p:nvPr/>
        </p:nvSpPr>
        <p:spPr>
          <a:xfrm>
            <a:off x="0" y="0"/>
            <a:ext cx="9144000" cy="5143500"/>
          </a:xfrm>
          <a:prstGeom prst="rect">
            <a:avLst/>
          </a:prstGeom>
          <a:solidFill>
            <a:srgbClr val="FDFBF7"/>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53" name="Google Shape;53;p13">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E6DED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6" name="Google Shape;56;p14"/>
          <p:cNvSpPr/>
          <p:nvPr/>
        </p:nvSpPr>
        <p:spPr>
          <a:xfrm>
            <a:off x="0" y="0"/>
            <a:ext cx="9144000" cy="5143500"/>
          </a:xfrm>
          <a:prstGeom prst="rect">
            <a:avLst/>
          </a:prstGeom>
          <a:solidFill>
            <a:srgbClr val="FDFBF7"/>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57" name="Google Shape;57;p14">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9.jpg"/><Relationship Id="rId5" Type="http://schemas.openxmlformats.org/officeDocument/2006/relationships/image" Target="../media/image23.png"/><Relationship Id="rId6" Type="http://schemas.openxmlformats.org/officeDocument/2006/relationships/image" Target="../media/image1.jpg"/><Relationship Id="rId7" Type="http://schemas.openxmlformats.org/officeDocument/2006/relationships/image" Target="../media/image2.jpg"/><Relationship Id="rId8"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38.png"/><Relationship Id="rId5"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41.png"/><Relationship Id="rId5" Type="http://schemas.openxmlformats.org/officeDocument/2006/relationships/image" Target="../media/image39.png"/><Relationship Id="rId6"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3" name="Google Shape;63;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4" name="Google Shape;64;p15"/>
          <p:cNvPicPr preferRelativeResize="0"/>
          <p:nvPr/>
        </p:nvPicPr>
        <p:blipFill>
          <a:blip r:embed="rId3">
            <a:alphaModFix/>
          </a:blip>
          <a:stretch>
            <a:fillRect/>
          </a:stretch>
        </p:blipFill>
        <p:spPr>
          <a:xfrm>
            <a:off x="0" y="-85087"/>
            <a:ext cx="9144000" cy="5313675"/>
          </a:xfrm>
          <a:prstGeom prst="rect">
            <a:avLst/>
          </a:prstGeom>
          <a:noFill/>
          <a:ln>
            <a:noFill/>
          </a:ln>
        </p:spPr>
      </p:pic>
      <p:sp>
        <p:nvSpPr>
          <p:cNvPr id="65" name="Google Shape;65;p15"/>
          <p:cNvSpPr txBox="1"/>
          <p:nvPr>
            <p:ph type="ctrTitle"/>
          </p:nvPr>
        </p:nvSpPr>
        <p:spPr>
          <a:xfrm>
            <a:off x="562975" y="1223300"/>
            <a:ext cx="3732600" cy="178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6100">
                <a:latin typeface="Bebas Neue"/>
                <a:ea typeface="Bebas Neue"/>
                <a:cs typeface="Bebas Neue"/>
                <a:sym typeface="Bebas Neue"/>
              </a:rPr>
              <a:t>ORIENT ai </a:t>
            </a:r>
            <a:endParaRPr sz="6100">
              <a:latin typeface="Bebas Neue"/>
              <a:ea typeface="Bebas Neue"/>
              <a:cs typeface="Bebas Neue"/>
              <a:sym typeface="Bebas Neue"/>
            </a:endParaRPr>
          </a:p>
        </p:txBody>
      </p:sp>
      <p:sp>
        <p:nvSpPr>
          <p:cNvPr id="66" name="Google Shape;66;p15"/>
          <p:cNvSpPr txBox="1"/>
          <p:nvPr/>
        </p:nvSpPr>
        <p:spPr>
          <a:xfrm>
            <a:off x="562975" y="2898025"/>
            <a:ext cx="3732600" cy="6648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s" sz="1300">
                <a:solidFill>
                  <a:schemeClr val="dk1"/>
                </a:solidFill>
                <a:latin typeface="Poppins Medium"/>
                <a:ea typeface="Poppins Medium"/>
                <a:cs typeface="Poppins Medium"/>
                <a:sym typeface="Poppins Medium"/>
              </a:rPr>
              <a:t>A research-driven investigation into vocational disorientation and a Machine Learning solution to fix it.</a:t>
            </a:r>
            <a:endParaRPr sz="1300">
              <a:latin typeface="Poppins Medium"/>
              <a:ea typeface="Poppins Medium"/>
              <a:cs typeface="Poppins Medium"/>
              <a:sym typeface="Poppins Medium"/>
            </a:endParaRPr>
          </a:p>
        </p:txBody>
      </p:sp>
      <p:sp>
        <p:nvSpPr>
          <p:cNvPr id="67" name="Google Shape;67;p15"/>
          <p:cNvSpPr txBox="1"/>
          <p:nvPr/>
        </p:nvSpPr>
        <p:spPr>
          <a:xfrm>
            <a:off x="562963" y="4552625"/>
            <a:ext cx="7542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dk1"/>
                </a:solidFill>
                <a:latin typeface="Poppins ExtraLight"/>
                <a:ea typeface="Poppins ExtraLight"/>
                <a:cs typeface="Poppins ExtraLight"/>
                <a:sym typeface="Poppins ExtraLight"/>
              </a:rPr>
              <a:t>Aroa Aguiño Domínguez, Naroa Genicio Iglesias,  María Encina Díez del Río,</a:t>
            </a:r>
            <a:endParaRPr sz="1000">
              <a:solidFill>
                <a:schemeClr val="dk1"/>
              </a:solidFill>
              <a:latin typeface="Poppins ExtraLight"/>
              <a:ea typeface="Poppins ExtraLight"/>
              <a:cs typeface="Poppins ExtraLight"/>
              <a:sym typeface="Poppins ExtraLight"/>
            </a:endParaRPr>
          </a:p>
          <a:p>
            <a:pPr indent="0" lvl="0" marL="0" rtl="0" algn="l">
              <a:spcBef>
                <a:spcPts val="0"/>
              </a:spcBef>
              <a:spcAft>
                <a:spcPts val="0"/>
              </a:spcAft>
              <a:buNone/>
            </a:pPr>
            <a:r>
              <a:rPr lang="es" sz="1000">
                <a:solidFill>
                  <a:schemeClr val="dk1"/>
                </a:solidFill>
                <a:latin typeface="Poppins ExtraLight"/>
                <a:ea typeface="Poppins ExtraLight"/>
                <a:cs typeface="Poppins ExtraLight"/>
                <a:sym typeface="Poppins ExtraLight"/>
              </a:rPr>
              <a:t>Mario Fernández Costello, Jaime Esteban Reano, Jorge Domínguez Palomo and David Sánchez S</a:t>
            </a:r>
            <a:r>
              <a:rPr lang="es" sz="1000">
                <a:solidFill>
                  <a:schemeClr val="dk1"/>
                </a:solidFill>
                <a:latin typeface="Poppins ExtraLight"/>
                <a:ea typeface="Poppins ExtraLight"/>
                <a:cs typeface="Poppins ExtraLight"/>
                <a:sym typeface="Poppins ExtraLight"/>
              </a:rPr>
              <a:t>ánchez</a:t>
            </a:r>
            <a:endParaRPr sz="1200">
              <a:solidFill>
                <a:schemeClr val="dk1"/>
              </a:solidFill>
              <a:latin typeface="Poppins ExtraLight"/>
              <a:ea typeface="Poppins ExtraLight"/>
              <a:cs typeface="Poppins ExtraLight"/>
              <a:sym typeface="Poppins ExtraLight"/>
            </a:endParaRPr>
          </a:p>
        </p:txBody>
      </p:sp>
      <p:sp>
        <p:nvSpPr>
          <p:cNvPr id="68" name="Google Shape;68;p15"/>
          <p:cNvSpPr txBox="1"/>
          <p:nvPr/>
        </p:nvSpPr>
        <p:spPr>
          <a:xfrm>
            <a:off x="562975" y="4137125"/>
            <a:ext cx="719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1"/>
                </a:solidFill>
                <a:latin typeface="Bebas Neue"/>
                <a:ea typeface="Bebas Neue"/>
                <a:cs typeface="Bebas Neue"/>
                <a:sym typeface="Bebas Neue"/>
              </a:rPr>
              <a:t>Team 7</a:t>
            </a:r>
            <a:endParaRPr sz="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4" name="Google Shape;74;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5" name="Google Shape;75;p16"/>
          <p:cNvPicPr preferRelativeResize="0"/>
          <p:nvPr/>
        </p:nvPicPr>
        <p:blipFill>
          <a:blip r:embed="rId3">
            <a:alphaModFix/>
          </a:blip>
          <a:stretch>
            <a:fillRect/>
          </a:stretch>
        </p:blipFill>
        <p:spPr>
          <a:xfrm>
            <a:off x="-16742" y="-4700"/>
            <a:ext cx="9160742" cy="5143499"/>
          </a:xfrm>
          <a:prstGeom prst="rect">
            <a:avLst/>
          </a:prstGeom>
          <a:noFill/>
          <a:ln>
            <a:noFill/>
          </a:ln>
        </p:spPr>
      </p:pic>
      <p:pic>
        <p:nvPicPr>
          <p:cNvPr id="76" name="Google Shape;76;p16"/>
          <p:cNvPicPr preferRelativeResize="0"/>
          <p:nvPr/>
        </p:nvPicPr>
        <p:blipFill rotWithShape="1">
          <a:blip r:embed="rId4">
            <a:alphaModFix/>
          </a:blip>
          <a:srcRect b="-3260" l="0" r="0" t="3260"/>
          <a:stretch/>
        </p:blipFill>
        <p:spPr>
          <a:xfrm>
            <a:off x="948025" y="1852200"/>
            <a:ext cx="996000" cy="1074900"/>
          </a:xfrm>
          <a:prstGeom prst="ellipse">
            <a:avLst/>
          </a:prstGeom>
          <a:noFill/>
          <a:ln cap="flat" cmpd="sng" w="9525">
            <a:solidFill>
              <a:srgbClr val="E2CDCE"/>
            </a:solidFill>
            <a:prstDash val="solid"/>
            <a:round/>
            <a:headEnd len="sm" w="sm" type="none"/>
            <a:tailEnd len="sm" w="sm" type="none"/>
          </a:ln>
        </p:spPr>
      </p:pic>
      <p:sp>
        <p:nvSpPr>
          <p:cNvPr id="77" name="Google Shape;77;p16"/>
          <p:cNvSpPr txBox="1"/>
          <p:nvPr/>
        </p:nvSpPr>
        <p:spPr>
          <a:xfrm>
            <a:off x="648175" y="2926950"/>
            <a:ext cx="15957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900">
                <a:solidFill>
                  <a:schemeClr val="dk1"/>
                </a:solidFill>
                <a:latin typeface="Poppins"/>
                <a:ea typeface="Poppins"/>
                <a:cs typeface="Poppins"/>
                <a:sym typeface="Poppins"/>
              </a:rPr>
              <a:t>Aroa Aguiño Domínguez</a:t>
            </a:r>
            <a:endParaRPr sz="900">
              <a:solidFill>
                <a:schemeClr val="dk1"/>
              </a:solidFill>
              <a:latin typeface="Poppins"/>
              <a:ea typeface="Poppins"/>
              <a:cs typeface="Poppins"/>
              <a:sym typeface="Poppins"/>
            </a:endParaRPr>
          </a:p>
        </p:txBody>
      </p:sp>
      <p:pic>
        <p:nvPicPr>
          <p:cNvPr id="78" name="Google Shape;78;p16"/>
          <p:cNvPicPr preferRelativeResize="0"/>
          <p:nvPr/>
        </p:nvPicPr>
        <p:blipFill rotWithShape="1">
          <a:blip r:embed="rId5">
            <a:alphaModFix/>
          </a:blip>
          <a:srcRect b="11029" l="10313" r="5228" t="11029"/>
          <a:stretch/>
        </p:blipFill>
        <p:spPr>
          <a:xfrm>
            <a:off x="3056450" y="1852200"/>
            <a:ext cx="873900" cy="1074900"/>
          </a:xfrm>
          <a:prstGeom prst="ellipse">
            <a:avLst/>
          </a:prstGeom>
          <a:noFill/>
          <a:ln cap="flat" cmpd="sng" w="9525">
            <a:solidFill>
              <a:srgbClr val="E2CDCE"/>
            </a:solidFill>
            <a:prstDash val="solid"/>
            <a:round/>
            <a:headEnd len="sm" w="sm" type="none"/>
            <a:tailEnd len="sm" w="sm" type="none"/>
          </a:ln>
        </p:spPr>
      </p:pic>
      <p:sp>
        <p:nvSpPr>
          <p:cNvPr id="79" name="Google Shape;79;p16"/>
          <p:cNvSpPr txBox="1"/>
          <p:nvPr/>
        </p:nvSpPr>
        <p:spPr>
          <a:xfrm>
            <a:off x="2695550" y="2926950"/>
            <a:ext cx="15957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900">
                <a:solidFill>
                  <a:schemeClr val="dk1"/>
                </a:solidFill>
                <a:latin typeface="Poppins"/>
                <a:ea typeface="Poppins"/>
                <a:cs typeface="Poppins"/>
                <a:sym typeface="Poppins"/>
              </a:rPr>
              <a:t>Naroa Genicio Iglesias</a:t>
            </a:r>
            <a:endParaRPr sz="900">
              <a:solidFill>
                <a:schemeClr val="dk1"/>
              </a:solidFill>
              <a:latin typeface="Poppins"/>
              <a:ea typeface="Poppins"/>
              <a:cs typeface="Poppins"/>
              <a:sym typeface="Poppins"/>
            </a:endParaRPr>
          </a:p>
        </p:txBody>
      </p:sp>
      <p:sp>
        <p:nvSpPr>
          <p:cNvPr id="80" name="Google Shape;80;p16"/>
          <p:cNvSpPr txBox="1"/>
          <p:nvPr/>
        </p:nvSpPr>
        <p:spPr>
          <a:xfrm>
            <a:off x="4913250" y="2926950"/>
            <a:ext cx="15957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900">
                <a:solidFill>
                  <a:schemeClr val="dk1"/>
                </a:solidFill>
                <a:latin typeface="Poppins"/>
                <a:ea typeface="Poppins"/>
                <a:cs typeface="Poppins"/>
                <a:sym typeface="Poppins"/>
              </a:rPr>
              <a:t>María Encina Díez del Río </a:t>
            </a:r>
            <a:endParaRPr sz="900">
              <a:solidFill>
                <a:schemeClr val="dk1"/>
              </a:solidFill>
              <a:latin typeface="Poppins"/>
              <a:ea typeface="Poppins"/>
              <a:cs typeface="Poppins"/>
              <a:sym typeface="Poppins"/>
            </a:endParaRPr>
          </a:p>
        </p:txBody>
      </p:sp>
      <p:sp>
        <p:nvSpPr>
          <p:cNvPr id="81" name="Google Shape;81;p16"/>
          <p:cNvSpPr txBox="1"/>
          <p:nvPr/>
        </p:nvSpPr>
        <p:spPr>
          <a:xfrm>
            <a:off x="6987600" y="2926950"/>
            <a:ext cx="17679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900">
                <a:solidFill>
                  <a:schemeClr val="dk1"/>
                </a:solidFill>
                <a:latin typeface="Poppins"/>
                <a:ea typeface="Poppins"/>
                <a:cs typeface="Poppins"/>
                <a:sym typeface="Poppins"/>
              </a:rPr>
              <a:t>Mario Fernández Costello</a:t>
            </a:r>
            <a:endParaRPr sz="900">
              <a:solidFill>
                <a:schemeClr val="dk1"/>
              </a:solidFill>
              <a:latin typeface="Poppins"/>
              <a:ea typeface="Poppins"/>
              <a:cs typeface="Poppins"/>
              <a:sym typeface="Poppins"/>
            </a:endParaRPr>
          </a:p>
        </p:txBody>
      </p:sp>
      <p:sp>
        <p:nvSpPr>
          <p:cNvPr id="82" name="Google Shape;82;p16"/>
          <p:cNvSpPr txBox="1"/>
          <p:nvPr/>
        </p:nvSpPr>
        <p:spPr>
          <a:xfrm>
            <a:off x="1723225" y="4302125"/>
            <a:ext cx="15957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900">
                <a:solidFill>
                  <a:schemeClr val="dk1"/>
                </a:solidFill>
                <a:latin typeface="Poppins"/>
                <a:ea typeface="Poppins"/>
                <a:cs typeface="Poppins"/>
                <a:sym typeface="Poppins"/>
              </a:rPr>
              <a:t>Jaime Esteban Reano</a:t>
            </a:r>
            <a:endParaRPr sz="900">
              <a:solidFill>
                <a:schemeClr val="dk1"/>
              </a:solidFill>
              <a:latin typeface="Poppins"/>
              <a:ea typeface="Poppins"/>
              <a:cs typeface="Poppins"/>
              <a:sym typeface="Poppins"/>
            </a:endParaRPr>
          </a:p>
        </p:txBody>
      </p:sp>
      <p:sp>
        <p:nvSpPr>
          <p:cNvPr id="83" name="Google Shape;83;p16"/>
          <p:cNvSpPr txBox="1"/>
          <p:nvPr/>
        </p:nvSpPr>
        <p:spPr>
          <a:xfrm>
            <a:off x="3930350" y="4302125"/>
            <a:ext cx="1678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900">
                <a:solidFill>
                  <a:schemeClr val="dk1"/>
                </a:solidFill>
                <a:latin typeface="Poppins"/>
                <a:ea typeface="Poppins"/>
                <a:cs typeface="Poppins"/>
                <a:sym typeface="Poppins"/>
              </a:rPr>
              <a:t>Jorge Domínguez Palomo</a:t>
            </a:r>
            <a:endParaRPr sz="900">
              <a:solidFill>
                <a:schemeClr val="dk1"/>
              </a:solidFill>
              <a:latin typeface="Poppins"/>
              <a:ea typeface="Poppins"/>
              <a:cs typeface="Poppins"/>
              <a:sym typeface="Poppins"/>
            </a:endParaRPr>
          </a:p>
        </p:txBody>
      </p:sp>
      <p:sp>
        <p:nvSpPr>
          <p:cNvPr id="84" name="Google Shape;84;p16"/>
          <p:cNvSpPr txBox="1"/>
          <p:nvPr/>
        </p:nvSpPr>
        <p:spPr>
          <a:xfrm>
            <a:off x="6120400" y="4302125"/>
            <a:ext cx="15957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900">
                <a:solidFill>
                  <a:schemeClr val="dk1"/>
                </a:solidFill>
                <a:latin typeface="Poppins"/>
                <a:ea typeface="Poppins"/>
                <a:cs typeface="Poppins"/>
                <a:sym typeface="Poppins"/>
              </a:rPr>
              <a:t>David Sánchez Sánchez</a:t>
            </a:r>
            <a:endParaRPr sz="900">
              <a:solidFill>
                <a:schemeClr val="dk1"/>
              </a:solidFill>
              <a:latin typeface="Poppins"/>
              <a:ea typeface="Poppins"/>
              <a:cs typeface="Poppins"/>
              <a:sym typeface="Poppins"/>
            </a:endParaRPr>
          </a:p>
        </p:txBody>
      </p:sp>
      <p:pic>
        <p:nvPicPr>
          <p:cNvPr id="85" name="Google Shape;85;p16" title="WhatsApp Image 2026-04-14 at 18.17.44.jpeg"/>
          <p:cNvPicPr preferRelativeResize="0"/>
          <p:nvPr/>
        </p:nvPicPr>
        <p:blipFill rotWithShape="1">
          <a:blip r:embed="rId6">
            <a:alphaModFix/>
          </a:blip>
          <a:srcRect b="44335" l="11294" r="11294" t="7015"/>
          <a:stretch/>
        </p:blipFill>
        <p:spPr>
          <a:xfrm>
            <a:off x="7373550" y="1833300"/>
            <a:ext cx="996000" cy="1112700"/>
          </a:xfrm>
          <a:prstGeom prst="ellipse">
            <a:avLst/>
          </a:prstGeom>
          <a:noFill/>
          <a:ln cap="flat" cmpd="sng" w="9525">
            <a:solidFill>
              <a:srgbClr val="E2CDCE"/>
            </a:solidFill>
            <a:prstDash val="solid"/>
            <a:round/>
            <a:headEnd len="sm" w="sm" type="none"/>
            <a:tailEnd len="sm" w="sm" type="none"/>
          </a:ln>
        </p:spPr>
      </p:pic>
      <p:pic>
        <p:nvPicPr>
          <p:cNvPr id="86" name="Google Shape;86;p16" title="WhatsApp Image 2026-04-14 at 20.05.48.jpeg"/>
          <p:cNvPicPr preferRelativeResize="0"/>
          <p:nvPr/>
        </p:nvPicPr>
        <p:blipFill rotWithShape="1">
          <a:blip r:embed="rId7">
            <a:alphaModFix/>
          </a:blip>
          <a:srcRect b="50820" l="44941" r="44942" t="42180"/>
          <a:stretch/>
        </p:blipFill>
        <p:spPr>
          <a:xfrm>
            <a:off x="6481300" y="3227225"/>
            <a:ext cx="873900" cy="1074900"/>
          </a:xfrm>
          <a:prstGeom prst="ellipse">
            <a:avLst/>
          </a:prstGeom>
          <a:noFill/>
          <a:ln cap="flat" cmpd="sng" w="9525">
            <a:solidFill>
              <a:srgbClr val="E2CDCE"/>
            </a:solidFill>
            <a:prstDash val="solid"/>
            <a:round/>
            <a:headEnd len="sm" w="sm" type="none"/>
            <a:tailEnd len="sm" w="sm" type="none"/>
          </a:ln>
        </p:spPr>
      </p:pic>
      <p:pic>
        <p:nvPicPr>
          <p:cNvPr id="87" name="Google Shape;87;p16" title="image0.jpeg"/>
          <p:cNvPicPr preferRelativeResize="0"/>
          <p:nvPr/>
        </p:nvPicPr>
        <p:blipFill rotWithShape="1">
          <a:blip r:embed="rId8">
            <a:alphaModFix/>
          </a:blip>
          <a:srcRect b="20070" l="5450" r="-5450" t="0"/>
          <a:stretch/>
        </p:blipFill>
        <p:spPr>
          <a:xfrm>
            <a:off x="4332788" y="3179987"/>
            <a:ext cx="873900" cy="1074900"/>
          </a:xfrm>
          <a:prstGeom prst="ellipse">
            <a:avLst/>
          </a:prstGeom>
          <a:noFill/>
          <a:ln cap="flat" cmpd="sng" w="9525">
            <a:solidFill>
              <a:srgbClr val="E2CDCE"/>
            </a:solidFill>
            <a:prstDash val="solid"/>
            <a:round/>
            <a:headEnd len="sm" w="sm" type="none"/>
            <a:tailEnd len="sm" w="sm" type="none"/>
          </a:ln>
        </p:spPr>
      </p:pic>
      <p:pic>
        <p:nvPicPr>
          <p:cNvPr id="88" name="Google Shape;88;p16" title="WhatsApp Image 2026-04-14 at 20.56.42.jpeg"/>
          <p:cNvPicPr preferRelativeResize="0"/>
          <p:nvPr/>
        </p:nvPicPr>
        <p:blipFill rotWithShape="1">
          <a:blip r:embed="rId9">
            <a:alphaModFix/>
          </a:blip>
          <a:srcRect b="690" l="0" r="0" t="681"/>
          <a:stretch/>
        </p:blipFill>
        <p:spPr>
          <a:xfrm>
            <a:off x="2084125" y="3173135"/>
            <a:ext cx="873900" cy="1074900"/>
          </a:xfrm>
          <a:prstGeom prst="ellipse">
            <a:avLst/>
          </a:prstGeom>
          <a:noFill/>
          <a:ln cap="flat" cmpd="sng" w="9525">
            <a:solidFill>
              <a:srgbClr val="E2CDCE"/>
            </a:solidFill>
            <a:prstDash val="solid"/>
            <a:round/>
            <a:headEnd len="sm" w="sm" type="none"/>
            <a:tailEnd len="sm" w="sm" type="none"/>
          </a:ln>
        </p:spPr>
      </p:pic>
      <p:pic>
        <p:nvPicPr>
          <p:cNvPr id="89" name="Google Shape;89;p16" title="WhatsApp Image 2026-04-14 at 20.47.35.jpeg"/>
          <p:cNvPicPr preferRelativeResize="0"/>
          <p:nvPr/>
        </p:nvPicPr>
        <p:blipFill rotWithShape="1">
          <a:blip r:embed="rId10">
            <a:alphaModFix/>
          </a:blip>
          <a:srcRect b="6949" l="0" r="0" t="6949"/>
          <a:stretch/>
        </p:blipFill>
        <p:spPr>
          <a:xfrm>
            <a:off x="5215000" y="1852200"/>
            <a:ext cx="873900" cy="1074900"/>
          </a:xfrm>
          <a:prstGeom prst="ellipse">
            <a:avLst/>
          </a:prstGeom>
          <a:noFill/>
          <a:ln cap="flat" cmpd="sng" w="9525">
            <a:solidFill>
              <a:srgbClr val="E2CDCE"/>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p:nvPr/>
        </p:nvSpPr>
        <p:spPr>
          <a:xfrm>
            <a:off x="636750" y="398450"/>
            <a:ext cx="5641800" cy="877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i="0" lang="es" sz="3100" u="none" cap="none" strike="noStrike">
                <a:solidFill>
                  <a:schemeClr val="dk1"/>
                </a:solidFill>
                <a:latin typeface="Bebas Neue"/>
                <a:ea typeface="Bebas Neue"/>
                <a:cs typeface="Bebas Neue"/>
                <a:sym typeface="Bebas Neue"/>
              </a:rPr>
              <a:t>A Systemic Crisis, Not </a:t>
            </a:r>
            <a:r>
              <a:rPr lang="es" sz="3100">
                <a:solidFill>
                  <a:schemeClr val="dk1"/>
                </a:solidFill>
                <a:latin typeface="Bebas Neue"/>
                <a:ea typeface="Bebas Neue"/>
                <a:cs typeface="Bebas Neue"/>
                <a:sym typeface="Bebas Neue"/>
              </a:rPr>
              <a:t>A </a:t>
            </a:r>
            <a:r>
              <a:rPr i="0" lang="es" sz="3100" u="none" cap="none" strike="noStrike">
                <a:solidFill>
                  <a:schemeClr val="dk1"/>
                </a:solidFill>
                <a:latin typeface="Bebas Neue"/>
                <a:ea typeface="Bebas Neue"/>
                <a:cs typeface="Bebas Neue"/>
                <a:sym typeface="Bebas Neue"/>
              </a:rPr>
              <a:t>Personal One</a:t>
            </a:r>
            <a:endParaRPr i="0" sz="3100" u="none" cap="none" strike="noStrike">
              <a:solidFill>
                <a:schemeClr val="dk1"/>
              </a:solidFill>
              <a:latin typeface="Bebas Neue"/>
              <a:ea typeface="Bebas Neue"/>
              <a:cs typeface="Bebas Neue"/>
              <a:sym typeface="Bebas Neue"/>
            </a:endParaRPr>
          </a:p>
        </p:txBody>
      </p:sp>
      <p:sp>
        <p:nvSpPr>
          <p:cNvPr id="95" name="Google Shape;95;p17"/>
          <p:cNvSpPr/>
          <p:nvPr/>
        </p:nvSpPr>
        <p:spPr>
          <a:xfrm>
            <a:off x="3072259" y="2424109"/>
            <a:ext cx="1755900" cy="219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Arial"/>
              <a:buNone/>
            </a:pPr>
            <a:r>
              <a:t/>
            </a:r>
            <a:endParaRPr b="0" i="0" sz="1400" u="none" cap="none" strike="noStrike"/>
          </a:p>
        </p:txBody>
      </p:sp>
      <p:pic>
        <p:nvPicPr>
          <p:cNvPr id="96" name="Google Shape;96;p17"/>
          <p:cNvPicPr preferRelativeResize="0"/>
          <p:nvPr/>
        </p:nvPicPr>
        <p:blipFill rotWithShape="1">
          <a:blip r:embed="rId3">
            <a:alphaModFix/>
          </a:blip>
          <a:srcRect b="5946" l="-1900" r="1900" t="2722"/>
          <a:stretch/>
        </p:blipFill>
        <p:spPr>
          <a:xfrm>
            <a:off x="6764500" y="0"/>
            <a:ext cx="2379500" cy="5143499"/>
          </a:xfrm>
          <a:prstGeom prst="rect">
            <a:avLst/>
          </a:prstGeom>
          <a:noFill/>
          <a:ln>
            <a:noFill/>
          </a:ln>
        </p:spPr>
      </p:pic>
      <p:pic>
        <p:nvPicPr>
          <p:cNvPr id="97" name="Google Shape;97;p17"/>
          <p:cNvPicPr preferRelativeResize="0"/>
          <p:nvPr/>
        </p:nvPicPr>
        <p:blipFill>
          <a:blip r:embed="rId4">
            <a:alphaModFix/>
          </a:blip>
          <a:stretch>
            <a:fillRect/>
          </a:stretch>
        </p:blipFill>
        <p:spPr>
          <a:xfrm>
            <a:off x="1036975" y="2539844"/>
            <a:ext cx="1128000" cy="760625"/>
          </a:xfrm>
          <a:prstGeom prst="rect">
            <a:avLst/>
          </a:prstGeom>
          <a:noFill/>
          <a:ln>
            <a:noFill/>
          </a:ln>
        </p:spPr>
      </p:pic>
      <p:pic>
        <p:nvPicPr>
          <p:cNvPr id="98" name="Google Shape;98;p17"/>
          <p:cNvPicPr preferRelativeResize="0"/>
          <p:nvPr/>
        </p:nvPicPr>
        <p:blipFill>
          <a:blip r:embed="rId4">
            <a:alphaModFix/>
          </a:blip>
          <a:stretch>
            <a:fillRect/>
          </a:stretch>
        </p:blipFill>
        <p:spPr>
          <a:xfrm>
            <a:off x="2525775" y="2570444"/>
            <a:ext cx="1128000" cy="760625"/>
          </a:xfrm>
          <a:prstGeom prst="rect">
            <a:avLst/>
          </a:prstGeom>
          <a:noFill/>
          <a:ln>
            <a:noFill/>
          </a:ln>
        </p:spPr>
      </p:pic>
      <p:pic>
        <p:nvPicPr>
          <p:cNvPr id="99" name="Google Shape;99;p17"/>
          <p:cNvPicPr preferRelativeResize="0"/>
          <p:nvPr/>
        </p:nvPicPr>
        <p:blipFill>
          <a:blip r:embed="rId4">
            <a:alphaModFix/>
          </a:blip>
          <a:stretch>
            <a:fillRect/>
          </a:stretch>
        </p:blipFill>
        <p:spPr>
          <a:xfrm>
            <a:off x="4014575" y="2539857"/>
            <a:ext cx="1128000" cy="760625"/>
          </a:xfrm>
          <a:prstGeom prst="rect">
            <a:avLst/>
          </a:prstGeom>
          <a:noFill/>
          <a:ln>
            <a:noFill/>
          </a:ln>
        </p:spPr>
      </p:pic>
      <p:pic>
        <p:nvPicPr>
          <p:cNvPr id="100" name="Google Shape;100;p17"/>
          <p:cNvPicPr preferRelativeResize="0"/>
          <p:nvPr/>
        </p:nvPicPr>
        <p:blipFill>
          <a:blip r:embed="rId4">
            <a:alphaModFix/>
          </a:blip>
          <a:stretch>
            <a:fillRect/>
          </a:stretch>
        </p:blipFill>
        <p:spPr>
          <a:xfrm>
            <a:off x="4331375" y="3893800"/>
            <a:ext cx="1295950" cy="760625"/>
          </a:xfrm>
          <a:prstGeom prst="rect">
            <a:avLst/>
          </a:prstGeom>
          <a:noFill/>
          <a:ln>
            <a:noFill/>
          </a:ln>
        </p:spPr>
      </p:pic>
      <p:pic>
        <p:nvPicPr>
          <p:cNvPr id="101" name="Google Shape;101;p17"/>
          <p:cNvPicPr preferRelativeResize="0"/>
          <p:nvPr/>
        </p:nvPicPr>
        <p:blipFill>
          <a:blip r:embed="rId4">
            <a:alphaModFix/>
          </a:blip>
          <a:stretch>
            <a:fillRect/>
          </a:stretch>
        </p:blipFill>
        <p:spPr>
          <a:xfrm>
            <a:off x="530575" y="3893775"/>
            <a:ext cx="2379500" cy="760625"/>
          </a:xfrm>
          <a:prstGeom prst="rect">
            <a:avLst/>
          </a:prstGeom>
          <a:noFill/>
          <a:ln>
            <a:noFill/>
          </a:ln>
        </p:spPr>
      </p:pic>
      <p:pic>
        <p:nvPicPr>
          <p:cNvPr id="102" name="Google Shape;102;p17"/>
          <p:cNvPicPr preferRelativeResize="0"/>
          <p:nvPr/>
        </p:nvPicPr>
        <p:blipFill>
          <a:blip r:embed="rId4">
            <a:alphaModFix/>
          </a:blip>
          <a:stretch>
            <a:fillRect/>
          </a:stretch>
        </p:blipFill>
        <p:spPr>
          <a:xfrm>
            <a:off x="2910050" y="3893775"/>
            <a:ext cx="1295950" cy="760625"/>
          </a:xfrm>
          <a:prstGeom prst="rect">
            <a:avLst/>
          </a:prstGeom>
          <a:noFill/>
          <a:ln>
            <a:noFill/>
          </a:ln>
        </p:spPr>
      </p:pic>
      <p:sp>
        <p:nvSpPr>
          <p:cNvPr id="103" name="Google Shape;103;p17"/>
          <p:cNvSpPr txBox="1"/>
          <p:nvPr/>
        </p:nvSpPr>
        <p:spPr>
          <a:xfrm>
            <a:off x="1143775" y="2720075"/>
            <a:ext cx="9054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solidFill>
                  <a:schemeClr val="dk1"/>
                </a:solidFill>
                <a:latin typeface="Poppins"/>
                <a:ea typeface="Poppins"/>
                <a:cs typeface="Poppins"/>
                <a:sym typeface="Poppins"/>
              </a:rPr>
              <a:t>Stressful</a:t>
            </a:r>
            <a:endParaRPr sz="1300">
              <a:solidFill>
                <a:schemeClr val="dk1"/>
              </a:solidFill>
              <a:latin typeface="Poppins"/>
              <a:ea typeface="Poppins"/>
              <a:cs typeface="Poppins"/>
              <a:sym typeface="Poppins"/>
            </a:endParaRPr>
          </a:p>
        </p:txBody>
      </p:sp>
      <p:sp>
        <p:nvSpPr>
          <p:cNvPr id="104" name="Google Shape;104;p17"/>
          <p:cNvSpPr txBox="1"/>
          <p:nvPr/>
        </p:nvSpPr>
        <p:spPr>
          <a:xfrm>
            <a:off x="2557275" y="2727700"/>
            <a:ext cx="1065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solidFill>
                  <a:schemeClr val="dk1"/>
                </a:solidFill>
                <a:latin typeface="Poppins"/>
                <a:ea typeface="Poppins"/>
                <a:cs typeface="Poppins"/>
                <a:sym typeface="Poppins"/>
              </a:rPr>
              <a:t>Uncertain</a:t>
            </a:r>
            <a:endParaRPr sz="1300">
              <a:latin typeface="Poppins"/>
              <a:ea typeface="Poppins"/>
              <a:cs typeface="Poppins"/>
              <a:sym typeface="Poppins"/>
            </a:endParaRPr>
          </a:p>
        </p:txBody>
      </p:sp>
      <p:sp>
        <p:nvSpPr>
          <p:cNvPr id="105" name="Google Shape;105;p17"/>
          <p:cNvSpPr txBox="1"/>
          <p:nvPr/>
        </p:nvSpPr>
        <p:spPr>
          <a:xfrm>
            <a:off x="4044750" y="2658263"/>
            <a:ext cx="10545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solidFill>
                  <a:schemeClr val="dk1"/>
                </a:solidFill>
                <a:latin typeface="Poppins"/>
                <a:ea typeface="Poppins"/>
                <a:cs typeface="Poppins"/>
                <a:sym typeface="Poppins"/>
              </a:rPr>
              <a:t>B</a:t>
            </a:r>
            <a:r>
              <a:rPr lang="es" sz="1300">
                <a:solidFill>
                  <a:schemeClr val="dk1"/>
                </a:solidFill>
                <a:latin typeface="Poppins"/>
                <a:ea typeface="Poppins"/>
                <a:cs typeface="Poppins"/>
                <a:sym typeface="Poppins"/>
              </a:rPr>
              <a:t>lind decisions</a:t>
            </a:r>
            <a:endParaRPr sz="1300">
              <a:solidFill>
                <a:schemeClr val="dk1"/>
              </a:solidFill>
              <a:latin typeface="Poppins"/>
              <a:ea typeface="Poppins"/>
              <a:cs typeface="Poppins"/>
              <a:sym typeface="Poppins"/>
            </a:endParaRPr>
          </a:p>
        </p:txBody>
      </p:sp>
      <p:sp>
        <p:nvSpPr>
          <p:cNvPr id="106" name="Google Shape;106;p17"/>
          <p:cNvSpPr txBox="1"/>
          <p:nvPr/>
        </p:nvSpPr>
        <p:spPr>
          <a:xfrm>
            <a:off x="505350" y="950500"/>
            <a:ext cx="6091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Poppins"/>
                <a:ea typeface="Poppins"/>
                <a:cs typeface="Poppins"/>
                <a:sym typeface="Poppins"/>
              </a:rPr>
              <a:t>This project began through informal conversations with students at the </a:t>
            </a:r>
            <a:endParaRPr sz="1200">
              <a:solidFill>
                <a:schemeClr val="dk1"/>
              </a:solidFill>
              <a:latin typeface="Poppins"/>
              <a:ea typeface="Poppins"/>
              <a:cs typeface="Poppins"/>
              <a:sym typeface="Poppins"/>
            </a:endParaRPr>
          </a:p>
          <a:p>
            <a:pPr indent="0" lvl="0" marL="0" rtl="0" algn="l">
              <a:spcBef>
                <a:spcPts val="0"/>
              </a:spcBef>
              <a:spcAft>
                <a:spcPts val="0"/>
              </a:spcAft>
              <a:buNone/>
            </a:pPr>
            <a:r>
              <a:rPr lang="es" sz="1200">
                <a:solidFill>
                  <a:schemeClr val="dk1"/>
                </a:solidFill>
                <a:latin typeface="Poppins"/>
                <a:ea typeface="Poppins"/>
                <a:cs typeface="Poppins"/>
                <a:sym typeface="Poppins"/>
              </a:rPr>
              <a:t>Politechnika University of Lodz.</a:t>
            </a:r>
            <a:endParaRPr sz="1200">
              <a:solidFill>
                <a:schemeClr val="dk1"/>
              </a:solidFill>
              <a:latin typeface="Poppins"/>
              <a:ea typeface="Poppins"/>
              <a:cs typeface="Poppins"/>
              <a:sym typeface="Poppins"/>
            </a:endParaRPr>
          </a:p>
          <a:p>
            <a:pPr indent="0" lvl="0" marL="0" rtl="0" algn="l">
              <a:spcBef>
                <a:spcPts val="0"/>
              </a:spcBef>
              <a:spcAft>
                <a:spcPts val="0"/>
              </a:spcAft>
              <a:buNone/>
            </a:pPr>
            <a:r>
              <a:t/>
            </a:r>
            <a:endParaRPr sz="1200">
              <a:solidFill>
                <a:schemeClr val="dk1"/>
              </a:solidFill>
              <a:latin typeface="Poppins"/>
              <a:ea typeface="Poppins"/>
              <a:cs typeface="Poppins"/>
              <a:sym typeface="Poppins"/>
            </a:endParaRPr>
          </a:p>
          <a:p>
            <a:pPr indent="-304800" lvl="0" marL="457200" rtl="0" algn="l">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Across different faculties, a common pattern emerged: most students </a:t>
            </a:r>
            <a:endParaRPr sz="1200">
              <a:solidFill>
                <a:schemeClr val="dk1"/>
              </a:solidFill>
              <a:latin typeface="Poppins"/>
              <a:ea typeface="Poppins"/>
              <a:cs typeface="Poppins"/>
              <a:sym typeface="Poppins"/>
            </a:endParaRPr>
          </a:p>
          <a:p>
            <a:pPr indent="0" lvl="0" marL="457200" rtl="0" algn="l">
              <a:spcBef>
                <a:spcPts val="0"/>
              </a:spcBef>
              <a:spcAft>
                <a:spcPts val="0"/>
              </a:spcAft>
              <a:buNone/>
            </a:pPr>
            <a:r>
              <a:rPr lang="es" sz="1200">
                <a:solidFill>
                  <a:schemeClr val="dk1"/>
                </a:solidFill>
                <a:latin typeface="Poppins"/>
                <a:ea typeface="Poppins"/>
                <a:cs typeface="Poppins"/>
                <a:sym typeface="Poppins"/>
              </a:rPr>
              <a:t>felt lost, overwhelmed, and disoriented when choosing their degree. </a:t>
            </a:r>
            <a:endParaRPr sz="1200">
              <a:solidFill>
                <a:schemeClr val="dk1"/>
              </a:solidFill>
              <a:latin typeface="Poppins"/>
              <a:ea typeface="Poppins"/>
              <a:cs typeface="Poppins"/>
              <a:sym typeface="Poppins"/>
            </a:endParaRPr>
          </a:p>
          <a:p>
            <a:pPr indent="0" lvl="0" marL="457200" rtl="0" algn="l">
              <a:spcBef>
                <a:spcPts val="0"/>
              </a:spcBef>
              <a:spcAft>
                <a:spcPts val="0"/>
              </a:spcAft>
              <a:buNone/>
            </a:pPr>
            <a:r>
              <a:t/>
            </a:r>
            <a:endParaRPr sz="1200">
              <a:solidFill>
                <a:schemeClr val="dk1"/>
              </a:solidFill>
              <a:latin typeface="Poppins"/>
              <a:ea typeface="Poppins"/>
              <a:cs typeface="Poppins"/>
              <a:sym typeface="Poppins"/>
            </a:endParaRPr>
          </a:p>
          <a:p>
            <a:pPr indent="0" lvl="0" marL="0" rtl="0" algn="l">
              <a:spcBef>
                <a:spcPts val="0"/>
              </a:spcBef>
              <a:spcAft>
                <a:spcPts val="0"/>
              </a:spcAft>
              <a:buNone/>
            </a:pPr>
            <a:r>
              <a:rPr lang="es" sz="1200">
                <a:solidFill>
                  <a:schemeClr val="dk1"/>
                </a:solidFill>
                <a:latin typeface="Poppins"/>
                <a:ea typeface="Poppins"/>
                <a:cs typeface="Poppins"/>
                <a:sym typeface="Poppins"/>
              </a:rPr>
              <a:t>The transition from high school to university was described as:</a:t>
            </a:r>
            <a:endParaRPr sz="1200">
              <a:solidFill>
                <a:schemeClr val="dk1"/>
              </a:solidFill>
              <a:latin typeface="Poppins"/>
              <a:ea typeface="Poppins"/>
              <a:cs typeface="Poppins"/>
              <a:sym typeface="Poppins"/>
            </a:endParaRPr>
          </a:p>
        </p:txBody>
      </p:sp>
      <p:sp>
        <p:nvSpPr>
          <p:cNvPr id="107" name="Google Shape;107;p17"/>
          <p:cNvSpPr txBox="1"/>
          <p:nvPr/>
        </p:nvSpPr>
        <p:spPr>
          <a:xfrm>
            <a:off x="590325" y="3412313"/>
            <a:ext cx="405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Poppins"/>
                <a:ea typeface="Poppins"/>
                <a:cs typeface="Poppins"/>
                <a:sym typeface="Poppins"/>
              </a:rPr>
              <a:t>Many students </a:t>
            </a:r>
            <a:r>
              <a:rPr lang="es">
                <a:solidFill>
                  <a:schemeClr val="dk1"/>
                </a:solidFill>
                <a:latin typeface="Poppins"/>
                <a:ea typeface="Poppins"/>
                <a:cs typeface="Poppins"/>
                <a:sym typeface="Poppins"/>
              </a:rPr>
              <a:t>choose</a:t>
            </a:r>
            <a:r>
              <a:rPr lang="es">
                <a:solidFill>
                  <a:schemeClr val="dk1"/>
                </a:solidFill>
                <a:latin typeface="Poppins"/>
                <a:ea typeface="Poppins"/>
                <a:cs typeface="Poppins"/>
                <a:sym typeface="Poppins"/>
              </a:rPr>
              <a:t> their degree due to:</a:t>
            </a:r>
            <a:endParaRPr>
              <a:solidFill>
                <a:schemeClr val="dk1"/>
              </a:solidFill>
              <a:latin typeface="Poppins"/>
              <a:ea typeface="Poppins"/>
              <a:cs typeface="Poppins"/>
              <a:sym typeface="Poppins"/>
            </a:endParaRPr>
          </a:p>
        </p:txBody>
      </p:sp>
      <p:sp>
        <p:nvSpPr>
          <p:cNvPr id="108" name="Google Shape;108;p17"/>
          <p:cNvSpPr txBox="1"/>
          <p:nvPr/>
        </p:nvSpPr>
        <p:spPr>
          <a:xfrm>
            <a:off x="590325" y="4625275"/>
            <a:ext cx="499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Poppins"/>
                <a:ea typeface="Poppins"/>
                <a:cs typeface="Poppins"/>
                <a:sym typeface="Poppins"/>
              </a:rPr>
              <a:t>We identified a systemic failure in career guidance</a:t>
            </a:r>
            <a:endParaRPr>
              <a:latin typeface="Poppins"/>
              <a:ea typeface="Poppins"/>
              <a:cs typeface="Poppins"/>
              <a:sym typeface="Poppins"/>
            </a:endParaRPr>
          </a:p>
        </p:txBody>
      </p:sp>
      <p:sp>
        <p:nvSpPr>
          <p:cNvPr id="109" name="Google Shape;109;p17"/>
          <p:cNvSpPr txBox="1"/>
          <p:nvPr/>
        </p:nvSpPr>
        <p:spPr>
          <a:xfrm>
            <a:off x="4392675" y="3966325"/>
            <a:ext cx="11823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solidFill>
                  <a:schemeClr val="dk1"/>
                </a:solidFill>
                <a:latin typeface="Poppins"/>
                <a:ea typeface="Poppins"/>
                <a:cs typeface="Poppins"/>
                <a:sym typeface="Poppins"/>
              </a:rPr>
              <a:t>Process of elimination</a:t>
            </a:r>
            <a:endParaRPr sz="1300">
              <a:latin typeface="Poppins"/>
              <a:ea typeface="Poppins"/>
              <a:cs typeface="Poppins"/>
              <a:sym typeface="Poppins"/>
            </a:endParaRPr>
          </a:p>
        </p:txBody>
      </p:sp>
      <p:sp>
        <p:nvSpPr>
          <p:cNvPr id="110" name="Google Shape;110;p17"/>
          <p:cNvSpPr txBox="1"/>
          <p:nvPr/>
        </p:nvSpPr>
        <p:spPr>
          <a:xfrm>
            <a:off x="3083200" y="3981563"/>
            <a:ext cx="10038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solidFill>
                  <a:schemeClr val="dk1"/>
                </a:solidFill>
                <a:latin typeface="Poppins"/>
                <a:ea typeface="Poppins"/>
                <a:cs typeface="Poppins"/>
                <a:sym typeface="Poppins"/>
              </a:rPr>
              <a:t>Lack of guidance</a:t>
            </a:r>
            <a:endParaRPr sz="1300">
              <a:latin typeface="Poppins"/>
              <a:ea typeface="Poppins"/>
              <a:cs typeface="Poppins"/>
              <a:sym typeface="Poppins"/>
            </a:endParaRPr>
          </a:p>
        </p:txBody>
      </p:sp>
      <p:sp>
        <p:nvSpPr>
          <p:cNvPr id="111" name="Google Shape;111;p17"/>
          <p:cNvSpPr txBox="1"/>
          <p:nvPr/>
        </p:nvSpPr>
        <p:spPr>
          <a:xfrm>
            <a:off x="717275" y="3981575"/>
            <a:ext cx="20061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solidFill>
                  <a:schemeClr val="dk1"/>
                </a:solidFill>
                <a:latin typeface="Poppins"/>
                <a:ea typeface="Poppins"/>
                <a:cs typeface="Poppins"/>
                <a:sym typeface="Poppins"/>
              </a:rPr>
              <a:t>External pressure (family, expectations)</a:t>
            </a:r>
            <a:endParaRPr sz="1300">
              <a:latin typeface="Poppins"/>
              <a:ea typeface="Poppins"/>
              <a:cs typeface="Poppins"/>
              <a:sym typeface="Poppins"/>
            </a:endParaRPr>
          </a:p>
        </p:txBody>
      </p:sp>
      <p:sp>
        <p:nvSpPr>
          <p:cNvPr id="112" name="Google Shape;112;p17"/>
          <p:cNvSpPr/>
          <p:nvPr/>
        </p:nvSpPr>
        <p:spPr>
          <a:xfrm>
            <a:off x="8905811"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2</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2365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120">
                <a:latin typeface="Bebas Neue"/>
                <a:ea typeface="Bebas Neue"/>
                <a:cs typeface="Bebas Neue"/>
                <a:sym typeface="Bebas Neue"/>
              </a:rPr>
              <a:t>VALIDATING THE PROBLEM</a:t>
            </a:r>
            <a:endParaRPr sz="3120">
              <a:latin typeface="Bebas Neue"/>
              <a:ea typeface="Bebas Neue"/>
              <a:cs typeface="Bebas Neue"/>
              <a:sym typeface="Bebas Neue"/>
            </a:endParaRPr>
          </a:p>
        </p:txBody>
      </p:sp>
      <p:sp>
        <p:nvSpPr>
          <p:cNvPr id="118" name="Google Shape;118;p18"/>
          <p:cNvSpPr txBox="1"/>
          <p:nvPr>
            <p:ph idx="1" type="body"/>
          </p:nvPr>
        </p:nvSpPr>
        <p:spPr>
          <a:xfrm>
            <a:off x="311700" y="1085100"/>
            <a:ext cx="8520600" cy="20982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s" sz="1500">
                <a:solidFill>
                  <a:srgbClr val="000000"/>
                </a:solidFill>
                <a:latin typeface="Poppins"/>
                <a:ea typeface="Poppins"/>
                <a:cs typeface="Poppins"/>
                <a:sym typeface="Poppins"/>
              </a:rPr>
              <a:t>Is This Still Happening today?</a:t>
            </a:r>
            <a:endParaRPr sz="1500">
              <a:solidFill>
                <a:srgbClr val="000000"/>
              </a:solidFill>
              <a:latin typeface="Poppins"/>
              <a:ea typeface="Poppins"/>
              <a:cs typeface="Poppins"/>
              <a:sym typeface="Poppins"/>
            </a:endParaRPr>
          </a:p>
        </p:txBody>
      </p:sp>
      <p:pic>
        <p:nvPicPr>
          <p:cNvPr id="119" name="Google Shape;119;p18"/>
          <p:cNvPicPr preferRelativeResize="0"/>
          <p:nvPr/>
        </p:nvPicPr>
        <p:blipFill rotWithShape="1">
          <a:blip r:embed="rId3">
            <a:alphaModFix/>
          </a:blip>
          <a:srcRect b="5844" l="5648" r="2810" t="16444"/>
          <a:stretch/>
        </p:blipFill>
        <p:spPr>
          <a:xfrm>
            <a:off x="0" y="3250675"/>
            <a:ext cx="9144000" cy="1892825"/>
          </a:xfrm>
          <a:prstGeom prst="rect">
            <a:avLst/>
          </a:prstGeom>
          <a:noFill/>
          <a:ln>
            <a:noFill/>
          </a:ln>
        </p:spPr>
      </p:pic>
      <p:sp>
        <p:nvSpPr>
          <p:cNvPr id="120" name="Google Shape;120;p18"/>
          <p:cNvSpPr txBox="1"/>
          <p:nvPr/>
        </p:nvSpPr>
        <p:spPr>
          <a:xfrm>
            <a:off x="549275" y="3782388"/>
            <a:ext cx="51795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a:solidFill>
                  <a:srgbClr val="999999"/>
                </a:solidFill>
                <a:latin typeface="Poppins"/>
                <a:ea typeface="Poppins"/>
                <a:cs typeface="Poppins"/>
                <a:sym typeface="Poppins"/>
              </a:rPr>
              <a:t>This is not a past issue, it is a current and ongoing problem</a:t>
            </a:r>
            <a:endParaRPr b="1">
              <a:solidFill>
                <a:srgbClr val="999999"/>
              </a:solidFill>
              <a:latin typeface="Poppins"/>
              <a:ea typeface="Poppins"/>
              <a:cs typeface="Poppins"/>
              <a:sym typeface="Poppins"/>
            </a:endParaRPr>
          </a:p>
        </p:txBody>
      </p:sp>
      <p:pic>
        <p:nvPicPr>
          <p:cNvPr id="121" name="Google Shape;121;p18"/>
          <p:cNvPicPr preferRelativeResize="0"/>
          <p:nvPr/>
        </p:nvPicPr>
        <p:blipFill rotWithShape="1">
          <a:blip r:embed="rId4">
            <a:alphaModFix/>
          </a:blip>
          <a:srcRect b="22899" l="15649" r="25676" t="0"/>
          <a:stretch/>
        </p:blipFill>
        <p:spPr>
          <a:xfrm rot="-2042889">
            <a:off x="1805225" y="1351125"/>
            <a:ext cx="691675" cy="1016500"/>
          </a:xfrm>
          <a:prstGeom prst="rect">
            <a:avLst/>
          </a:prstGeom>
          <a:noFill/>
          <a:ln>
            <a:noFill/>
          </a:ln>
        </p:spPr>
      </p:pic>
      <p:pic>
        <p:nvPicPr>
          <p:cNvPr id="122" name="Google Shape;122;p18"/>
          <p:cNvPicPr preferRelativeResize="0"/>
          <p:nvPr/>
        </p:nvPicPr>
        <p:blipFill>
          <a:blip r:embed="rId4">
            <a:alphaModFix/>
          </a:blip>
          <a:stretch>
            <a:fillRect/>
          </a:stretch>
        </p:blipFill>
        <p:spPr>
          <a:xfrm rot="-673288">
            <a:off x="4506780" y="852947"/>
            <a:ext cx="950413" cy="1063021"/>
          </a:xfrm>
          <a:prstGeom prst="rect">
            <a:avLst/>
          </a:prstGeom>
          <a:noFill/>
          <a:ln>
            <a:noFill/>
          </a:ln>
        </p:spPr>
      </p:pic>
      <p:pic>
        <p:nvPicPr>
          <p:cNvPr id="123" name="Google Shape;123;p18"/>
          <p:cNvPicPr preferRelativeResize="0"/>
          <p:nvPr/>
        </p:nvPicPr>
        <p:blipFill rotWithShape="1">
          <a:blip r:embed="rId4">
            <a:alphaModFix/>
          </a:blip>
          <a:srcRect b="22899" l="15649" r="25676" t="0"/>
          <a:stretch/>
        </p:blipFill>
        <p:spPr>
          <a:xfrm rot="-379801">
            <a:off x="6562940" y="1341280"/>
            <a:ext cx="856970" cy="1259443"/>
          </a:xfrm>
          <a:prstGeom prst="rect">
            <a:avLst/>
          </a:prstGeom>
          <a:noFill/>
          <a:ln>
            <a:noFill/>
          </a:ln>
        </p:spPr>
      </p:pic>
      <p:pic>
        <p:nvPicPr>
          <p:cNvPr id="124" name="Google Shape;124;p18"/>
          <p:cNvPicPr preferRelativeResize="0"/>
          <p:nvPr/>
        </p:nvPicPr>
        <p:blipFill rotWithShape="1">
          <a:blip r:embed="rId4">
            <a:alphaModFix/>
          </a:blip>
          <a:srcRect b="22899" l="15649" r="25676" t="0"/>
          <a:stretch/>
        </p:blipFill>
        <p:spPr>
          <a:xfrm rot="2699997">
            <a:off x="2950725" y="1232449"/>
            <a:ext cx="376599" cy="553458"/>
          </a:xfrm>
          <a:prstGeom prst="rect">
            <a:avLst/>
          </a:prstGeom>
          <a:noFill/>
          <a:ln>
            <a:noFill/>
          </a:ln>
        </p:spPr>
      </p:pic>
      <p:pic>
        <p:nvPicPr>
          <p:cNvPr id="125" name="Google Shape;125;p18"/>
          <p:cNvPicPr preferRelativeResize="0"/>
          <p:nvPr/>
        </p:nvPicPr>
        <p:blipFill rotWithShape="1">
          <a:blip r:embed="rId4">
            <a:alphaModFix/>
          </a:blip>
          <a:srcRect b="22899" l="15649" r="25676" t="0"/>
          <a:stretch/>
        </p:blipFill>
        <p:spPr>
          <a:xfrm rot="-2042890">
            <a:off x="4201226" y="2527245"/>
            <a:ext cx="344951" cy="506948"/>
          </a:xfrm>
          <a:prstGeom prst="rect">
            <a:avLst/>
          </a:prstGeom>
          <a:noFill/>
          <a:ln>
            <a:noFill/>
          </a:ln>
        </p:spPr>
      </p:pic>
      <p:pic>
        <p:nvPicPr>
          <p:cNvPr id="126" name="Google Shape;126;p18"/>
          <p:cNvPicPr preferRelativeResize="0"/>
          <p:nvPr/>
        </p:nvPicPr>
        <p:blipFill rotWithShape="1">
          <a:blip r:embed="rId4">
            <a:alphaModFix/>
          </a:blip>
          <a:srcRect b="22899" l="15649" r="25676" t="0"/>
          <a:stretch/>
        </p:blipFill>
        <p:spPr>
          <a:xfrm rot="5262412">
            <a:off x="5434101" y="2330899"/>
            <a:ext cx="612163" cy="899641"/>
          </a:xfrm>
          <a:prstGeom prst="rect">
            <a:avLst/>
          </a:prstGeom>
          <a:noFill/>
          <a:ln>
            <a:noFill/>
          </a:ln>
        </p:spPr>
      </p:pic>
      <p:pic>
        <p:nvPicPr>
          <p:cNvPr id="127" name="Google Shape;127;p18"/>
          <p:cNvPicPr preferRelativeResize="0"/>
          <p:nvPr/>
        </p:nvPicPr>
        <p:blipFill rotWithShape="1">
          <a:blip r:embed="rId4">
            <a:alphaModFix/>
          </a:blip>
          <a:srcRect b="22899" l="15649" r="25676" t="0"/>
          <a:stretch/>
        </p:blipFill>
        <p:spPr>
          <a:xfrm rot="10436809">
            <a:off x="2763889" y="2370310"/>
            <a:ext cx="558511" cy="820805"/>
          </a:xfrm>
          <a:prstGeom prst="rect">
            <a:avLst/>
          </a:prstGeom>
          <a:noFill/>
          <a:ln>
            <a:noFill/>
          </a:ln>
        </p:spPr>
      </p:pic>
      <p:sp>
        <p:nvSpPr>
          <p:cNvPr id="128" name="Google Shape;128;p18"/>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3</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120">
                <a:latin typeface="Bebas Neue"/>
                <a:ea typeface="Bebas Neue"/>
                <a:cs typeface="Bebas Neue"/>
                <a:sym typeface="Bebas Neue"/>
              </a:rPr>
              <a:t>VALIDATING THE PROBLEM</a:t>
            </a:r>
            <a:endParaRPr sz="3120">
              <a:latin typeface="Bebas Neue"/>
              <a:ea typeface="Bebas Neue"/>
              <a:cs typeface="Bebas Neue"/>
              <a:sym typeface="Bebas Neue"/>
            </a:endParaRPr>
          </a:p>
        </p:txBody>
      </p:sp>
      <p:sp>
        <p:nvSpPr>
          <p:cNvPr id="134" name="Google Shape;134;p19"/>
          <p:cNvSpPr txBox="1"/>
          <p:nvPr>
            <p:ph idx="1" type="body"/>
          </p:nvPr>
        </p:nvSpPr>
        <p:spPr>
          <a:xfrm>
            <a:off x="311700" y="1085100"/>
            <a:ext cx="8520600" cy="209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1300">
                <a:solidFill>
                  <a:srgbClr val="000000"/>
                </a:solidFill>
                <a:latin typeface="Poppins"/>
                <a:ea typeface="Poppins"/>
                <a:cs typeface="Poppins"/>
                <a:sym typeface="Poppins"/>
              </a:rPr>
              <a:t>To validate our hypothesis, we reached out to current High School students in Spain and the </a:t>
            </a:r>
            <a:r>
              <a:rPr lang="es" sz="1300">
                <a:solidFill>
                  <a:srgbClr val="000000"/>
                </a:solidFill>
                <a:latin typeface="Poppins"/>
                <a:ea typeface="Poppins"/>
                <a:cs typeface="Poppins"/>
                <a:sym typeface="Poppins"/>
              </a:rPr>
              <a:t>Polytechnic</a:t>
            </a:r>
            <a:r>
              <a:rPr lang="es" sz="1300">
                <a:solidFill>
                  <a:srgbClr val="000000"/>
                </a:solidFill>
                <a:latin typeface="Poppins"/>
                <a:ea typeface="Poppins"/>
                <a:cs typeface="Poppins"/>
                <a:sym typeface="Poppins"/>
              </a:rPr>
              <a:t> University. Their feedback was clear:</a:t>
            </a:r>
            <a:endParaRPr sz="1300">
              <a:solidFill>
                <a:srgbClr val="000000"/>
              </a:solidFill>
              <a:latin typeface="Poppins"/>
              <a:ea typeface="Poppins"/>
              <a:cs typeface="Poppins"/>
              <a:sym typeface="Poppins"/>
            </a:endParaRPr>
          </a:p>
          <a:p>
            <a:pPr indent="-311150" lvl="0" marL="457200" rtl="0" algn="l">
              <a:spcBef>
                <a:spcPts val="1200"/>
              </a:spcBef>
              <a:spcAft>
                <a:spcPts val="0"/>
              </a:spcAft>
              <a:buClr>
                <a:srgbClr val="000000"/>
              </a:buClr>
              <a:buSzPts val="1300"/>
              <a:buFont typeface="Poppins"/>
              <a:buChar char="●"/>
            </a:pPr>
            <a:r>
              <a:rPr lang="es" sz="1300">
                <a:solidFill>
                  <a:srgbClr val="000000"/>
                </a:solidFill>
                <a:latin typeface="Poppins"/>
                <a:ea typeface="Poppins"/>
                <a:cs typeface="Poppins"/>
                <a:sym typeface="Poppins"/>
              </a:rPr>
              <a:t>They experience the same confusion and frustration</a:t>
            </a:r>
            <a:endParaRPr sz="1300">
              <a:solidFill>
                <a:srgbClr val="000000"/>
              </a:solidFill>
              <a:latin typeface="Poppins"/>
              <a:ea typeface="Poppins"/>
              <a:cs typeface="Poppins"/>
              <a:sym typeface="Poppins"/>
            </a:endParaRPr>
          </a:p>
          <a:p>
            <a:pPr indent="-311150" lvl="0" marL="457200" rtl="0" algn="l">
              <a:spcBef>
                <a:spcPts val="0"/>
              </a:spcBef>
              <a:spcAft>
                <a:spcPts val="0"/>
              </a:spcAft>
              <a:buClr>
                <a:srgbClr val="000000"/>
              </a:buClr>
              <a:buSzPts val="1300"/>
              <a:buFont typeface="Poppins"/>
              <a:buChar char="●"/>
            </a:pPr>
            <a:r>
              <a:rPr lang="es" sz="1300">
                <a:solidFill>
                  <a:srgbClr val="000000"/>
                </a:solidFill>
                <a:latin typeface="Poppins"/>
                <a:ea typeface="Poppins"/>
                <a:cs typeface="Poppins"/>
                <a:sym typeface="Poppins"/>
              </a:rPr>
              <a:t>They feel unsupported by traditional guidance systems</a:t>
            </a:r>
            <a:endParaRPr sz="1300">
              <a:solidFill>
                <a:srgbClr val="000000"/>
              </a:solidFill>
              <a:latin typeface="Poppins"/>
              <a:ea typeface="Poppins"/>
              <a:cs typeface="Poppins"/>
              <a:sym typeface="Poppins"/>
            </a:endParaRPr>
          </a:p>
          <a:p>
            <a:pPr indent="-311150" lvl="0" marL="457200" rtl="0" algn="l">
              <a:spcBef>
                <a:spcPts val="0"/>
              </a:spcBef>
              <a:spcAft>
                <a:spcPts val="0"/>
              </a:spcAft>
              <a:buClr>
                <a:srgbClr val="000000"/>
              </a:buClr>
              <a:buSzPts val="1300"/>
              <a:buFont typeface="Poppins"/>
              <a:buChar char="●"/>
            </a:pPr>
            <a:r>
              <a:rPr lang="es" sz="1300">
                <a:solidFill>
                  <a:srgbClr val="000000"/>
                </a:solidFill>
                <a:latin typeface="Poppins"/>
                <a:ea typeface="Poppins"/>
                <a:cs typeface="Poppins"/>
                <a:sym typeface="Poppins"/>
              </a:rPr>
              <a:t>Despite digitalization, career orientation methods:</a:t>
            </a:r>
            <a:endParaRPr sz="1300">
              <a:solidFill>
                <a:srgbClr val="000000"/>
              </a:solidFill>
              <a:latin typeface="Poppins"/>
              <a:ea typeface="Poppins"/>
              <a:cs typeface="Poppins"/>
              <a:sym typeface="Poppins"/>
            </a:endParaRPr>
          </a:p>
          <a:p>
            <a:pPr indent="-311150" lvl="1" marL="1371600" rtl="0" algn="l">
              <a:spcBef>
                <a:spcPts val="0"/>
              </a:spcBef>
              <a:spcAft>
                <a:spcPts val="0"/>
              </a:spcAft>
              <a:buClr>
                <a:srgbClr val="000000"/>
              </a:buClr>
              <a:buSzPts val="1300"/>
              <a:buFont typeface="Poppins"/>
              <a:buChar char="○"/>
            </a:pPr>
            <a:r>
              <a:rPr lang="es" sz="1300">
                <a:solidFill>
                  <a:srgbClr val="000000"/>
                </a:solidFill>
                <a:latin typeface="Poppins"/>
                <a:ea typeface="Poppins"/>
                <a:cs typeface="Poppins"/>
                <a:sym typeface="Poppins"/>
              </a:rPr>
              <a:t>Have not evolved</a:t>
            </a:r>
            <a:endParaRPr sz="1300">
              <a:solidFill>
                <a:srgbClr val="000000"/>
              </a:solidFill>
              <a:latin typeface="Poppins"/>
              <a:ea typeface="Poppins"/>
              <a:cs typeface="Poppins"/>
              <a:sym typeface="Poppins"/>
            </a:endParaRPr>
          </a:p>
          <a:p>
            <a:pPr indent="-311150" lvl="1" marL="1371600" rtl="0" algn="l">
              <a:spcBef>
                <a:spcPts val="0"/>
              </a:spcBef>
              <a:spcAft>
                <a:spcPts val="0"/>
              </a:spcAft>
              <a:buClr>
                <a:srgbClr val="000000"/>
              </a:buClr>
              <a:buSzPts val="1300"/>
              <a:buFont typeface="Poppins"/>
              <a:buChar char="○"/>
            </a:pPr>
            <a:r>
              <a:rPr lang="es" sz="1300">
                <a:solidFill>
                  <a:srgbClr val="000000"/>
                </a:solidFill>
                <a:latin typeface="Poppins"/>
                <a:ea typeface="Poppins"/>
                <a:cs typeface="Poppins"/>
                <a:sym typeface="Poppins"/>
              </a:rPr>
              <a:t>Do not adapt to students’ real needs</a:t>
            </a:r>
            <a:endParaRPr sz="1300">
              <a:solidFill>
                <a:srgbClr val="000000"/>
              </a:solidFill>
              <a:latin typeface="Poppins"/>
              <a:ea typeface="Poppins"/>
              <a:cs typeface="Poppins"/>
              <a:sym typeface="Poppins"/>
            </a:endParaRPr>
          </a:p>
        </p:txBody>
      </p:sp>
      <p:pic>
        <p:nvPicPr>
          <p:cNvPr id="135" name="Google Shape;135;p19"/>
          <p:cNvPicPr preferRelativeResize="0"/>
          <p:nvPr/>
        </p:nvPicPr>
        <p:blipFill rotWithShape="1">
          <a:blip r:embed="rId3">
            <a:alphaModFix/>
          </a:blip>
          <a:srcRect b="5844" l="5648" r="2810" t="16444"/>
          <a:stretch/>
        </p:blipFill>
        <p:spPr>
          <a:xfrm>
            <a:off x="0" y="3250675"/>
            <a:ext cx="9144000" cy="1892825"/>
          </a:xfrm>
          <a:prstGeom prst="rect">
            <a:avLst/>
          </a:prstGeom>
          <a:noFill/>
          <a:ln>
            <a:noFill/>
          </a:ln>
        </p:spPr>
      </p:pic>
      <p:sp>
        <p:nvSpPr>
          <p:cNvPr id="136" name="Google Shape;136;p19"/>
          <p:cNvSpPr txBox="1"/>
          <p:nvPr/>
        </p:nvSpPr>
        <p:spPr>
          <a:xfrm>
            <a:off x="549275" y="3782388"/>
            <a:ext cx="51795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a:solidFill>
                  <a:schemeClr val="dk1"/>
                </a:solidFill>
                <a:latin typeface="Poppins"/>
                <a:ea typeface="Poppins"/>
                <a:cs typeface="Poppins"/>
                <a:sym typeface="Poppins"/>
              </a:rPr>
              <a:t>This is not a past issue, it is a current and ongoing problem</a:t>
            </a:r>
            <a:endParaRPr b="1">
              <a:latin typeface="Poppins"/>
              <a:ea typeface="Poppins"/>
              <a:cs typeface="Poppins"/>
              <a:sym typeface="Poppins"/>
            </a:endParaRPr>
          </a:p>
        </p:txBody>
      </p:sp>
      <p:sp>
        <p:nvSpPr>
          <p:cNvPr id="137" name="Google Shape;137;p19"/>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4</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517292" y="47618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120">
                <a:latin typeface="Bebas Neue"/>
                <a:ea typeface="Bebas Neue"/>
                <a:cs typeface="Bebas Neue"/>
                <a:sym typeface="Bebas Neue"/>
              </a:rPr>
              <a:t>FROM INSIGHT TO DATA</a:t>
            </a:r>
            <a:endParaRPr sz="3120">
              <a:latin typeface="Bebas Neue"/>
              <a:ea typeface="Bebas Neue"/>
              <a:cs typeface="Bebas Neue"/>
              <a:sym typeface="Bebas Neue"/>
            </a:endParaRPr>
          </a:p>
        </p:txBody>
      </p:sp>
      <p:sp>
        <p:nvSpPr>
          <p:cNvPr id="143" name="Google Shape;143;p20"/>
          <p:cNvSpPr txBox="1"/>
          <p:nvPr>
            <p:ph idx="1" type="body"/>
          </p:nvPr>
        </p:nvSpPr>
        <p:spPr>
          <a:xfrm>
            <a:off x="517289" y="1040825"/>
            <a:ext cx="5885100" cy="5406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s">
                <a:solidFill>
                  <a:srgbClr val="000000"/>
                </a:solidFill>
                <a:latin typeface="Poppins"/>
                <a:ea typeface="Poppins"/>
                <a:cs typeface="Poppins"/>
                <a:sym typeface="Poppins"/>
              </a:rPr>
              <a:t>To move from observation to data, we created a survey:</a:t>
            </a:r>
            <a:endParaRPr>
              <a:latin typeface="Poppins"/>
              <a:ea typeface="Poppins"/>
              <a:cs typeface="Poppins"/>
              <a:sym typeface="Poppins"/>
            </a:endParaRPr>
          </a:p>
        </p:txBody>
      </p:sp>
      <p:pic>
        <p:nvPicPr>
          <p:cNvPr id="144" name="Google Shape;144;p20"/>
          <p:cNvPicPr preferRelativeResize="0"/>
          <p:nvPr/>
        </p:nvPicPr>
        <p:blipFill>
          <a:blip r:embed="rId3">
            <a:alphaModFix/>
          </a:blip>
          <a:stretch>
            <a:fillRect/>
          </a:stretch>
        </p:blipFill>
        <p:spPr>
          <a:xfrm>
            <a:off x="453875" y="1636775"/>
            <a:ext cx="1794975" cy="760625"/>
          </a:xfrm>
          <a:prstGeom prst="rect">
            <a:avLst/>
          </a:prstGeom>
          <a:noFill/>
          <a:ln>
            <a:noFill/>
          </a:ln>
        </p:spPr>
      </p:pic>
      <p:sp>
        <p:nvSpPr>
          <p:cNvPr id="145" name="Google Shape;145;p20"/>
          <p:cNvSpPr txBox="1"/>
          <p:nvPr>
            <p:ph idx="1" type="body"/>
          </p:nvPr>
        </p:nvSpPr>
        <p:spPr>
          <a:xfrm>
            <a:off x="627450" y="4275850"/>
            <a:ext cx="6601200" cy="6288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t/>
            </a:r>
            <a:endParaRPr>
              <a:solidFill>
                <a:srgbClr val="000000"/>
              </a:solidFill>
            </a:endParaRPr>
          </a:p>
          <a:p>
            <a:pPr indent="0" lvl="0" marL="0" rtl="0" algn="l">
              <a:spcBef>
                <a:spcPts val="1200"/>
              </a:spcBef>
              <a:spcAft>
                <a:spcPts val="0"/>
              </a:spcAft>
              <a:buNone/>
            </a:pPr>
            <a:r>
              <a:rPr lang="es" sz="6000">
                <a:solidFill>
                  <a:srgbClr val="000000"/>
                </a:solidFill>
                <a:latin typeface="Poppins"/>
                <a:ea typeface="Poppins"/>
                <a:cs typeface="Poppins"/>
                <a:sym typeface="Poppins"/>
              </a:rPr>
              <a:t>Ensured a reliable and relevant sample</a:t>
            </a:r>
            <a:endParaRPr sz="6000">
              <a:solidFill>
                <a:srgbClr val="000000"/>
              </a:solidFill>
              <a:latin typeface="Poppins"/>
              <a:ea typeface="Poppins"/>
              <a:cs typeface="Poppins"/>
              <a:sym typeface="Poppins"/>
            </a:endParaRPr>
          </a:p>
          <a:p>
            <a:pPr indent="0" lvl="0" marL="0" rtl="0" algn="l">
              <a:spcBef>
                <a:spcPts val="1200"/>
              </a:spcBef>
              <a:spcAft>
                <a:spcPts val="1200"/>
              </a:spcAft>
              <a:buNone/>
            </a:pPr>
            <a:r>
              <a:t/>
            </a:r>
            <a:endParaRPr/>
          </a:p>
        </p:txBody>
      </p:sp>
      <p:sp>
        <p:nvSpPr>
          <p:cNvPr id="146" name="Google Shape;146;p20"/>
          <p:cNvSpPr txBox="1"/>
          <p:nvPr/>
        </p:nvSpPr>
        <p:spPr>
          <a:xfrm>
            <a:off x="735534" y="1762738"/>
            <a:ext cx="1513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1500">
                <a:solidFill>
                  <a:schemeClr val="lt1"/>
                </a:solidFill>
                <a:latin typeface="Poppins"/>
                <a:ea typeface="Poppins"/>
                <a:cs typeface="Poppins"/>
                <a:sym typeface="Poppins"/>
              </a:rPr>
              <a:t>Distributed</a:t>
            </a:r>
            <a:r>
              <a:rPr lang="es" sz="1800">
                <a:solidFill>
                  <a:schemeClr val="lt1"/>
                </a:solidFill>
                <a:latin typeface="Poppins"/>
                <a:ea typeface="Poppins"/>
                <a:cs typeface="Poppins"/>
                <a:sym typeface="Poppins"/>
              </a:rPr>
              <a:t>:</a:t>
            </a:r>
            <a:endParaRPr>
              <a:solidFill>
                <a:schemeClr val="lt1"/>
              </a:solidFill>
              <a:latin typeface="Poppins"/>
              <a:ea typeface="Poppins"/>
              <a:cs typeface="Poppins"/>
              <a:sym typeface="Poppins"/>
            </a:endParaRPr>
          </a:p>
        </p:txBody>
      </p:sp>
      <p:sp>
        <p:nvSpPr>
          <p:cNvPr id="147" name="Google Shape;147;p20"/>
          <p:cNvSpPr txBox="1"/>
          <p:nvPr/>
        </p:nvSpPr>
        <p:spPr>
          <a:xfrm>
            <a:off x="2248854" y="1795288"/>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500">
                <a:solidFill>
                  <a:schemeClr val="dk1"/>
                </a:solidFill>
                <a:latin typeface="Poppins"/>
                <a:ea typeface="Poppins"/>
                <a:cs typeface="Poppins"/>
                <a:sym typeface="Poppins"/>
              </a:rPr>
              <a:t> V</a:t>
            </a:r>
            <a:r>
              <a:rPr lang="es" sz="1500">
                <a:solidFill>
                  <a:schemeClr val="dk1"/>
                </a:solidFill>
                <a:latin typeface="Poppins"/>
                <a:ea typeface="Poppins"/>
                <a:cs typeface="Poppins"/>
                <a:sym typeface="Poppins"/>
              </a:rPr>
              <a:t>ia Google Forms</a:t>
            </a:r>
            <a:endParaRPr sz="1500">
              <a:latin typeface="Poppins"/>
              <a:ea typeface="Poppins"/>
              <a:cs typeface="Poppins"/>
              <a:sym typeface="Poppins"/>
            </a:endParaRPr>
          </a:p>
        </p:txBody>
      </p:sp>
      <p:pic>
        <p:nvPicPr>
          <p:cNvPr id="148" name="Google Shape;148;p20"/>
          <p:cNvPicPr preferRelativeResize="0"/>
          <p:nvPr/>
        </p:nvPicPr>
        <p:blipFill>
          <a:blip r:embed="rId3">
            <a:alphaModFix/>
          </a:blip>
          <a:stretch>
            <a:fillRect/>
          </a:stretch>
        </p:blipFill>
        <p:spPr>
          <a:xfrm>
            <a:off x="453884" y="2268175"/>
            <a:ext cx="1794975" cy="760625"/>
          </a:xfrm>
          <a:prstGeom prst="rect">
            <a:avLst/>
          </a:prstGeom>
          <a:noFill/>
          <a:ln>
            <a:noFill/>
          </a:ln>
        </p:spPr>
      </p:pic>
      <p:pic>
        <p:nvPicPr>
          <p:cNvPr id="149" name="Google Shape;149;p20"/>
          <p:cNvPicPr preferRelativeResize="0"/>
          <p:nvPr/>
        </p:nvPicPr>
        <p:blipFill>
          <a:blip r:embed="rId3">
            <a:alphaModFix/>
          </a:blip>
          <a:stretch>
            <a:fillRect/>
          </a:stretch>
        </p:blipFill>
        <p:spPr>
          <a:xfrm>
            <a:off x="453884" y="2985300"/>
            <a:ext cx="1794975" cy="760625"/>
          </a:xfrm>
          <a:prstGeom prst="rect">
            <a:avLst/>
          </a:prstGeom>
          <a:noFill/>
          <a:ln>
            <a:noFill/>
          </a:ln>
        </p:spPr>
      </p:pic>
      <p:pic>
        <p:nvPicPr>
          <p:cNvPr id="150" name="Google Shape;150;p20"/>
          <p:cNvPicPr preferRelativeResize="0"/>
          <p:nvPr/>
        </p:nvPicPr>
        <p:blipFill>
          <a:blip r:embed="rId3">
            <a:alphaModFix/>
          </a:blip>
          <a:stretch>
            <a:fillRect/>
          </a:stretch>
        </p:blipFill>
        <p:spPr>
          <a:xfrm>
            <a:off x="453872" y="3715543"/>
            <a:ext cx="1794975" cy="760625"/>
          </a:xfrm>
          <a:prstGeom prst="rect">
            <a:avLst/>
          </a:prstGeom>
          <a:noFill/>
          <a:ln>
            <a:noFill/>
          </a:ln>
        </p:spPr>
      </p:pic>
      <p:sp>
        <p:nvSpPr>
          <p:cNvPr id="151" name="Google Shape;151;p20"/>
          <p:cNvSpPr txBox="1"/>
          <p:nvPr/>
        </p:nvSpPr>
        <p:spPr>
          <a:xfrm>
            <a:off x="865067" y="2405750"/>
            <a:ext cx="1513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1500">
                <a:solidFill>
                  <a:schemeClr val="lt1"/>
                </a:solidFill>
                <a:latin typeface="Poppins"/>
                <a:ea typeface="Poppins"/>
                <a:cs typeface="Poppins"/>
                <a:sym typeface="Poppins"/>
              </a:rPr>
              <a:t>Target:</a:t>
            </a:r>
            <a:endParaRPr b="1" sz="1500">
              <a:solidFill>
                <a:schemeClr val="lt1"/>
              </a:solidFill>
              <a:latin typeface="Poppins"/>
              <a:ea typeface="Poppins"/>
              <a:cs typeface="Poppins"/>
              <a:sym typeface="Poppins"/>
            </a:endParaRPr>
          </a:p>
        </p:txBody>
      </p:sp>
      <p:sp>
        <p:nvSpPr>
          <p:cNvPr id="152" name="Google Shape;152;p20"/>
          <p:cNvSpPr txBox="1"/>
          <p:nvPr/>
        </p:nvSpPr>
        <p:spPr>
          <a:xfrm>
            <a:off x="2248856" y="2424675"/>
            <a:ext cx="55305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500">
                <a:solidFill>
                  <a:schemeClr val="dk1"/>
                </a:solidFill>
                <a:latin typeface="Poppins"/>
                <a:ea typeface="Poppins"/>
                <a:cs typeface="Poppins"/>
                <a:sym typeface="Poppins"/>
              </a:rPr>
              <a:t>High School students currently choosing their future</a:t>
            </a:r>
            <a:endParaRPr sz="1500">
              <a:latin typeface="Poppins"/>
              <a:ea typeface="Poppins"/>
              <a:cs typeface="Poppins"/>
              <a:sym typeface="Poppins"/>
            </a:endParaRPr>
          </a:p>
        </p:txBody>
      </p:sp>
      <p:sp>
        <p:nvSpPr>
          <p:cNvPr id="153" name="Google Shape;153;p20"/>
          <p:cNvSpPr txBox="1"/>
          <p:nvPr/>
        </p:nvSpPr>
        <p:spPr>
          <a:xfrm>
            <a:off x="865073" y="3121075"/>
            <a:ext cx="16170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1500">
                <a:solidFill>
                  <a:schemeClr val="lt1"/>
                </a:solidFill>
                <a:latin typeface="Poppins"/>
                <a:ea typeface="Poppins"/>
                <a:cs typeface="Poppins"/>
                <a:sym typeface="Poppins"/>
              </a:rPr>
              <a:t>Shared:</a:t>
            </a:r>
            <a:endParaRPr b="1" sz="1500">
              <a:solidFill>
                <a:schemeClr val="lt1"/>
              </a:solidFill>
              <a:latin typeface="Poppins"/>
              <a:ea typeface="Poppins"/>
              <a:cs typeface="Poppins"/>
              <a:sym typeface="Poppins"/>
            </a:endParaRPr>
          </a:p>
        </p:txBody>
      </p:sp>
      <p:sp>
        <p:nvSpPr>
          <p:cNvPr id="154" name="Google Shape;154;p20"/>
          <p:cNvSpPr txBox="1"/>
          <p:nvPr/>
        </p:nvSpPr>
        <p:spPr>
          <a:xfrm>
            <a:off x="2248850" y="3164425"/>
            <a:ext cx="43968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500">
                <a:solidFill>
                  <a:schemeClr val="dk1"/>
                </a:solidFill>
                <a:latin typeface="Poppins"/>
                <a:ea typeface="Poppins"/>
                <a:cs typeface="Poppins"/>
                <a:sym typeface="Poppins"/>
              </a:rPr>
              <a:t>T</a:t>
            </a:r>
            <a:r>
              <a:rPr lang="es" sz="1500">
                <a:solidFill>
                  <a:schemeClr val="dk1"/>
                </a:solidFill>
                <a:latin typeface="Poppins"/>
                <a:ea typeface="Poppins"/>
                <a:cs typeface="Poppins"/>
                <a:sym typeface="Poppins"/>
              </a:rPr>
              <a:t>hrough our former high schools in Spain</a:t>
            </a:r>
            <a:endParaRPr sz="1500">
              <a:latin typeface="Poppins"/>
              <a:ea typeface="Poppins"/>
              <a:cs typeface="Poppins"/>
              <a:sym typeface="Poppins"/>
            </a:endParaRPr>
          </a:p>
        </p:txBody>
      </p:sp>
      <p:sp>
        <p:nvSpPr>
          <p:cNvPr id="155" name="Google Shape;155;p20"/>
          <p:cNvSpPr txBox="1"/>
          <p:nvPr/>
        </p:nvSpPr>
        <p:spPr>
          <a:xfrm>
            <a:off x="735520" y="3891050"/>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1500">
                <a:solidFill>
                  <a:schemeClr val="lt1"/>
                </a:solidFill>
                <a:latin typeface="Poppins"/>
                <a:ea typeface="Poppins"/>
                <a:cs typeface="Poppins"/>
                <a:sym typeface="Poppins"/>
              </a:rPr>
              <a:t>Delivered:</a:t>
            </a:r>
            <a:endParaRPr b="1" sz="1500">
              <a:solidFill>
                <a:schemeClr val="lt1"/>
              </a:solidFill>
              <a:latin typeface="Poppins"/>
              <a:ea typeface="Poppins"/>
              <a:cs typeface="Poppins"/>
              <a:sym typeface="Poppins"/>
            </a:endParaRPr>
          </a:p>
        </p:txBody>
      </p:sp>
      <p:sp>
        <p:nvSpPr>
          <p:cNvPr id="156" name="Google Shape;156;p20"/>
          <p:cNvSpPr txBox="1"/>
          <p:nvPr/>
        </p:nvSpPr>
        <p:spPr>
          <a:xfrm>
            <a:off x="2248860" y="3891048"/>
            <a:ext cx="64860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500">
                <a:solidFill>
                  <a:schemeClr val="dk1"/>
                </a:solidFill>
                <a:latin typeface="Poppins"/>
                <a:ea typeface="Poppins"/>
                <a:cs typeface="Poppins"/>
                <a:sym typeface="Poppins"/>
              </a:rPr>
              <a:t>D</a:t>
            </a:r>
            <a:r>
              <a:rPr lang="es" sz="1500">
                <a:solidFill>
                  <a:schemeClr val="dk1"/>
                </a:solidFill>
                <a:latin typeface="Poppins"/>
                <a:ea typeface="Poppins"/>
                <a:cs typeface="Poppins"/>
                <a:sym typeface="Poppins"/>
              </a:rPr>
              <a:t>irectly in classrooms via teachers and counselors</a:t>
            </a:r>
            <a:endParaRPr sz="1500">
              <a:latin typeface="Poppins"/>
              <a:ea typeface="Poppins"/>
              <a:cs typeface="Poppins"/>
              <a:sym typeface="Poppins"/>
            </a:endParaRPr>
          </a:p>
        </p:txBody>
      </p:sp>
      <p:sp>
        <p:nvSpPr>
          <p:cNvPr id="157" name="Google Shape;157;p20"/>
          <p:cNvSpPr/>
          <p:nvPr/>
        </p:nvSpPr>
        <p:spPr>
          <a:xfrm>
            <a:off x="8899300" y="4817186"/>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5</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type="title"/>
          </p:nvPr>
        </p:nvSpPr>
        <p:spPr>
          <a:xfrm>
            <a:off x="623400" y="4790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120">
                <a:latin typeface="Bebas Neue"/>
                <a:ea typeface="Bebas Neue"/>
                <a:cs typeface="Bebas Neue"/>
                <a:sym typeface="Bebas Neue"/>
              </a:rPr>
              <a:t>SURVEY</a:t>
            </a:r>
            <a:endParaRPr sz="3120">
              <a:latin typeface="Bebas Neue"/>
              <a:ea typeface="Bebas Neue"/>
              <a:cs typeface="Bebas Neue"/>
              <a:sym typeface="Bebas Neue"/>
            </a:endParaRPr>
          </a:p>
        </p:txBody>
      </p:sp>
      <p:pic>
        <p:nvPicPr>
          <p:cNvPr id="163" name="Google Shape;163;p21"/>
          <p:cNvPicPr preferRelativeResize="0"/>
          <p:nvPr/>
        </p:nvPicPr>
        <p:blipFill rotWithShape="1">
          <a:blip r:embed="rId3">
            <a:alphaModFix/>
          </a:blip>
          <a:srcRect b="0" l="11868" r="10769" t="11103"/>
          <a:stretch/>
        </p:blipFill>
        <p:spPr>
          <a:xfrm>
            <a:off x="1011475" y="1638200"/>
            <a:ext cx="2199800" cy="2271400"/>
          </a:xfrm>
          <a:prstGeom prst="rect">
            <a:avLst/>
          </a:prstGeom>
          <a:noFill/>
          <a:ln>
            <a:noFill/>
          </a:ln>
        </p:spPr>
      </p:pic>
      <p:pic>
        <p:nvPicPr>
          <p:cNvPr id="164" name="Google Shape;164;p21"/>
          <p:cNvPicPr preferRelativeResize="0"/>
          <p:nvPr/>
        </p:nvPicPr>
        <p:blipFill rotWithShape="1">
          <a:blip r:embed="rId3">
            <a:alphaModFix/>
          </a:blip>
          <a:srcRect b="0" l="11868" r="10769" t="11103"/>
          <a:stretch/>
        </p:blipFill>
        <p:spPr>
          <a:xfrm>
            <a:off x="3620025" y="1688525"/>
            <a:ext cx="2199800" cy="2271400"/>
          </a:xfrm>
          <a:prstGeom prst="rect">
            <a:avLst/>
          </a:prstGeom>
          <a:noFill/>
          <a:ln>
            <a:noFill/>
          </a:ln>
        </p:spPr>
      </p:pic>
      <p:sp>
        <p:nvSpPr>
          <p:cNvPr id="165" name="Google Shape;165;p21"/>
          <p:cNvSpPr txBox="1"/>
          <p:nvPr/>
        </p:nvSpPr>
        <p:spPr>
          <a:xfrm>
            <a:off x="696675" y="1051750"/>
            <a:ext cx="379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Poppins"/>
                <a:ea typeface="Poppins"/>
                <a:cs typeface="Poppins"/>
                <a:sym typeface="Poppins"/>
              </a:rPr>
              <a:t>Main o</a:t>
            </a:r>
            <a:r>
              <a:rPr lang="es" sz="1800">
                <a:solidFill>
                  <a:schemeClr val="dk1"/>
                </a:solidFill>
                <a:latin typeface="Poppins"/>
                <a:ea typeface="Poppins"/>
                <a:cs typeface="Poppins"/>
                <a:sym typeface="Poppins"/>
              </a:rPr>
              <a:t>bjectives of the Survey:</a:t>
            </a:r>
            <a:endParaRPr>
              <a:latin typeface="Poppins"/>
              <a:ea typeface="Poppins"/>
              <a:cs typeface="Poppins"/>
              <a:sym typeface="Poppins"/>
            </a:endParaRPr>
          </a:p>
        </p:txBody>
      </p:sp>
      <p:sp>
        <p:nvSpPr>
          <p:cNvPr id="166" name="Google Shape;166;p21"/>
          <p:cNvSpPr txBox="1"/>
          <p:nvPr/>
        </p:nvSpPr>
        <p:spPr>
          <a:xfrm>
            <a:off x="1256675" y="2335300"/>
            <a:ext cx="17094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500">
                <a:solidFill>
                  <a:schemeClr val="lt1"/>
                </a:solidFill>
                <a:latin typeface="Poppins"/>
                <a:ea typeface="Poppins"/>
                <a:cs typeface="Poppins"/>
                <a:sym typeface="Poppins"/>
              </a:rPr>
              <a:t>Measure Decision Fatigue</a:t>
            </a:r>
            <a:endParaRPr b="1" sz="1500">
              <a:solidFill>
                <a:schemeClr val="lt1"/>
              </a:solidFill>
              <a:latin typeface="Poppins"/>
              <a:ea typeface="Poppins"/>
              <a:cs typeface="Poppins"/>
              <a:sym typeface="Poppins"/>
            </a:endParaRPr>
          </a:p>
        </p:txBody>
      </p:sp>
      <p:sp>
        <p:nvSpPr>
          <p:cNvPr id="167" name="Google Shape;167;p21"/>
          <p:cNvSpPr txBox="1"/>
          <p:nvPr/>
        </p:nvSpPr>
        <p:spPr>
          <a:xfrm>
            <a:off x="939125" y="3788325"/>
            <a:ext cx="23445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latin typeface="Poppins"/>
                <a:ea typeface="Poppins"/>
                <a:cs typeface="Poppins"/>
                <a:sym typeface="Poppins"/>
              </a:rPr>
              <a:t>How overwhelmed students feel with current tests</a:t>
            </a:r>
            <a:endParaRPr sz="1200">
              <a:latin typeface="Poppins"/>
              <a:ea typeface="Poppins"/>
              <a:cs typeface="Poppins"/>
              <a:sym typeface="Poppins"/>
            </a:endParaRPr>
          </a:p>
        </p:txBody>
      </p:sp>
      <p:sp>
        <p:nvSpPr>
          <p:cNvPr id="168" name="Google Shape;168;p21"/>
          <p:cNvSpPr txBox="1"/>
          <p:nvPr/>
        </p:nvSpPr>
        <p:spPr>
          <a:xfrm>
            <a:off x="3539788" y="2189188"/>
            <a:ext cx="2424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endParaRPr>
          </a:p>
          <a:p>
            <a:pPr indent="0" lvl="0" marL="0" rtl="0" algn="ctr">
              <a:spcBef>
                <a:spcPts val="0"/>
              </a:spcBef>
              <a:spcAft>
                <a:spcPts val="0"/>
              </a:spcAft>
              <a:buNone/>
            </a:pPr>
            <a:r>
              <a:rPr b="1" lang="es" sz="1500">
                <a:solidFill>
                  <a:schemeClr val="lt1"/>
                </a:solidFill>
                <a:latin typeface="Poppins"/>
                <a:ea typeface="Poppins"/>
                <a:cs typeface="Poppins"/>
                <a:sym typeface="Poppins"/>
              </a:rPr>
              <a:t>Assess Trust in Guidance Systems</a:t>
            </a:r>
            <a:endParaRPr b="1" sz="1500">
              <a:solidFill>
                <a:schemeClr val="lt1"/>
              </a:solidFill>
              <a:latin typeface="Poppins"/>
              <a:ea typeface="Poppins"/>
              <a:cs typeface="Poppins"/>
              <a:sym typeface="Poppins"/>
            </a:endParaRPr>
          </a:p>
        </p:txBody>
      </p:sp>
      <p:sp>
        <p:nvSpPr>
          <p:cNvPr id="169" name="Google Shape;169;p21"/>
          <p:cNvSpPr txBox="1"/>
          <p:nvPr/>
        </p:nvSpPr>
        <p:spPr>
          <a:xfrm>
            <a:off x="3528550" y="3788325"/>
            <a:ext cx="24867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latin typeface="Poppins"/>
                <a:ea typeface="Poppins"/>
                <a:cs typeface="Poppins"/>
                <a:sym typeface="Poppins"/>
              </a:rPr>
              <a:t>Do existing tools reflect their real interests?</a:t>
            </a:r>
            <a:endParaRPr sz="1200">
              <a:latin typeface="Poppins"/>
              <a:ea typeface="Poppins"/>
              <a:cs typeface="Poppins"/>
              <a:sym typeface="Poppins"/>
            </a:endParaRPr>
          </a:p>
        </p:txBody>
      </p:sp>
      <p:pic>
        <p:nvPicPr>
          <p:cNvPr id="170" name="Google Shape;170;p21"/>
          <p:cNvPicPr preferRelativeResize="0"/>
          <p:nvPr/>
        </p:nvPicPr>
        <p:blipFill rotWithShape="1">
          <a:blip r:embed="rId3">
            <a:alphaModFix/>
          </a:blip>
          <a:srcRect b="0" l="11868" r="10769" t="11103"/>
          <a:stretch/>
        </p:blipFill>
        <p:spPr>
          <a:xfrm>
            <a:off x="6156213" y="1688525"/>
            <a:ext cx="2199800" cy="2271400"/>
          </a:xfrm>
          <a:prstGeom prst="rect">
            <a:avLst/>
          </a:prstGeom>
          <a:noFill/>
          <a:ln>
            <a:noFill/>
          </a:ln>
        </p:spPr>
      </p:pic>
      <p:sp>
        <p:nvSpPr>
          <p:cNvPr id="171" name="Google Shape;171;p21"/>
          <p:cNvSpPr txBox="1"/>
          <p:nvPr/>
        </p:nvSpPr>
        <p:spPr>
          <a:xfrm>
            <a:off x="6367825" y="2335300"/>
            <a:ext cx="18228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500">
                <a:solidFill>
                  <a:schemeClr val="lt1"/>
                </a:solidFill>
                <a:latin typeface="Poppins"/>
                <a:ea typeface="Poppins"/>
                <a:cs typeface="Poppins"/>
                <a:sym typeface="Poppins"/>
              </a:rPr>
              <a:t>Identify the “Satisfaction Gap”</a:t>
            </a:r>
            <a:endParaRPr b="1" sz="1500">
              <a:solidFill>
                <a:schemeClr val="lt1"/>
              </a:solidFill>
              <a:latin typeface="Poppins"/>
              <a:ea typeface="Poppins"/>
              <a:cs typeface="Poppins"/>
              <a:sym typeface="Poppins"/>
            </a:endParaRPr>
          </a:p>
        </p:txBody>
      </p:sp>
      <p:sp>
        <p:nvSpPr>
          <p:cNvPr id="172" name="Google Shape;172;p21"/>
          <p:cNvSpPr txBox="1"/>
          <p:nvPr/>
        </p:nvSpPr>
        <p:spPr>
          <a:xfrm>
            <a:off x="6128250" y="3788325"/>
            <a:ext cx="21405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latin typeface="Poppins"/>
                <a:ea typeface="Poppins"/>
                <a:cs typeface="Poppins"/>
                <a:sym typeface="Poppins"/>
              </a:rPr>
              <a:t>Fear of choosing something that doesn’t make them happy</a:t>
            </a:r>
            <a:endParaRPr sz="1600">
              <a:solidFill>
                <a:schemeClr val="dk1"/>
              </a:solidFill>
              <a:latin typeface="Poppins"/>
              <a:ea typeface="Poppins"/>
              <a:cs typeface="Poppins"/>
              <a:sym typeface="Poppins"/>
            </a:endParaRPr>
          </a:p>
        </p:txBody>
      </p:sp>
      <p:sp>
        <p:nvSpPr>
          <p:cNvPr id="173" name="Google Shape;173;p21"/>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6</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120">
                <a:latin typeface="Bebas Neue"/>
                <a:ea typeface="Bebas Neue"/>
                <a:cs typeface="Bebas Neue"/>
                <a:sym typeface="Bebas Neue"/>
              </a:rPr>
              <a:t>Survey Results: 108 Students</a:t>
            </a:r>
            <a:endParaRPr sz="3120">
              <a:latin typeface="Bebas Neue"/>
              <a:ea typeface="Bebas Neue"/>
              <a:cs typeface="Bebas Neue"/>
              <a:sym typeface="Bebas Neue"/>
            </a:endParaRPr>
          </a:p>
        </p:txBody>
      </p:sp>
      <p:sp>
        <p:nvSpPr>
          <p:cNvPr id="179" name="Google Shape;179;p22"/>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7</a:t>
            </a:r>
            <a:endParaRPr i="0" sz="1700" u="none" cap="none" strike="noStrike">
              <a:solidFill>
                <a:schemeClr val="dk1"/>
              </a:solidFill>
              <a:latin typeface="Bebas Neue"/>
              <a:ea typeface="Bebas Neue"/>
              <a:cs typeface="Bebas Neue"/>
              <a:sym typeface="Bebas Neue"/>
            </a:endParaRPr>
          </a:p>
        </p:txBody>
      </p:sp>
      <p:pic>
        <p:nvPicPr>
          <p:cNvPr descr="Gráfico de respuestas de formularios. Título de la pregunta: When you think about choosing your major or program, what is your main feeling?. Número de respuestas: 108 respuestas." id="180" name="Google Shape;180;p22" title="When you think about choosing your major or program, what is your main feeling?"/>
          <p:cNvPicPr preferRelativeResize="0"/>
          <p:nvPr/>
        </p:nvPicPr>
        <p:blipFill>
          <a:blip r:embed="rId3">
            <a:alphaModFix/>
          </a:blip>
          <a:stretch>
            <a:fillRect/>
          </a:stretch>
        </p:blipFill>
        <p:spPr>
          <a:xfrm>
            <a:off x="2375513" y="2966438"/>
            <a:ext cx="4392980" cy="1849001"/>
          </a:xfrm>
          <a:prstGeom prst="rect">
            <a:avLst/>
          </a:prstGeom>
          <a:noFill/>
          <a:ln>
            <a:noFill/>
          </a:ln>
        </p:spPr>
      </p:pic>
      <p:pic>
        <p:nvPicPr>
          <p:cNvPr descr="Gráfico de respuestas de formularios. Título de la pregunta: Right now, do you have a clear idea of what you’ll study after high school?  . Número de respuestas: 108 respuestas." id="181" name="Google Shape;181;p22" title="Right now, do you have a clear idea of what you’ll study after high school?  "/>
          <p:cNvPicPr preferRelativeResize="0"/>
          <p:nvPr/>
        </p:nvPicPr>
        <p:blipFill>
          <a:blip r:embed="rId4">
            <a:alphaModFix/>
          </a:blip>
          <a:stretch>
            <a:fillRect/>
          </a:stretch>
        </p:blipFill>
        <p:spPr>
          <a:xfrm>
            <a:off x="311700" y="1264950"/>
            <a:ext cx="4042578" cy="1701500"/>
          </a:xfrm>
          <a:prstGeom prst="rect">
            <a:avLst/>
          </a:prstGeom>
          <a:noFill/>
          <a:ln>
            <a:noFill/>
          </a:ln>
        </p:spPr>
      </p:pic>
      <p:pic>
        <p:nvPicPr>
          <p:cNvPr descr="Gráfico de respuestas de formularios. Título de la pregunta: Do you feel you receive enough useful, clear, and personalized information at your school about the different degrees?   . Número de respuestas: 108 respuestas." id="182" name="Google Shape;182;p22" title="Do you feel you receive enough useful, clear, and personalized information at your school about the different degrees?   "/>
          <p:cNvPicPr preferRelativeResize="0"/>
          <p:nvPr/>
        </p:nvPicPr>
        <p:blipFill>
          <a:blip r:embed="rId5">
            <a:alphaModFix/>
          </a:blip>
          <a:stretch>
            <a:fillRect/>
          </a:stretch>
        </p:blipFill>
        <p:spPr>
          <a:xfrm>
            <a:off x="4506675" y="1170125"/>
            <a:ext cx="4076160" cy="1849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p:nvPr/>
        </p:nvSpPr>
        <p:spPr>
          <a:xfrm>
            <a:off x="682600" y="376550"/>
            <a:ext cx="6860700" cy="4296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3A3A3A"/>
              </a:buClr>
              <a:buSzPts val="2687"/>
              <a:buFont typeface="Arial"/>
              <a:buNone/>
            </a:pPr>
            <a:r>
              <a:rPr i="0" lang="es" sz="3100" u="none" cap="none" strike="noStrike">
                <a:solidFill>
                  <a:schemeClr val="dk1"/>
                </a:solidFill>
                <a:latin typeface="Bebas Neue"/>
                <a:ea typeface="Bebas Neue"/>
                <a:cs typeface="Bebas Neue"/>
                <a:sym typeface="Bebas Neue"/>
              </a:rPr>
              <a:t>Survey Results: 10</a:t>
            </a:r>
            <a:r>
              <a:rPr lang="es" sz="3100">
                <a:solidFill>
                  <a:schemeClr val="dk1"/>
                </a:solidFill>
                <a:latin typeface="Bebas Neue"/>
                <a:ea typeface="Bebas Neue"/>
                <a:cs typeface="Bebas Neue"/>
                <a:sym typeface="Bebas Neue"/>
              </a:rPr>
              <a:t>8</a:t>
            </a:r>
            <a:r>
              <a:rPr i="0" lang="es" sz="3100" u="none" cap="none" strike="noStrike">
                <a:solidFill>
                  <a:schemeClr val="dk1"/>
                </a:solidFill>
                <a:latin typeface="Bebas Neue"/>
                <a:ea typeface="Bebas Neue"/>
                <a:cs typeface="Bebas Neue"/>
                <a:sym typeface="Bebas Neue"/>
              </a:rPr>
              <a:t> Students</a:t>
            </a:r>
            <a:endParaRPr i="0" sz="3100" u="none" cap="none" strike="noStrike">
              <a:solidFill>
                <a:schemeClr val="dk1"/>
              </a:solidFill>
              <a:latin typeface="Bebas Neue"/>
              <a:ea typeface="Bebas Neue"/>
              <a:cs typeface="Bebas Neue"/>
              <a:sym typeface="Bebas Neue"/>
            </a:endParaRPr>
          </a:p>
        </p:txBody>
      </p:sp>
      <p:sp>
        <p:nvSpPr>
          <p:cNvPr id="188" name="Google Shape;188;p23"/>
          <p:cNvSpPr/>
          <p:nvPr/>
        </p:nvSpPr>
        <p:spPr>
          <a:xfrm>
            <a:off x="682593" y="1189657"/>
            <a:ext cx="1718100" cy="2148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3A3A3A"/>
              </a:buClr>
              <a:buSzPts val="1344"/>
              <a:buFont typeface="Arial"/>
              <a:buNone/>
            </a:pPr>
            <a:r>
              <a:rPr b="1" i="0" lang="es" sz="1344" u="none" cap="none" strike="noStrike">
                <a:latin typeface="Poppins"/>
                <a:ea typeface="Poppins"/>
                <a:cs typeface="Poppins"/>
                <a:sym typeface="Poppins"/>
              </a:rPr>
              <a:t>K</a:t>
            </a:r>
            <a:r>
              <a:rPr b="1" lang="es" sz="1344">
                <a:latin typeface="Poppins"/>
                <a:ea typeface="Poppins"/>
                <a:cs typeface="Poppins"/>
                <a:sym typeface="Poppins"/>
              </a:rPr>
              <a:t>EY</a:t>
            </a:r>
            <a:r>
              <a:rPr b="1" i="0" lang="es" sz="1344" u="none" cap="none" strike="noStrike">
                <a:latin typeface="Poppins"/>
                <a:ea typeface="Poppins"/>
                <a:cs typeface="Poppins"/>
                <a:sym typeface="Poppins"/>
              </a:rPr>
              <a:t> F</a:t>
            </a:r>
            <a:r>
              <a:rPr b="1" lang="es" sz="1344">
                <a:latin typeface="Poppins"/>
                <a:ea typeface="Poppins"/>
                <a:cs typeface="Poppins"/>
                <a:sym typeface="Poppins"/>
              </a:rPr>
              <a:t>INDINGS</a:t>
            </a:r>
            <a:endParaRPr b="1" i="0" sz="1344" u="none" cap="none" strike="noStrike">
              <a:latin typeface="Poppins"/>
              <a:ea typeface="Poppins"/>
              <a:cs typeface="Poppins"/>
              <a:sym typeface="Poppins"/>
            </a:endParaRPr>
          </a:p>
        </p:txBody>
      </p:sp>
      <p:sp>
        <p:nvSpPr>
          <p:cNvPr id="189" name="Google Shape;189;p23"/>
          <p:cNvSpPr txBox="1"/>
          <p:nvPr/>
        </p:nvSpPr>
        <p:spPr>
          <a:xfrm>
            <a:off x="682601" y="1648350"/>
            <a:ext cx="35523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Font typeface="Poppins"/>
              <a:buChar char="●"/>
            </a:pPr>
            <a:r>
              <a:rPr lang="es" sz="1200">
                <a:latin typeface="Poppins"/>
                <a:ea typeface="Poppins"/>
                <a:cs typeface="Poppins"/>
                <a:sym typeface="Poppins"/>
              </a:rPr>
              <a:t>66% report high stress levels when choosing a degree</a:t>
            </a:r>
            <a:endParaRPr sz="1200">
              <a:latin typeface="Poppins"/>
              <a:ea typeface="Poppins"/>
              <a:cs typeface="Poppins"/>
              <a:sym typeface="Poppins"/>
            </a:endParaRPr>
          </a:p>
          <a:p>
            <a:pPr indent="0" lvl="0" marL="457200" rtl="0" algn="l">
              <a:spcBef>
                <a:spcPts val="0"/>
              </a:spcBef>
              <a:spcAft>
                <a:spcPts val="0"/>
              </a:spcAft>
              <a:buNone/>
            </a:pPr>
            <a:r>
              <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s" sz="1200">
                <a:latin typeface="Poppins"/>
                <a:ea typeface="Poppins"/>
                <a:cs typeface="Poppins"/>
                <a:sym typeface="Poppins"/>
              </a:rPr>
              <a:t>70% would use a mobile app</a:t>
            </a:r>
            <a:endParaRPr sz="1200">
              <a:latin typeface="Poppins"/>
              <a:ea typeface="Poppins"/>
              <a:cs typeface="Poppins"/>
              <a:sym typeface="Poppins"/>
            </a:endParaRPr>
          </a:p>
        </p:txBody>
      </p:sp>
      <p:sp>
        <p:nvSpPr>
          <p:cNvPr id="190" name="Google Shape;190;p23"/>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8</a:t>
            </a:r>
            <a:endParaRPr i="0" sz="1700" u="none" cap="none" strike="noStrike">
              <a:solidFill>
                <a:schemeClr val="dk1"/>
              </a:solidFill>
              <a:latin typeface="Bebas Neue"/>
              <a:ea typeface="Bebas Neue"/>
              <a:cs typeface="Bebas Neue"/>
              <a:sym typeface="Bebas Neue"/>
            </a:endParaRPr>
          </a:p>
        </p:txBody>
      </p:sp>
      <p:pic>
        <p:nvPicPr>
          <p:cNvPr descr="Gráfico de respuestas de formularios. Título de la pregunta:   From 1 (low) to 5 (high), how much stress do you feel about making this decision?  . Número de respuestas: 108 respuestas." id="191" name="Google Shape;191;p23" title="  From 1 (low) to 5 (high), how much stress do you feel about making this decision?  "/>
          <p:cNvPicPr preferRelativeResize="0"/>
          <p:nvPr/>
        </p:nvPicPr>
        <p:blipFill>
          <a:blip r:embed="rId3">
            <a:alphaModFix/>
          </a:blip>
          <a:stretch>
            <a:fillRect/>
          </a:stretch>
        </p:blipFill>
        <p:spPr>
          <a:xfrm>
            <a:off x="4303550" y="2797446"/>
            <a:ext cx="4516214" cy="2147855"/>
          </a:xfrm>
          <a:prstGeom prst="rect">
            <a:avLst/>
          </a:prstGeom>
          <a:noFill/>
          <a:ln>
            <a:noFill/>
          </a:ln>
        </p:spPr>
      </p:pic>
      <p:pic>
        <p:nvPicPr>
          <p:cNvPr descr="Gráfico de respuestas de formularios. Título de la pregunta: If there were a free mobile app that analyzed your real interests and recommended degrees that perfectly fit you, would you use it?  . Número de respuestas: 108 respuestas." id="192" name="Google Shape;192;p23" title="If there were a free mobile app that analyzed your real interests and recommended degrees that perfectly fit you, would you use it?  "/>
          <p:cNvPicPr preferRelativeResize="0"/>
          <p:nvPr/>
        </p:nvPicPr>
        <p:blipFill>
          <a:blip r:embed="rId4">
            <a:alphaModFix/>
          </a:blip>
          <a:stretch>
            <a:fillRect/>
          </a:stretch>
        </p:blipFill>
        <p:spPr>
          <a:xfrm>
            <a:off x="4509675" y="842333"/>
            <a:ext cx="4310098" cy="1955118"/>
          </a:xfrm>
          <a:prstGeom prst="rect">
            <a:avLst/>
          </a:prstGeom>
          <a:noFill/>
          <a:ln>
            <a:noFill/>
          </a:ln>
        </p:spPr>
      </p:pic>
      <p:pic>
        <p:nvPicPr>
          <p:cNvPr descr="Mental health and psychotherapy for person with anxiety disorder, rain clouds over head (proporcionado por Getty Images)" id="193" name="Google Shape;193;p23"/>
          <p:cNvPicPr preferRelativeResize="0"/>
          <p:nvPr/>
        </p:nvPicPr>
        <p:blipFill>
          <a:blip r:embed="rId5">
            <a:alphaModFix/>
          </a:blip>
          <a:stretch>
            <a:fillRect/>
          </a:stretch>
        </p:blipFill>
        <p:spPr>
          <a:xfrm>
            <a:off x="1481188" y="2807909"/>
            <a:ext cx="1955123" cy="19551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p:nvPr/>
        </p:nvSpPr>
        <p:spPr>
          <a:xfrm>
            <a:off x="283475" y="366666"/>
            <a:ext cx="6860700" cy="4296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3A3A3A"/>
              </a:buClr>
              <a:buSzPts val="2687"/>
              <a:buFont typeface="Arial"/>
              <a:buNone/>
            </a:pPr>
            <a:r>
              <a:rPr i="0" lang="es" sz="3100" u="none" cap="none" strike="noStrike">
                <a:solidFill>
                  <a:schemeClr val="dk1"/>
                </a:solidFill>
                <a:latin typeface="Bebas Neue"/>
                <a:ea typeface="Bebas Neue"/>
                <a:cs typeface="Bebas Neue"/>
                <a:sym typeface="Bebas Neue"/>
              </a:rPr>
              <a:t>Survey Results: 10</a:t>
            </a:r>
            <a:r>
              <a:rPr lang="es" sz="3100">
                <a:solidFill>
                  <a:schemeClr val="dk1"/>
                </a:solidFill>
                <a:latin typeface="Bebas Neue"/>
                <a:ea typeface="Bebas Neue"/>
                <a:cs typeface="Bebas Neue"/>
                <a:sym typeface="Bebas Neue"/>
              </a:rPr>
              <a:t>8</a:t>
            </a:r>
            <a:r>
              <a:rPr i="0" lang="es" sz="3100" u="none" cap="none" strike="noStrike">
                <a:solidFill>
                  <a:schemeClr val="dk1"/>
                </a:solidFill>
                <a:latin typeface="Bebas Neue"/>
                <a:ea typeface="Bebas Neue"/>
                <a:cs typeface="Bebas Neue"/>
                <a:sym typeface="Bebas Neue"/>
              </a:rPr>
              <a:t> Students</a:t>
            </a:r>
            <a:endParaRPr i="0" sz="3100" u="none" cap="none" strike="noStrike">
              <a:solidFill>
                <a:schemeClr val="dk1"/>
              </a:solidFill>
              <a:latin typeface="Bebas Neue"/>
              <a:ea typeface="Bebas Neue"/>
              <a:cs typeface="Bebas Neue"/>
              <a:sym typeface="Bebas Neue"/>
            </a:endParaRPr>
          </a:p>
        </p:txBody>
      </p:sp>
      <p:sp>
        <p:nvSpPr>
          <p:cNvPr id="199" name="Google Shape;199;p24"/>
          <p:cNvSpPr txBox="1"/>
          <p:nvPr/>
        </p:nvSpPr>
        <p:spPr>
          <a:xfrm>
            <a:off x="224000" y="1401325"/>
            <a:ext cx="399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oppins"/>
                <a:ea typeface="Poppins"/>
                <a:cs typeface="Poppins"/>
                <a:sym typeface="Poppins"/>
              </a:rPr>
              <a:t>Core Fear Driving Decisions</a:t>
            </a:r>
            <a:endParaRPr>
              <a:latin typeface="Poppins"/>
              <a:ea typeface="Poppins"/>
              <a:cs typeface="Poppins"/>
              <a:sym typeface="Poppins"/>
            </a:endParaRPr>
          </a:p>
        </p:txBody>
      </p:sp>
      <p:sp>
        <p:nvSpPr>
          <p:cNvPr id="200" name="Google Shape;200;p24"/>
          <p:cNvSpPr txBox="1"/>
          <p:nvPr/>
        </p:nvSpPr>
        <p:spPr>
          <a:xfrm>
            <a:off x="4624250" y="333850"/>
            <a:ext cx="4207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a:latin typeface="Poppins"/>
                <a:ea typeface="Poppins"/>
                <a:cs typeface="Poppins"/>
                <a:sym typeface="Poppins"/>
              </a:rPr>
              <a:t>Failure of Current Systems</a:t>
            </a:r>
            <a:endParaRPr>
              <a:latin typeface="Poppins"/>
              <a:ea typeface="Poppins"/>
              <a:cs typeface="Poppins"/>
              <a:sym typeface="Poppin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1" name="Google Shape;201;p24"/>
          <p:cNvSpPr/>
          <p:nvPr/>
        </p:nvSpPr>
        <p:spPr>
          <a:xfrm>
            <a:off x="94800" y="4233200"/>
            <a:ext cx="3893100" cy="7032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rtl="0" algn="ctr">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The problem is not only choosing, it is choosing “wrong”</a:t>
            </a:r>
            <a:endParaRPr>
              <a:solidFill>
                <a:schemeClr val="dk1"/>
              </a:solidFill>
            </a:endParaRPr>
          </a:p>
        </p:txBody>
      </p:sp>
      <p:sp>
        <p:nvSpPr>
          <p:cNvPr id="202" name="Google Shape;202;p24"/>
          <p:cNvSpPr/>
          <p:nvPr/>
        </p:nvSpPr>
        <p:spPr>
          <a:xfrm>
            <a:off x="4781600" y="4233200"/>
            <a:ext cx="3893100" cy="7032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marR="0" rtl="0" algn="ctr">
              <a:lnSpc>
                <a:spcPct val="100000"/>
              </a:lnSpc>
              <a:spcBef>
                <a:spcPts val="0"/>
              </a:spcBef>
              <a:spcAft>
                <a:spcPts val="0"/>
              </a:spcAft>
              <a:buNone/>
            </a:pPr>
            <a:r>
              <a:rPr lang="es">
                <a:solidFill>
                  <a:schemeClr val="dk1"/>
                </a:solidFill>
                <a:latin typeface="Poppins"/>
                <a:ea typeface="Poppins"/>
                <a:cs typeface="Poppins"/>
                <a:sym typeface="Poppins"/>
              </a:rPr>
              <a:t>Current tools generate decision fatigue instead of clarity</a:t>
            </a:r>
            <a:endParaRPr/>
          </a:p>
        </p:txBody>
      </p:sp>
      <p:sp>
        <p:nvSpPr>
          <p:cNvPr id="203" name="Google Shape;203;p24"/>
          <p:cNvSpPr/>
          <p:nvPr/>
        </p:nvSpPr>
        <p:spPr>
          <a:xfrm>
            <a:off x="8899300" y="4817186"/>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9</a:t>
            </a:r>
            <a:endParaRPr i="0" sz="1700" u="none" cap="none" strike="noStrike">
              <a:solidFill>
                <a:schemeClr val="dk1"/>
              </a:solidFill>
              <a:latin typeface="Bebas Neue"/>
              <a:ea typeface="Bebas Neue"/>
              <a:cs typeface="Bebas Neue"/>
              <a:sym typeface="Bebas Neue"/>
            </a:endParaRPr>
          </a:p>
        </p:txBody>
      </p:sp>
      <p:pic>
        <p:nvPicPr>
          <p:cNvPr descr="Gráfico de respuestas de formularios. Título de la pregunta: What is your biggest fear when it comes to deciding your academic future?  . Número de respuestas: 108 respuestas." id="204" name="Google Shape;204;p24" title="What is your biggest fear when it comes to deciding your academic future?  "/>
          <p:cNvPicPr preferRelativeResize="0"/>
          <p:nvPr/>
        </p:nvPicPr>
        <p:blipFill>
          <a:blip r:embed="rId3">
            <a:alphaModFix/>
          </a:blip>
          <a:stretch>
            <a:fillRect/>
          </a:stretch>
        </p:blipFill>
        <p:spPr>
          <a:xfrm>
            <a:off x="152400" y="1953925"/>
            <a:ext cx="4319452" cy="1818051"/>
          </a:xfrm>
          <a:prstGeom prst="rect">
            <a:avLst/>
          </a:prstGeom>
          <a:noFill/>
          <a:ln>
            <a:noFill/>
          </a:ln>
        </p:spPr>
      </p:pic>
      <p:pic>
        <p:nvPicPr>
          <p:cNvPr descr="Gráfico de respuestas de formularios. Título de la pregunta: Do you feel you receive enough useful, clear, and personalized information at your school about the different degrees?   . Número de respuestas: 108 respuestas." id="205" name="Google Shape;205;p24" title="Do you feel you receive enough useful, clear, and personalized information at your school about the different degrees?   "/>
          <p:cNvPicPr preferRelativeResize="0"/>
          <p:nvPr/>
        </p:nvPicPr>
        <p:blipFill>
          <a:blip r:embed="rId4">
            <a:alphaModFix/>
          </a:blip>
          <a:stretch>
            <a:fillRect/>
          </a:stretch>
        </p:blipFill>
        <p:spPr>
          <a:xfrm>
            <a:off x="4606577" y="698925"/>
            <a:ext cx="4367350" cy="1981088"/>
          </a:xfrm>
          <a:prstGeom prst="rect">
            <a:avLst/>
          </a:prstGeom>
          <a:noFill/>
          <a:ln>
            <a:noFill/>
          </a:ln>
        </p:spPr>
      </p:pic>
      <p:pic>
        <p:nvPicPr>
          <p:cNvPr descr="Gráfico de respuestas de formularios. Título de la pregunta: Have you ever taken a classic career guidance test?  . Número de respuestas: 108 respuestas." id="206" name="Google Shape;206;p24" title="Have you ever taken a classic career guidance test?  "/>
          <p:cNvPicPr preferRelativeResize="0"/>
          <p:nvPr/>
        </p:nvPicPr>
        <p:blipFill>
          <a:blip r:embed="rId5">
            <a:alphaModFix/>
          </a:blip>
          <a:stretch>
            <a:fillRect/>
          </a:stretch>
        </p:blipFill>
        <p:spPr>
          <a:xfrm>
            <a:off x="4781588" y="2493025"/>
            <a:ext cx="3966423" cy="16694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s" sz="3100">
                <a:latin typeface="Bebas Neue"/>
                <a:ea typeface="Bebas Neue"/>
                <a:cs typeface="Bebas Neue"/>
                <a:sym typeface="Bebas Neue"/>
              </a:rPr>
              <a:t>Strong Demand for a New Solution</a:t>
            </a:r>
            <a:endParaRPr sz="3100">
              <a:latin typeface="Bebas Neue"/>
              <a:ea typeface="Bebas Neue"/>
              <a:cs typeface="Bebas Neue"/>
              <a:sym typeface="Bebas Neue"/>
            </a:endParaRPr>
          </a:p>
        </p:txBody>
      </p:sp>
      <p:sp>
        <p:nvSpPr>
          <p:cNvPr id="212" name="Google Shape;212;p25"/>
          <p:cNvSpPr txBox="1"/>
          <p:nvPr/>
        </p:nvSpPr>
        <p:spPr>
          <a:xfrm>
            <a:off x="891830" y="1584650"/>
            <a:ext cx="7182600" cy="2447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s">
                <a:solidFill>
                  <a:schemeClr val="dk1"/>
                </a:solidFill>
                <a:highlight>
                  <a:srgbClr val="FFFFFF"/>
                </a:highlight>
                <a:latin typeface="Poppins"/>
                <a:ea typeface="Poppins"/>
                <a:cs typeface="Poppins"/>
                <a:sym typeface="Poppins"/>
              </a:rPr>
              <a:t>70.1% would use an app that uses AI to recommend a degree and predict a 'Satisfaction Index' (e.g., 85% likelihood of happiness/not dropping out).</a:t>
            </a:r>
            <a:endParaRPr>
              <a:solidFill>
                <a:schemeClr val="dk1"/>
              </a:solidFill>
              <a:latin typeface="Poppins"/>
              <a:ea typeface="Poppins"/>
              <a:cs typeface="Poppins"/>
              <a:sym typeface="Poppins"/>
            </a:endParaRPr>
          </a:p>
          <a:p>
            <a:pPr indent="0" lvl="0" marL="457200" rtl="0" algn="l">
              <a:spcBef>
                <a:spcPts val="0"/>
              </a:spcBef>
              <a:spcAft>
                <a:spcPts val="0"/>
              </a:spcAft>
              <a:buNone/>
            </a:pPr>
            <a:r>
              <a:t/>
            </a:r>
            <a:endParaRPr>
              <a:latin typeface="Poppins"/>
              <a:ea typeface="Poppins"/>
              <a:cs typeface="Poppins"/>
              <a:sym typeface="Poppins"/>
            </a:endParaRPr>
          </a:p>
          <a:p>
            <a:pPr indent="0" lvl="0" marL="45720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457200" rtl="0" algn="l">
              <a:spcBef>
                <a:spcPts val="0"/>
              </a:spcBef>
              <a:spcAft>
                <a:spcPts val="0"/>
              </a:spcAft>
              <a:buNone/>
            </a:pPr>
            <a:r>
              <a:rPr lang="es">
                <a:latin typeface="Poppins"/>
                <a:ea typeface="Poppins"/>
                <a:cs typeface="Poppins"/>
                <a:sym typeface="Poppins"/>
              </a:rPr>
              <a:t>76.6% find AI-based satisfaction prediction “incredible”</a:t>
            </a:r>
            <a:endParaRPr>
              <a:latin typeface="Poppins"/>
              <a:ea typeface="Poppins"/>
              <a:cs typeface="Poppins"/>
              <a:sym typeface="Poppins"/>
            </a:endParaRPr>
          </a:p>
          <a:p>
            <a:pPr indent="0" lvl="0" marL="457200" rtl="0" algn="l">
              <a:spcBef>
                <a:spcPts val="0"/>
              </a:spcBef>
              <a:spcAft>
                <a:spcPts val="0"/>
              </a:spcAft>
              <a:buNone/>
            </a:pPr>
            <a:r>
              <a:t/>
            </a:r>
            <a:endParaRPr>
              <a:latin typeface="Poppins"/>
              <a:ea typeface="Poppins"/>
              <a:cs typeface="Poppins"/>
              <a:sym typeface="Poppins"/>
            </a:endParaRPr>
          </a:p>
          <a:p>
            <a:pPr indent="0" lvl="0" marL="45720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400">
              <a:latin typeface="Poppins"/>
              <a:ea typeface="Poppins"/>
              <a:cs typeface="Poppins"/>
              <a:sym typeface="Poppins"/>
            </a:endParaRPr>
          </a:p>
          <a:p>
            <a:pPr indent="0" lvl="0" marL="0" rtl="0" algn="l">
              <a:spcBef>
                <a:spcPts val="0"/>
              </a:spcBef>
              <a:spcAft>
                <a:spcPts val="0"/>
              </a:spcAft>
              <a:buNone/>
            </a:pPr>
            <a:r>
              <a:t/>
            </a:r>
            <a:endParaRPr sz="1300">
              <a:latin typeface="Poppins"/>
              <a:ea typeface="Poppins"/>
              <a:cs typeface="Poppins"/>
              <a:sym typeface="Poppins"/>
            </a:endParaRPr>
          </a:p>
          <a:p>
            <a:pPr indent="0" lvl="0" marL="457200" rtl="0" algn="l">
              <a:spcBef>
                <a:spcPts val="0"/>
              </a:spcBef>
              <a:spcAft>
                <a:spcPts val="0"/>
              </a:spcAft>
              <a:buNone/>
            </a:pPr>
            <a:r>
              <a:rPr lang="es">
                <a:latin typeface="Poppins"/>
                <a:ea typeface="Poppins"/>
                <a:cs typeface="Poppins"/>
                <a:sym typeface="Poppins"/>
              </a:rPr>
              <a:t>90.7% prefer a dynamic, fast experience</a:t>
            </a:r>
            <a:endParaRPr>
              <a:latin typeface="Poppins"/>
              <a:ea typeface="Poppins"/>
              <a:cs typeface="Poppins"/>
              <a:sym typeface="Poppins"/>
            </a:endParaRPr>
          </a:p>
        </p:txBody>
      </p:sp>
      <p:sp>
        <p:nvSpPr>
          <p:cNvPr id="213" name="Google Shape;213;p25"/>
          <p:cNvSpPr txBox="1"/>
          <p:nvPr/>
        </p:nvSpPr>
        <p:spPr>
          <a:xfrm>
            <a:off x="432175" y="4324650"/>
            <a:ext cx="631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Poppins"/>
                <a:ea typeface="Poppins"/>
                <a:cs typeface="Poppins"/>
                <a:sym typeface="Poppins"/>
              </a:rPr>
              <a:t>We can see a c</a:t>
            </a:r>
            <a:r>
              <a:rPr lang="es">
                <a:solidFill>
                  <a:schemeClr val="dk1"/>
                </a:solidFill>
                <a:latin typeface="Poppins"/>
                <a:ea typeface="Poppins"/>
                <a:cs typeface="Poppins"/>
                <a:sym typeface="Poppins"/>
              </a:rPr>
              <a:t>lear demand for a personalized, intelligent, and efficient tool</a:t>
            </a:r>
            <a:endParaRPr>
              <a:latin typeface="Poppins"/>
              <a:ea typeface="Poppins"/>
              <a:cs typeface="Poppins"/>
              <a:sym typeface="Poppins"/>
            </a:endParaRPr>
          </a:p>
        </p:txBody>
      </p:sp>
      <p:pic>
        <p:nvPicPr>
          <p:cNvPr id="214" name="Google Shape;214;p25"/>
          <p:cNvPicPr preferRelativeResize="0"/>
          <p:nvPr/>
        </p:nvPicPr>
        <p:blipFill>
          <a:blip r:embed="rId3">
            <a:alphaModFix/>
          </a:blip>
          <a:stretch>
            <a:fillRect/>
          </a:stretch>
        </p:blipFill>
        <p:spPr>
          <a:xfrm>
            <a:off x="311700" y="1509800"/>
            <a:ext cx="893475" cy="893475"/>
          </a:xfrm>
          <a:prstGeom prst="rect">
            <a:avLst/>
          </a:prstGeom>
          <a:noFill/>
          <a:ln>
            <a:noFill/>
          </a:ln>
        </p:spPr>
      </p:pic>
      <p:pic>
        <p:nvPicPr>
          <p:cNvPr id="215" name="Google Shape;215;p25"/>
          <p:cNvPicPr preferRelativeResize="0"/>
          <p:nvPr/>
        </p:nvPicPr>
        <p:blipFill rotWithShape="1">
          <a:blip r:embed="rId3">
            <a:alphaModFix/>
          </a:blip>
          <a:srcRect b="-5550" l="0" r="0" t="5550"/>
          <a:stretch/>
        </p:blipFill>
        <p:spPr>
          <a:xfrm>
            <a:off x="355075" y="2524400"/>
            <a:ext cx="893475" cy="893475"/>
          </a:xfrm>
          <a:prstGeom prst="rect">
            <a:avLst/>
          </a:prstGeom>
          <a:noFill/>
          <a:ln>
            <a:noFill/>
          </a:ln>
        </p:spPr>
      </p:pic>
      <p:pic>
        <p:nvPicPr>
          <p:cNvPr id="216" name="Google Shape;216;p25"/>
          <p:cNvPicPr preferRelativeResize="0"/>
          <p:nvPr/>
        </p:nvPicPr>
        <p:blipFill>
          <a:blip r:embed="rId3">
            <a:alphaModFix/>
          </a:blip>
          <a:stretch>
            <a:fillRect/>
          </a:stretch>
        </p:blipFill>
        <p:spPr>
          <a:xfrm>
            <a:off x="355075" y="3370525"/>
            <a:ext cx="893475" cy="893475"/>
          </a:xfrm>
          <a:prstGeom prst="rect">
            <a:avLst/>
          </a:prstGeom>
          <a:noFill/>
          <a:ln>
            <a:noFill/>
          </a:ln>
        </p:spPr>
      </p:pic>
      <p:sp>
        <p:nvSpPr>
          <p:cNvPr id="217" name="Google Shape;217;p25"/>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10</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432038" y="343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100">
                <a:latin typeface="Bebas Neue"/>
                <a:ea typeface="Bebas Neue"/>
                <a:cs typeface="Bebas Neue"/>
                <a:sym typeface="Bebas Neue"/>
              </a:rPr>
              <a:t>State of the Art: 2025–2026</a:t>
            </a:r>
            <a:endParaRPr sz="3100">
              <a:latin typeface="Bebas Neue"/>
              <a:ea typeface="Bebas Neue"/>
              <a:cs typeface="Bebas Neue"/>
              <a:sym typeface="Bebas Neue"/>
            </a:endParaRPr>
          </a:p>
        </p:txBody>
      </p:sp>
      <p:sp>
        <p:nvSpPr>
          <p:cNvPr id="223" name="Google Shape;223;p26"/>
          <p:cNvSpPr/>
          <p:nvPr/>
        </p:nvSpPr>
        <p:spPr>
          <a:xfrm>
            <a:off x="462651" y="1035325"/>
            <a:ext cx="7660800" cy="750300"/>
          </a:xfrm>
          <a:prstGeom prst="roundRect">
            <a:avLst>
              <a:gd fmla="val 8994" name="adj"/>
            </a:avLst>
          </a:prstGeom>
          <a:solidFill>
            <a:srgbClr val="B7B7B7"/>
          </a:solidFill>
          <a:ln cap="flat" cmpd="sng" w="20350">
            <a:solidFill>
              <a:srgbClr val="E6DED2"/>
            </a:solidFill>
            <a:prstDash val="solid"/>
            <a:round/>
            <a:headEnd len="sm" w="sm" type="none"/>
            <a:tailEnd len="sm" w="sm" type="none"/>
          </a:ln>
          <a:effectLst>
            <a:outerShdw rotWithShape="0" algn="bl" dir="2700000" dist="18672">
              <a:srgbClr val="E6DED2"/>
            </a:outerShdw>
          </a:effectLst>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24" name="Google Shape;224;p26"/>
          <p:cNvSpPr/>
          <p:nvPr/>
        </p:nvSpPr>
        <p:spPr>
          <a:xfrm>
            <a:off x="432050" y="1035325"/>
            <a:ext cx="156900" cy="750300"/>
          </a:xfrm>
          <a:prstGeom prst="roundRect">
            <a:avLst>
              <a:gd fmla="val 74353" name="adj"/>
            </a:avLst>
          </a:prstGeom>
          <a:solidFill>
            <a:srgbClr val="999999"/>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25" name="Google Shape;225;p26"/>
          <p:cNvSpPr/>
          <p:nvPr/>
        </p:nvSpPr>
        <p:spPr>
          <a:xfrm>
            <a:off x="801550" y="1112625"/>
            <a:ext cx="3270600" cy="489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403"/>
              <a:buFont typeface="Arial"/>
              <a:buNone/>
            </a:pPr>
            <a:r>
              <a:rPr lang="es" sz="1403">
                <a:solidFill>
                  <a:schemeClr val="dk1"/>
                </a:solidFill>
                <a:latin typeface="Poppins"/>
                <a:ea typeface="Poppins"/>
                <a:cs typeface="Poppins"/>
                <a:sym typeface="Poppins"/>
              </a:rPr>
              <a:t>Pymetrics (Neuroscience-Based)</a:t>
            </a:r>
            <a:endParaRPr i="0" sz="1403" u="none" cap="none" strike="noStrike">
              <a:solidFill>
                <a:schemeClr val="dk1"/>
              </a:solidFill>
              <a:latin typeface="Poppins"/>
              <a:ea typeface="Poppins"/>
              <a:cs typeface="Poppins"/>
              <a:sym typeface="Poppins"/>
            </a:endParaRPr>
          </a:p>
        </p:txBody>
      </p:sp>
      <p:sp>
        <p:nvSpPr>
          <p:cNvPr id="226" name="Google Shape;226;p26"/>
          <p:cNvSpPr/>
          <p:nvPr/>
        </p:nvSpPr>
        <p:spPr>
          <a:xfrm>
            <a:off x="801541" y="1361812"/>
            <a:ext cx="7075200" cy="3108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Method</a:t>
            </a:r>
            <a:r>
              <a:rPr lang="es" sz="1103">
                <a:solidFill>
                  <a:srgbClr val="434343"/>
                </a:solidFill>
                <a:latin typeface="Poppins"/>
                <a:ea typeface="Poppins"/>
                <a:cs typeface="Poppins"/>
                <a:sym typeface="Poppins"/>
              </a:rPr>
              <a:t>: Uses neuroscience games and AI to assess cognitive and emotional traits.</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Goal</a:t>
            </a:r>
            <a:r>
              <a:rPr lang="es" sz="1103">
                <a:solidFill>
                  <a:srgbClr val="434343"/>
                </a:solidFill>
                <a:latin typeface="Poppins"/>
                <a:ea typeface="Poppins"/>
                <a:cs typeface="Poppins"/>
                <a:sym typeface="Poppins"/>
              </a:rPr>
              <a:t>: Matches users with roles where similar profiles have succeeded.</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t/>
            </a:r>
            <a:endParaRPr sz="1103">
              <a:solidFill>
                <a:srgbClr val="434343"/>
              </a:solidFill>
              <a:latin typeface="Poppins"/>
              <a:ea typeface="Poppins"/>
              <a:cs typeface="Poppins"/>
              <a:sym typeface="Poppins"/>
            </a:endParaRPr>
          </a:p>
        </p:txBody>
      </p:sp>
      <p:sp>
        <p:nvSpPr>
          <p:cNvPr id="227" name="Google Shape;227;p26"/>
          <p:cNvSpPr/>
          <p:nvPr/>
        </p:nvSpPr>
        <p:spPr>
          <a:xfrm>
            <a:off x="462651" y="1792134"/>
            <a:ext cx="7660800" cy="750300"/>
          </a:xfrm>
          <a:prstGeom prst="roundRect">
            <a:avLst>
              <a:gd fmla="val 8994" name="adj"/>
            </a:avLst>
          </a:prstGeom>
          <a:solidFill>
            <a:srgbClr val="FDFBF7"/>
          </a:solidFill>
          <a:ln cap="flat" cmpd="sng" w="20350">
            <a:solidFill>
              <a:srgbClr val="E6DED2"/>
            </a:solidFill>
            <a:prstDash val="solid"/>
            <a:round/>
            <a:headEnd len="sm" w="sm" type="none"/>
            <a:tailEnd len="sm" w="sm" type="none"/>
          </a:ln>
          <a:effectLst>
            <a:outerShdw rotWithShape="0" algn="bl" dir="2700000" dist="18672">
              <a:srgbClr val="E6DED2"/>
            </a:outerShdw>
          </a:effectLst>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28" name="Google Shape;228;p26"/>
          <p:cNvSpPr/>
          <p:nvPr/>
        </p:nvSpPr>
        <p:spPr>
          <a:xfrm>
            <a:off x="432050" y="1792134"/>
            <a:ext cx="156900" cy="750300"/>
          </a:xfrm>
          <a:prstGeom prst="roundRect">
            <a:avLst>
              <a:gd fmla="val 74353" name="adj"/>
            </a:avLst>
          </a:prstGeom>
          <a:solidFill>
            <a:srgbClr val="CCCCCC"/>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29" name="Google Shape;229;p26"/>
          <p:cNvSpPr/>
          <p:nvPr/>
        </p:nvSpPr>
        <p:spPr>
          <a:xfrm>
            <a:off x="801541" y="1869400"/>
            <a:ext cx="2707500" cy="1554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403"/>
              <a:buFont typeface="Arial"/>
              <a:buNone/>
            </a:pPr>
            <a:r>
              <a:rPr lang="es" sz="1403">
                <a:solidFill>
                  <a:schemeClr val="dk1"/>
                </a:solidFill>
                <a:latin typeface="Poppins"/>
                <a:ea typeface="Poppins"/>
                <a:cs typeface="Poppins"/>
                <a:sym typeface="Poppins"/>
              </a:rPr>
              <a:t>Kickresume (AI Career Coach)</a:t>
            </a:r>
            <a:endParaRPr i="0" sz="1403" u="none" cap="none" strike="noStrike">
              <a:solidFill>
                <a:schemeClr val="dk1"/>
              </a:solidFill>
              <a:latin typeface="Poppins"/>
              <a:ea typeface="Poppins"/>
              <a:cs typeface="Poppins"/>
              <a:sym typeface="Poppins"/>
            </a:endParaRPr>
          </a:p>
        </p:txBody>
      </p:sp>
      <p:sp>
        <p:nvSpPr>
          <p:cNvPr id="230" name="Google Shape;230;p26"/>
          <p:cNvSpPr/>
          <p:nvPr/>
        </p:nvSpPr>
        <p:spPr>
          <a:xfrm>
            <a:off x="801541" y="2118033"/>
            <a:ext cx="70752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Method:</a:t>
            </a:r>
            <a:r>
              <a:rPr lang="es" sz="1103">
                <a:solidFill>
                  <a:srgbClr val="434343"/>
                </a:solidFill>
                <a:latin typeface="Poppins"/>
                <a:ea typeface="Poppins"/>
                <a:cs typeface="Poppins"/>
                <a:sym typeface="Poppins"/>
              </a:rPr>
              <a:t> Analyzes resumes using LLMs (Large Language Models).</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Goal:</a:t>
            </a:r>
            <a:r>
              <a:rPr lang="es" sz="1103">
                <a:solidFill>
                  <a:srgbClr val="434343"/>
                </a:solidFill>
                <a:latin typeface="Poppins"/>
                <a:ea typeface="Poppins"/>
                <a:cs typeface="Poppins"/>
                <a:sym typeface="Poppins"/>
              </a:rPr>
              <a:t> Identifies skill gaps and suggests career paths for professional transitions.</a:t>
            </a:r>
            <a:endParaRPr sz="1103">
              <a:solidFill>
                <a:srgbClr val="434343"/>
              </a:solidFill>
              <a:latin typeface="Poppins"/>
              <a:ea typeface="Poppins"/>
              <a:cs typeface="Poppins"/>
              <a:sym typeface="Poppins"/>
            </a:endParaRPr>
          </a:p>
          <a:p>
            <a:pPr indent="0" lvl="0" marL="0" marR="0" rtl="0" algn="l">
              <a:lnSpc>
                <a:spcPct val="100000"/>
              </a:lnSpc>
              <a:spcBef>
                <a:spcPts val="0"/>
              </a:spcBef>
              <a:spcAft>
                <a:spcPts val="0"/>
              </a:spcAft>
              <a:buClr>
                <a:srgbClr val="4C4C4C"/>
              </a:buClr>
              <a:buSzPts val="1103"/>
              <a:buFont typeface="Arial"/>
              <a:buNone/>
            </a:pPr>
            <a:r>
              <a:t/>
            </a:r>
            <a:endParaRPr b="1" sz="1103">
              <a:solidFill>
                <a:srgbClr val="434343"/>
              </a:solidFill>
              <a:latin typeface="Poppins"/>
              <a:ea typeface="Poppins"/>
              <a:cs typeface="Poppins"/>
              <a:sym typeface="Poppins"/>
            </a:endParaRPr>
          </a:p>
        </p:txBody>
      </p:sp>
      <p:sp>
        <p:nvSpPr>
          <p:cNvPr id="231" name="Google Shape;231;p26"/>
          <p:cNvSpPr/>
          <p:nvPr/>
        </p:nvSpPr>
        <p:spPr>
          <a:xfrm>
            <a:off x="462651" y="2569456"/>
            <a:ext cx="7660800" cy="750300"/>
          </a:xfrm>
          <a:prstGeom prst="roundRect">
            <a:avLst>
              <a:gd fmla="val 8994" name="adj"/>
            </a:avLst>
          </a:prstGeom>
          <a:solidFill>
            <a:srgbClr val="B7B7B7"/>
          </a:solidFill>
          <a:ln cap="flat" cmpd="sng" w="20350">
            <a:solidFill>
              <a:srgbClr val="E6DED2"/>
            </a:solidFill>
            <a:prstDash val="solid"/>
            <a:round/>
            <a:headEnd len="sm" w="sm" type="none"/>
            <a:tailEnd len="sm" w="sm" type="none"/>
          </a:ln>
          <a:effectLst>
            <a:outerShdw rotWithShape="0" algn="bl" dir="2700000" dist="18672">
              <a:srgbClr val="E6DED2"/>
            </a:outerShdw>
          </a:effectLst>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32" name="Google Shape;232;p26"/>
          <p:cNvSpPr/>
          <p:nvPr/>
        </p:nvSpPr>
        <p:spPr>
          <a:xfrm>
            <a:off x="432050" y="2569456"/>
            <a:ext cx="156900" cy="750300"/>
          </a:xfrm>
          <a:prstGeom prst="roundRect">
            <a:avLst>
              <a:gd fmla="val 74353" name="adj"/>
            </a:avLst>
          </a:prstGeom>
          <a:solidFill>
            <a:srgbClr val="999999"/>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33" name="Google Shape;233;p26"/>
          <p:cNvSpPr/>
          <p:nvPr/>
        </p:nvSpPr>
        <p:spPr>
          <a:xfrm>
            <a:off x="801561" y="2646726"/>
            <a:ext cx="4982100" cy="1554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403"/>
              <a:buFont typeface="Arial"/>
              <a:buNone/>
            </a:pPr>
            <a:r>
              <a:rPr lang="es" sz="1403">
                <a:solidFill>
                  <a:schemeClr val="dk1"/>
                </a:solidFill>
                <a:latin typeface="Poppins"/>
                <a:ea typeface="Poppins"/>
                <a:cs typeface="Poppins"/>
                <a:sym typeface="Poppins"/>
              </a:rPr>
              <a:t>AICareerCoach.org (Conversational Mentor)</a:t>
            </a:r>
            <a:endParaRPr i="0" sz="1403" u="none" cap="none" strike="noStrike">
              <a:solidFill>
                <a:schemeClr val="dk1"/>
              </a:solidFill>
              <a:latin typeface="Poppins"/>
              <a:ea typeface="Poppins"/>
              <a:cs typeface="Poppins"/>
              <a:sym typeface="Poppins"/>
            </a:endParaRPr>
          </a:p>
        </p:txBody>
      </p:sp>
      <p:sp>
        <p:nvSpPr>
          <p:cNvPr id="234" name="Google Shape;234;p26"/>
          <p:cNvSpPr/>
          <p:nvPr/>
        </p:nvSpPr>
        <p:spPr>
          <a:xfrm>
            <a:off x="801541" y="2895355"/>
            <a:ext cx="70752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Method:</a:t>
            </a:r>
            <a:r>
              <a:rPr lang="es" sz="1103">
                <a:solidFill>
                  <a:srgbClr val="434343"/>
                </a:solidFill>
                <a:latin typeface="Poppins"/>
                <a:ea typeface="Poppins"/>
                <a:cs typeface="Poppins"/>
                <a:sym typeface="Poppins"/>
              </a:rPr>
              <a:t> A free, chatbot-style tool by CareerVillage.</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Goal:</a:t>
            </a:r>
            <a:r>
              <a:rPr lang="es" sz="1103">
                <a:solidFill>
                  <a:srgbClr val="434343"/>
                </a:solidFill>
                <a:latin typeface="Poppins"/>
                <a:ea typeface="Poppins"/>
                <a:cs typeface="Poppins"/>
                <a:sym typeface="Poppins"/>
              </a:rPr>
              <a:t> Acts as a mentor for students to explore interests through dialogue.</a:t>
            </a:r>
            <a:endParaRPr sz="1103">
              <a:solidFill>
                <a:srgbClr val="434343"/>
              </a:solidFill>
              <a:latin typeface="Poppins"/>
              <a:ea typeface="Poppins"/>
              <a:cs typeface="Poppins"/>
              <a:sym typeface="Poppins"/>
            </a:endParaRPr>
          </a:p>
          <a:p>
            <a:pPr indent="0" lvl="0" marL="0" marR="0" rtl="0" algn="l">
              <a:lnSpc>
                <a:spcPct val="100000"/>
              </a:lnSpc>
              <a:spcBef>
                <a:spcPts val="0"/>
              </a:spcBef>
              <a:spcAft>
                <a:spcPts val="0"/>
              </a:spcAft>
              <a:buClr>
                <a:srgbClr val="4C4C4C"/>
              </a:buClr>
              <a:buSzPts val="1103"/>
              <a:buFont typeface="Arial"/>
              <a:buNone/>
            </a:pPr>
            <a:r>
              <a:t/>
            </a:r>
            <a:endParaRPr b="1" sz="1103">
              <a:solidFill>
                <a:srgbClr val="434343"/>
              </a:solidFill>
              <a:latin typeface="Poppins"/>
              <a:ea typeface="Poppins"/>
              <a:cs typeface="Poppins"/>
              <a:sym typeface="Poppins"/>
            </a:endParaRPr>
          </a:p>
        </p:txBody>
      </p:sp>
      <p:sp>
        <p:nvSpPr>
          <p:cNvPr id="235" name="Google Shape;235;p26"/>
          <p:cNvSpPr/>
          <p:nvPr/>
        </p:nvSpPr>
        <p:spPr>
          <a:xfrm>
            <a:off x="477951" y="4104828"/>
            <a:ext cx="7660800" cy="750300"/>
          </a:xfrm>
          <a:prstGeom prst="roundRect">
            <a:avLst>
              <a:gd fmla="val 8994" name="adj"/>
            </a:avLst>
          </a:prstGeom>
          <a:solidFill>
            <a:srgbClr val="B7B7B7"/>
          </a:solidFill>
          <a:ln cap="flat" cmpd="sng" w="20350">
            <a:solidFill>
              <a:srgbClr val="E6DED2"/>
            </a:solidFill>
            <a:prstDash val="solid"/>
            <a:round/>
            <a:headEnd len="sm" w="sm" type="none"/>
            <a:tailEnd len="sm" w="sm" type="none"/>
          </a:ln>
          <a:effectLst>
            <a:outerShdw rotWithShape="0" algn="bl" dir="2700000" dist="18672">
              <a:srgbClr val="E6DED2"/>
            </a:outerShdw>
          </a:effectLst>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36" name="Google Shape;236;p26"/>
          <p:cNvSpPr/>
          <p:nvPr/>
        </p:nvSpPr>
        <p:spPr>
          <a:xfrm>
            <a:off x="447350" y="4104828"/>
            <a:ext cx="156900" cy="750300"/>
          </a:xfrm>
          <a:prstGeom prst="roundRect">
            <a:avLst>
              <a:gd fmla="val 74353" name="adj"/>
            </a:avLst>
          </a:prstGeom>
          <a:solidFill>
            <a:srgbClr val="999999"/>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37" name="Google Shape;237;p26"/>
          <p:cNvSpPr/>
          <p:nvPr/>
        </p:nvSpPr>
        <p:spPr>
          <a:xfrm>
            <a:off x="816857" y="4182098"/>
            <a:ext cx="3840600" cy="1554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403"/>
              <a:buFont typeface="Arial"/>
              <a:buNone/>
            </a:pPr>
            <a:r>
              <a:rPr lang="es" sz="1403">
                <a:solidFill>
                  <a:schemeClr val="dk1"/>
                </a:solidFill>
                <a:latin typeface="Poppins"/>
                <a:ea typeface="Poppins"/>
                <a:cs typeface="Poppins"/>
                <a:sym typeface="Poppins"/>
              </a:rPr>
              <a:t>IBM Watson Career Coach (Corporate NLP)</a:t>
            </a:r>
            <a:endParaRPr i="0" sz="1403" u="none" cap="none" strike="noStrike">
              <a:solidFill>
                <a:schemeClr val="dk1"/>
              </a:solidFill>
              <a:latin typeface="Poppins"/>
              <a:ea typeface="Poppins"/>
              <a:cs typeface="Poppins"/>
              <a:sym typeface="Poppins"/>
            </a:endParaRPr>
          </a:p>
        </p:txBody>
      </p:sp>
      <p:sp>
        <p:nvSpPr>
          <p:cNvPr id="238" name="Google Shape;238;p26"/>
          <p:cNvSpPr/>
          <p:nvPr/>
        </p:nvSpPr>
        <p:spPr>
          <a:xfrm>
            <a:off x="816842" y="4430728"/>
            <a:ext cx="70752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Method: </a:t>
            </a:r>
            <a:r>
              <a:rPr lang="es" sz="1103">
                <a:solidFill>
                  <a:srgbClr val="434343"/>
                </a:solidFill>
                <a:latin typeface="Poppins"/>
                <a:ea typeface="Poppins"/>
                <a:cs typeface="Poppins"/>
                <a:sym typeface="Poppins"/>
              </a:rPr>
              <a:t>Utilizes Natural Language Processing (NLP).</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Goal: </a:t>
            </a:r>
            <a:r>
              <a:rPr lang="es" sz="1103">
                <a:solidFill>
                  <a:srgbClr val="434343"/>
                </a:solidFill>
                <a:latin typeface="Poppins"/>
                <a:ea typeface="Poppins"/>
                <a:cs typeface="Poppins"/>
                <a:sym typeface="Poppins"/>
              </a:rPr>
              <a:t>Helps employees find internal growth opportunities aligned with their skills.</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t/>
            </a:r>
            <a:endParaRPr b="1" sz="1103">
              <a:solidFill>
                <a:srgbClr val="434343"/>
              </a:solidFill>
              <a:latin typeface="Poppins"/>
              <a:ea typeface="Poppins"/>
              <a:cs typeface="Poppins"/>
              <a:sym typeface="Poppins"/>
            </a:endParaRPr>
          </a:p>
        </p:txBody>
      </p:sp>
      <p:sp>
        <p:nvSpPr>
          <p:cNvPr id="239" name="Google Shape;239;p26"/>
          <p:cNvSpPr/>
          <p:nvPr/>
        </p:nvSpPr>
        <p:spPr>
          <a:xfrm>
            <a:off x="477951" y="3337131"/>
            <a:ext cx="7660800" cy="750300"/>
          </a:xfrm>
          <a:prstGeom prst="roundRect">
            <a:avLst>
              <a:gd fmla="val 8994" name="adj"/>
            </a:avLst>
          </a:prstGeom>
          <a:solidFill>
            <a:srgbClr val="FDFBF7"/>
          </a:solidFill>
          <a:ln cap="flat" cmpd="sng" w="20350">
            <a:solidFill>
              <a:srgbClr val="E6DED2"/>
            </a:solidFill>
            <a:prstDash val="solid"/>
            <a:round/>
            <a:headEnd len="sm" w="sm" type="none"/>
            <a:tailEnd len="sm" w="sm" type="none"/>
          </a:ln>
          <a:effectLst>
            <a:outerShdw rotWithShape="0" algn="bl" dir="2700000" dist="18672">
              <a:srgbClr val="E6DED2"/>
            </a:outerShdw>
          </a:effectLst>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40" name="Google Shape;240;p26"/>
          <p:cNvSpPr/>
          <p:nvPr/>
        </p:nvSpPr>
        <p:spPr>
          <a:xfrm>
            <a:off x="447350" y="3337131"/>
            <a:ext cx="156900" cy="750300"/>
          </a:xfrm>
          <a:prstGeom prst="roundRect">
            <a:avLst>
              <a:gd fmla="val 74353" name="adj"/>
            </a:avLst>
          </a:prstGeom>
          <a:solidFill>
            <a:srgbClr val="CCCCCC"/>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41" name="Google Shape;241;p26"/>
          <p:cNvSpPr/>
          <p:nvPr/>
        </p:nvSpPr>
        <p:spPr>
          <a:xfrm>
            <a:off x="816856" y="3414390"/>
            <a:ext cx="3646800" cy="1554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403"/>
              <a:buFont typeface="Arial"/>
              <a:buNone/>
            </a:pPr>
            <a:r>
              <a:rPr lang="es" sz="1403">
                <a:solidFill>
                  <a:schemeClr val="dk1"/>
                </a:solidFill>
                <a:latin typeface="Poppins"/>
                <a:ea typeface="Poppins"/>
                <a:cs typeface="Poppins"/>
                <a:sym typeface="Poppins"/>
              </a:rPr>
              <a:t>Steppingblocks (Big Data Insights)</a:t>
            </a:r>
            <a:endParaRPr i="0" sz="1403" u="none" cap="none" strike="noStrike">
              <a:solidFill>
                <a:schemeClr val="dk1"/>
              </a:solidFill>
              <a:latin typeface="Poppins"/>
              <a:ea typeface="Poppins"/>
              <a:cs typeface="Poppins"/>
              <a:sym typeface="Poppins"/>
            </a:endParaRPr>
          </a:p>
        </p:txBody>
      </p:sp>
      <p:sp>
        <p:nvSpPr>
          <p:cNvPr id="242" name="Google Shape;242;p26"/>
          <p:cNvSpPr/>
          <p:nvPr/>
        </p:nvSpPr>
        <p:spPr>
          <a:xfrm>
            <a:off x="816842" y="3663030"/>
            <a:ext cx="70752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Method: </a:t>
            </a:r>
            <a:r>
              <a:rPr lang="es" sz="1103">
                <a:solidFill>
                  <a:srgbClr val="434343"/>
                </a:solidFill>
                <a:latin typeface="Poppins"/>
                <a:ea typeface="Poppins"/>
                <a:cs typeface="Poppins"/>
                <a:sym typeface="Poppins"/>
              </a:rPr>
              <a:t>Educational data analytics using "Big Data."</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rPr b="1" lang="es" sz="1103">
                <a:solidFill>
                  <a:srgbClr val="434343"/>
                </a:solidFill>
                <a:latin typeface="Poppins"/>
                <a:ea typeface="Poppins"/>
                <a:cs typeface="Poppins"/>
                <a:sym typeface="Poppins"/>
              </a:rPr>
              <a:t>Goal: </a:t>
            </a:r>
            <a:r>
              <a:rPr lang="es" sz="1103">
                <a:solidFill>
                  <a:srgbClr val="434343"/>
                </a:solidFill>
                <a:latin typeface="Poppins"/>
                <a:ea typeface="Poppins"/>
                <a:cs typeface="Poppins"/>
                <a:sym typeface="Poppins"/>
              </a:rPr>
              <a:t>Shows real-world career paths based on the outcomes of millions of professionals.</a:t>
            </a:r>
            <a:endParaRPr sz="1103">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103"/>
              <a:buFont typeface="Arial"/>
              <a:buNone/>
            </a:pPr>
            <a:r>
              <a:t/>
            </a:r>
            <a:endParaRPr b="1" sz="1103">
              <a:solidFill>
                <a:srgbClr val="434343"/>
              </a:solidFill>
              <a:latin typeface="Poppins"/>
              <a:ea typeface="Poppins"/>
              <a:cs typeface="Poppins"/>
              <a:sym typeface="Poppins"/>
            </a:endParaRPr>
          </a:p>
        </p:txBody>
      </p:sp>
      <p:sp>
        <p:nvSpPr>
          <p:cNvPr id="243" name="Google Shape;243;p26"/>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11</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402425" y="2840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120">
                <a:latin typeface="Bebas Neue"/>
                <a:ea typeface="Bebas Neue"/>
                <a:cs typeface="Bebas Neue"/>
                <a:sym typeface="Bebas Neue"/>
              </a:rPr>
              <a:t>Why Traditional Guidance Fails</a:t>
            </a:r>
            <a:endParaRPr sz="3120">
              <a:latin typeface="Bebas Neue"/>
              <a:ea typeface="Bebas Neue"/>
              <a:cs typeface="Bebas Neue"/>
              <a:sym typeface="Bebas Neue"/>
            </a:endParaRPr>
          </a:p>
        </p:txBody>
      </p:sp>
      <p:sp>
        <p:nvSpPr>
          <p:cNvPr id="249" name="Google Shape;249;p27"/>
          <p:cNvSpPr/>
          <p:nvPr/>
        </p:nvSpPr>
        <p:spPr>
          <a:xfrm>
            <a:off x="479375" y="1119175"/>
            <a:ext cx="2247300" cy="36915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250" name="Google Shape;250;p27"/>
          <p:cNvSpPr/>
          <p:nvPr/>
        </p:nvSpPr>
        <p:spPr>
          <a:xfrm>
            <a:off x="604316" y="1333019"/>
            <a:ext cx="1997400" cy="249600"/>
          </a:xfrm>
          <a:prstGeom prst="rect">
            <a:avLst/>
          </a:prstGeom>
          <a:noFill/>
          <a:ln>
            <a:noFill/>
          </a:ln>
        </p:spPr>
        <p:txBody>
          <a:bodyPr anchorCtr="0" anchor="t" bIns="0" lIns="0" spcFirstLastPara="1" rIns="0" wrap="square" tIns="0">
            <a:noAutofit/>
          </a:bodyPr>
          <a:lstStyle/>
          <a:p>
            <a:pPr indent="0" lvl="0" marL="0" marR="0" rtl="0" algn="ctr">
              <a:lnSpc>
                <a:spcPct val="126190"/>
              </a:lnSpc>
              <a:spcBef>
                <a:spcPts val="0"/>
              </a:spcBef>
              <a:spcAft>
                <a:spcPts val="0"/>
              </a:spcAft>
              <a:buClr>
                <a:srgbClr val="4C4C4C"/>
              </a:buClr>
              <a:buSzPts val="1555"/>
              <a:buFont typeface="Arial"/>
              <a:buNone/>
            </a:pPr>
            <a:r>
              <a:rPr lang="es" sz="1555">
                <a:solidFill>
                  <a:schemeClr val="dk1"/>
                </a:solidFill>
                <a:latin typeface="Poppins"/>
                <a:ea typeface="Poppins"/>
                <a:cs typeface="Poppins"/>
                <a:sym typeface="Poppins"/>
              </a:rPr>
              <a:t>Inflexibility</a:t>
            </a:r>
            <a:endParaRPr i="0" sz="1555" u="none" cap="none" strike="noStrike">
              <a:solidFill>
                <a:schemeClr val="dk1"/>
              </a:solidFill>
              <a:latin typeface="Poppins"/>
              <a:ea typeface="Poppins"/>
              <a:cs typeface="Poppins"/>
              <a:sym typeface="Poppins"/>
            </a:endParaRPr>
          </a:p>
        </p:txBody>
      </p:sp>
      <p:sp>
        <p:nvSpPr>
          <p:cNvPr id="251" name="Google Shape;251;p27"/>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12</a:t>
            </a:r>
            <a:endParaRPr i="0" sz="1700" u="none" cap="none" strike="noStrike">
              <a:solidFill>
                <a:schemeClr val="dk1"/>
              </a:solidFill>
              <a:latin typeface="Bebas Neue"/>
              <a:ea typeface="Bebas Neue"/>
              <a:cs typeface="Bebas Neue"/>
              <a:sym typeface="Bebas Neue"/>
            </a:endParaRPr>
          </a:p>
        </p:txBody>
      </p:sp>
      <p:sp>
        <p:nvSpPr>
          <p:cNvPr id="252" name="Google Shape;252;p27"/>
          <p:cNvSpPr/>
          <p:nvPr/>
        </p:nvSpPr>
        <p:spPr>
          <a:xfrm>
            <a:off x="3448350" y="1119175"/>
            <a:ext cx="2247300" cy="36915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253" name="Google Shape;253;p27"/>
          <p:cNvSpPr/>
          <p:nvPr/>
        </p:nvSpPr>
        <p:spPr>
          <a:xfrm>
            <a:off x="6417325" y="1119175"/>
            <a:ext cx="2247300" cy="36915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254" name="Google Shape;254;p27"/>
          <p:cNvSpPr/>
          <p:nvPr/>
        </p:nvSpPr>
        <p:spPr>
          <a:xfrm>
            <a:off x="3573291" y="1333019"/>
            <a:ext cx="1997400" cy="249600"/>
          </a:xfrm>
          <a:prstGeom prst="rect">
            <a:avLst/>
          </a:prstGeom>
          <a:noFill/>
          <a:ln>
            <a:noFill/>
          </a:ln>
        </p:spPr>
        <p:txBody>
          <a:bodyPr anchorCtr="0" anchor="t" bIns="0" lIns="0" spcFirstLastPara="1" rIns="0" wrap="square" tIns="0">
            <a:noAutofit/>
          </a:bodyPr>
          <a:lstStyle/>
          <a:p>
            <a:pPr indent="0" lvl="0" marL="0" marR="0" rtl="0" algn="ctr">
              <a:lnSpc>
                <a:spcPct val="126190"/>
              </a:lnSpc>
              <a:spcBef>
                <a:spcPts val="0"/>
              </a:spcBef>
              <a:spcAft>
                <a:spcPts val="0"/>
              </a:spcAft>
              <a:buClr>
                <a:srgbClr val="4C4C4C"/>
              </a:buClr>
              <a:buSzPts val="1555"/>
              <a:buFont typeface="Arial"/>
              <a:buNone/>
            </a:pPr>
            <a:r>
              <a:rPr lang="es" sz="1555">
                <a:solidFill>
                  <a:schemeClr val="dk1"/>
                </a:solidFill>
                <a:latin typeface="Poppins"/>
                <a:ea typeface="Poppins"/>
                <a:cs typeface="Poppins"/>
                <a:sym typeface="Poppins"/>
              </a:rPr>
              <a:t>Market</a:t>
            </a:r>
            <a:endParaRPr sz="1555">
              <a:solidFill>
                <a:schemeClr val="dk1"/>
              </a:solidFill>
              <a:latin typeface="Poppins"/>
              <a:ea typeface="Poppins"/>
              <a:cs typeface="Poppins"/>
              <a:sym typeface="Poppins"/>
            </a:endParaRPr>
          </a:p>
          <a:p>
            <a:pPr indent="0" lvl="0" marL="0" marR="0" rtl="0" algn="ctr">
              <a:lnSpc>
                <a:spcPct val="126190"/>
              </a:lnSpc>
              <a:spcBef>
                <a:spcPts val="0"/>
              </a:spcBef>
              <a:spcAft>
                <a:spcPts val="0"/>
              </a:spcAft>
              <a:buClr>
                <a:srgbClr val="4C4C4C"/>
              </a:buClr>
              <a:buSzPts val="1555"/>
              <a:buFont typeface="Arial"/>
              <a:buNone/>
            </a:pPr>
            <a:r>
              <a:rPr lang="es" sz="1555">
                <a:solidFill>
                  <a:schemeClr val="dk1"/>
                </a:solidFill>
                <a:latin typeface="Poppins"/>
                <a:ea typeface="Poppins"/>
                <a:cs typeface="Poppins"/>
                <a:sym typeface="Poppins"/>
              </a:rPr>
              <a:t>Disconnect</a:t>
            </a:r>
            <a:endParaRPr sz="1555">
              <a:solidFill>
                <a:schemeClr val="dk1"/>
              </a:solidFill>
              <a:latin typeface="Poppins"/>
              <a:ea typeface="Poppins"/>
              <a:cs typeface="Poppins"/>
              <a:sym typeface="Poppins"/>
            </a:endParaRPr>
          </a:p>
        </p:txBody>
      </p:sp>
      <p:sp>
        <p:nvSpPr>
          <p:cNvPr id="255" name="Google Shape;255;p27"/>
          <p:cNvSpPr/>
          <p:nvPr/>
        </p:nvSpPr>
        <p:spPr>
          <a:xfrm>
            <a:off x="6542266" y="1333019"/>
            <a:ext cx="1997400" cy="249600"/>
          </a:xfrm>
          <a:prstGeom prst="rect">
            <a:avLst/>
          </a:prstGeom>
          <a:noFill/>
          <a:ln>
            <a:noFill/>
          </a:ln>
        </p:spPr>
        <p:txBody>
          <a:bodyPr anchorCtr="0" anchor="t" bIns="0" lIns="0" spcFirstLastPara="1" rIns="0" wrap="square" tIns="0">
            <a:noAutofit/>
          </a:bodyPr>
          <a:lstStyle/>
          <a:p>
            <a:pPr indent="0" lvl="0" marL="0" marR="0" rtl="0" algn="ctr">
              <a:lnSpc>
                <a:spcPct val="126190"/>
              </a:lnSpc>
              <a:spcBef>
                <a:spcPts val="0"/>
              </a:spcBef>
              <a:spcAft>
                <a:spcPts val="0"/>
              </a:spcAft>
              <a:buClr>
                <a:srgbClr val="4C4C4C"/>
              </a:buClr>
              <a:buSzPts val="1555"/>
              <a:buFont typeface="Arial"/>
              <a:buNone/>
            </a:pPr>
            <a:r>
              <a:rPr lang="es" sz="1555">
                <a:solidFill>
                  <a:schemeClr val="dk1"/>
                </a:solidFill>
                <a:latin typeface="Poppins"/>
                <a:ea typeface="Poppins"/>
                <a:cs typeface="Poppins"/>
                <a:sym typeface="Poppins"/>
              </a:rPr>
              <a:t>Wellbeing</a:t>
            </a:r>
            <a:endParaRPr sz="1555">
              <a:solidFill>
                <a:schemeClr val="dk1"/>
              </a:solidFill>
              <a:latin typeface="Poppins"/>
              <a:ea typeface="Poppins"/>
              <a:cs typeface="Poppins"/>
              <a:sym typeface="Poppins"/>
            </a:endParaRPr>
          </a:p>
          <a:p>
            <a:pPr indent="0" lvl="0" marL="0" marR="0" rtl="0" algn="ctr">
              <a:lnSpc>
                <a:spcPct val="126190"/>
              </a:lnSpc>
              <a:spcBef>
                <a:spcPts val="0"/>
              </a:spcBef>
              <a:spcAft>
                <a:spcPts val="0"/>
              </a:spcAft>
              <a:buClr>
                <a:srgbClr val="4C4C4C"/>
              </a:buClr>
              <a:buSzPts val="1555"/>
              <a:buFont typeface="Arial"/>
              <a:buNone/>
            </a:pPr>
            <a:r>
              <a:rPr lang="es" sz="1555">
                <a:solidFill>
                  <a:schemeClr val="dk1"/>
                </a:solidFill>
                <a:latin typeface="Poppins"/>
                <a:ea typeface="Poppins"/>
                <a:cs typeface="Poppins"/>
                <a:sym typeface="Poppins"/>
              </a:rPr>
              <a:t>Blind Spot</a:t>
            </a:r>
            <a:endParaRPr sz="1555">
              <a:solidFill>
                <a:schemeClr val="dk1"/>
              </a:solidFill>
              <a:latin typeface="Poppins"/>
              <a:ea typeface="Poppins"/>
              <a:cs typeface="Poppins"/>
              <a:sym typeface="Poppins"/>
            </a:endParaRPr>
          </a:p>
          <a:p>
            <a:pPr indent="0" lvl="0" marL="0" marR="0" rtl="0" algn="l">
              <a:lnSpc>
                <a:spcPct val="126190"/>
              </a:lnSpc>
              <a:spcBef>
                <a:spcPts val="0"/>
              </a:spcBef>
              <a:spcAft>
                <a:spcPts val="0"/>
              </a:spcAft>
              <a:buClr>
                <a:srgbClr val="4C4C4C"/>
              </a:buClr>
              <a:buSzPts val="1555"/>
              <a:buFont typeface="Arial"/>
              <a:buNone/>
            </a:pPr>
            <a:r>
              <a:t/>
            </a:r>
            <a:endParaRPr sz="1555">
              <a:solidFill>
                <a:schemeClr val="dk1"/>
              </a:solidFill>
              <a:latin typeface="Poppins"/>
              <a:ea typeface="Poppins"/>
              <a:cs typeface="Poppins"/>
              <a:sym typeface="Poppins"/>
            </a:endParaRPr>
          </a:p>
        </p:txBody>
      </p:sp>
      <p:pic>
        <p:nvPicPr>
          <p:cNvPr id="256" name="Google Shape;256;p27"/>
          <p:cNvPicPr preferRelativeResize="0"/>
          <p:nvPr/>
        </p:nvPicPr>
        <p:blipFill>
          <a:blip r:embed="rId3">
            <a:alphaModFix/>
          </a:blip>
          <a:stretch>
            <a:fillRect/>
          </a:stretch>
        </p:blipFill>
        <p:spPr>
          <a:xfrm>
            <a:off x="607650" y="2271288"/>
            <a:ext cx="1990725" cy="1800225"/>
          </a:xfrm>
          <a:prstGeom prst="rect">
            <a:avLst/>
          </a:prstGeom>
          <a:noFill/>
          <a:ln>
            <a:noFill/>
          </a:ln>
        </p:spPr>
      </p:pic>
      <p:pic>
        <p:nvPicPr>
          <p:cNvPr id="257" name="Google Shape;257;p27"/>
          <p:cNvPicPr preferRelativeResize="0"/>
          <p:nvPr/>
        </p:nvPicPr>
        <p:blipFill>
          <a:blip r:embed="rId4">
            <a:alphaModFix/>
          </a:blip>
          <a:stretch>
            <a:fillRect/>
          </a:stretch>
        </p:blipFill>
        <p:spPr>
          <a:xfrm>
            <a:off x="3531375" y="2373062"/>
            <a:ext cx="2081250" cy="1596692"/>
          </a:xfrm>
          <a:prstGeom prst="rect">
            <a:avLst/>
          </a:prstGeom>
          <a:noFill/>
          <a:ln>
            <a:noFill/>
          </a:ln>
        </p:spPr>
      </p:pic>
      <p:pic>
        <p:nvPicPr>
          <p:cNvPr id="258" name="Google Shape;258;p27"/>
          <p:cNvPicPr preferRelativeResize="0"/>
          <p:nvPr/>
        </p:nvPicPr>
        <p:blipFill>
          <a:blip r:embed="rId5">
            <a:alphaModFix/>
          </a:blip>
          <a:stretch>
            <a:fillRect/>
          </a:stretch>
        </p:blipFill>
        <p:spPr>
          <a:xfrm>
            <a:off x="6545625" y="2226638"/>
            <a:ext cx="1962150" cy="1800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120">
                <a:latin typeface="Bebas Neue"/>
                <a:ea typeface="Bebas Neue"/>
                <a:cs typeface="Bebas Neue"/>
                <a:sym typeface="Bebas Neue"/>
              </a:rPr>
              <a:t>The users/stakeholders: Who We're Building For</a:t>
            </a:r>
            <a:endParaRPr sz="3120">
              <a:latin typeface="Bebas Neue"/>
              <a:ea typeface="Bebas Neue"/>
              <a:cs typeface="Bebas Neue"/>
              <a:sym typeface="Bebas Neue"/>
            </a:endParaRPr>
          </a:p>
        </p:txBody>
      </p:sp>
      <p:pic>
        <p:nvPicPr>
          <p:cNvPr descr="preencoded.png" id="264" name="Google Shape;264;p28"/>
          <p:cNvPicPr preferRelativeResize="0"/>
          <p:nvPr/>
        </p:nvPicPr>
        <p:blipFill rotWithShape="1">
          <a:blip r:embed="rId3">
            <a:alphaModFix/>
          </a:blip>
          <a:srcRect b="0" l="0" r="0" t="0"/>
          <a:stretch/>
        </p:blipFill>
        <p:spPr>
          <a:xfrm>
            <a:off x="1052733" y="1730152"/>
            <a:ext cx="1509914" cy="1509914"/>
          </a:xfrm>
          <a:prstGeom prst="rect">
            <a:avLst/>
          </a:prstGeom>
          <a:noFill/>
          <a:ln>
            <a:noFill/>
          </a:ln>
        </p:spPr>
      </p:pic>
      <p:sp>
        <p:nvSpPr>
          <p:cNvPr id="265" name="Google Shape;265;p28"/>
          <p:cNvSpPr/>
          <p:nvPr/>
        </p:nvSpPr>
        <p:spPr>
          <a:xfrm>
            <a:off x="920300" y="3366161"/>
            <a:ext cx="1774800" cy="2217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C4C4C"/>
              </a:buClr>
              <a:buSzPts val="1377"/>
              <a:buFont typeface="Arial"/>
              <a:buNone/>
            </a:pPr>
            <a:r>
              <a:rPr i="0" lang="es" sz="1377" u="none" cap="none" strike="noStrike">
                <a:solidFill>
                  <a:schemeClr val="dk1"/>
                </a:solidFill>
                <a:latin typeface="Poppins"/>
                <a:ea typeface="Poppins"/>
                <a:cs typeface="Poppins"/>
                <a:sym typeface="Poppins"/>
              </a:rPr>
              <a:t>Primary: Students</a:t>
            </a:r>
            <a:endParaRPr i="0" sz="1377" u="none" cap="none" strike="noStrike">
              <a:solidFill>
                <a:schemeClr val="dk1"/>
              </a:solidFill>
              <a:latin typeface="Poppins"/>
              <a:ea typeface="Poppins"/>
              <a:cs typeface="Poppins"/>
              <a:sym typeface="Poppins"/>
            </a:endParaRPr>
          </a:p>
        </p:txBody>
      </p:sp>
      <p:pic>
        <p:nvPicPr>
          <p:cNvPr descr="preencoded.png" id="266" name="Google Shape;266;p28"/>
          <p:cNvPicPr preferRelativeResize="0"/>
          <p:nvPr/>
        </p:nvPicPr>
        <p:blipFill rotWithShape="1">
          <a:blip r:embed="rId4">
            <a:alphaModFix/>
          </a:blip>
          <a:srcRect b="0" l="0" r="0" t="0"/>
          <a:stretch/>
        </p:blipFill>
        <p:spPr>
          <a:xfrm>
            <a:off x="3779679" y="1719525"/>
            <a:ext cx="1509914" cy="1509914"/>
          </a:xfrm>
          <a:prstGeom prst="rect">
            <a:avLst/>
          </a:prstGeom>
          <a:noFill/>
          <a:ln>
            <a:noFill/>
          </a:ln>
        </p:spPr>
      </p:pic>
      <p:sp>
        <p:nvSpPr>
          <p:cNvPr id="267" name="Google Shape;267;p28"/>
          <p:cNvSpPr/>
          <p:nvPr/>
        </p:nvSpPr>
        <p:spPr>
          <a:xfrm>
            <a:off x="3298570" y="3406911"/>
            <a:ext cx="2603700" cy="4437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C4C4C"/>
              </a:buClr>
              <a:buSzPts val="1377"/>
              <a:buFont typeface="Arial"/>
              <a:buNone/>
            </a:pPr>
            <a:r>
              <a:rPr i="0" lang="es" sz="1377" u="none" cap="none" strike="noStrike">
                <a:solidFill>
                  <a:schemeClr val="dk1"/>
                </a:solidFill>
                <a:latin typeface="Poppins"/>
                <a:ea typeface="Poppins"/>
                <a:cs typeface="Poppins"/>
                <a:sym typeface="Poppins"/>
              </a:rPr>
              <a:t>Secondary: Counselors &amp; Parents</a:t>
            </a:r>
            <a:endParaRPr i="0" sz="1377" u="none" cap="none" strike="noStrike">
              <a:solidFill>
                <a:schemeClr val="dk1"/>
              </a:solidFill>
              <a:latin typeface="Poppins"/>
              <a:ea typeface="Poppins"/>
              <a:cs typeface="Poppins"/>
              <a:sym typeface="Poppins"/>
            </a:endParaRPr>
          </a:p>
        </p:txBody>
      </p:sp>
      <p:pic>
        <p:nvPicPr>
          <p:cNvPr descr="preencoded.png" id="268" name="Google Shape;268;p28"/>
          <p:cNvPicPr preferRelativeResize="0"/>
          <p:nvPr/>
        </p:nvPicPr>
        <p:blipFill rotWithShape="1">
          <a:blip r:embed="rId5">
            <a:alphaModFix/>
          </a:blip>
          <a:srcRect b="0" l="0" r="0" t="0"/>
          <a:stretch/>
        </p:blipFill>
        <p:spPr>
          <a:xfrm>
            <a:off x="6506625" y="1719525"/>
            <a:ext cx="1509914" cy="1509914"/>
          </a:xfrm>
          <a:prstGeom prst="rect">
            <a:avLst/>
          </a:prstGeom>
          <a:noFill/>
          <a:ln>
            <a:noFill/>
          </a:ln>
        </p:spPr>
      </p:pic>
      <p:sp>
        <p:nvSpPr>
          <p:cNvPr id="269" name="Google Shape;269;p28"/>
          <p:cNvSpPr/>
          <p:nvPr/>
        </p:nvSpPr>
        <p:spPr>
          <a:xfrm>
            <a:off x="6079377" y="3406911"/>
            <a:ext cx="2603700" cy="4437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C4C4C"/>
              </a:buClr>
              <a:buSzPts val="1377"/>
              <a:buFont typeface="Arial"/>
              <a:buNone/>
            </a:pPr>
            <a:r>
              <a:rPr i="0" lang="es" sz="1377" u="none" cap="none" strike="noStrike">
                <a:solidFill>
                  <a:schemeClr val="dk1"/>
                </a:solidFill>
                <a:latin typeface="Poppins"/>
                <a:ea typeface="Poppins"/>
                <a:cs typeface="Poppins"/>
                <a:sym typeface="Poppins"/>
              </a:rPr>
              <a:t>Tertiary: Universities &amp; Employers</a:t>
            </a:r>
            <a:endParaRPr i="0" sz="1377" u="none" cap="none" strike="noStrike">
              <a:solidFill>
                <a:schemeClr val="dk1"/>
              </a:solidFill>
              <a:latin typeface="Poppins"/>
              <a:ea typeface="Poppins"/>
              <a:cs typeface="Poppins"/>
              <a:sym typeface="Poppins"/>
            </a:endParaRPr>
          </a:p>
        </p:txBody>
      </p:sp>
      <p:sp>
        <p:nvSpPr>
          <p:cNvPr id="270" name="Google Shape;270;p28"/>
          <p:cNvSpPr/>
          <p:nvPr/>
        </p:nvSpPr>
        <p:spPr>
          <a:xfrm>
            <a:off x="6079379" y="4028062"/>
            <a:ext cx="2472000" cy="6816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C4C4C"/>
              </a:buClr>
              <a:buSzPts val="1096"/>
              <a:buFont typeface="Arial"/>
              <a:buNone/>
            </a:pPr>
            <a:r>
              <a:t/>
            </a:r>
            <a:endParaRPr i="0" sz="1096" u="none" cap="none" strike="noStrike">
              <a:solidFill>
                <a:schemeClr val="dk1"/>
              </a:solidFill>
              <a:latin typeface="Poppins"/>
              <a:ea typeface="Poppins"/>
              <a:cs typeface="Poppins"/>
              <a:sym typeface="Poppins"/>
            </a:endParaRPr>
          </a:p>
        </p:txBody>
      </p:sp>
      <p:sp>
        <p:nvSpPr>
          <p:cNvPr id="271" name="Google Shape;271;p28"/>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13</a:t>
            </a:r>
            <a:endParaRPr i="0" sz="17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9"/>
          <p:cNvSpPr/>
          <p:nvPr/>
        </p:nvSpPr>
        <p:spPr>
          <a:xfrm>
            <a:off x="6073550" y="1413025"/>
            <a:ext cx="2458200" cy="29922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277" name="Google Shape;277;p29"/>
          <p:cNvSpPr/>
          <p:nvPr/>
        </p:nvSpPr>
        <p:spPr>
          <a:xfrm>
            <a:off x="3247800" y="1413025"/>
            <a:ext cx="2458200" cy="29922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278" name="Google Shape;278;p29"/>
          <p:cNvSpPr/>
          <p:nvPr/>
        </p:nvSpPr>
        <p:spPr>
          <a:xfrm>
            <a:off x="408300" y="1413100"/>
            <a:ext cx="2247300" cy="2992200"/>
          </a:xfrm>
          <a:prstGeom prst="roundRect">
            <a:avLst>
              <a:gd fmla="val 8994" name="adj"/>
            </a:avLst>
          </a:prstGeom>
          <a:solidFill>
            <a:srgbClr val="D9D9D9"/>
          </a:solidFill>
          <a:ln cap="flat" cmpd="sng" w="22550">
            <a:solidFill>
              <a:srgbClr val="E6DED2"/>
            </a:solidFill>
            <a:prstDash val="solid"/>
            <a:round/>
            <a:headEnd len="sm" w="sm" type="none"/>
            <a:tailEnd len="sm" w="sm" type="none"/>
          </a:ln>
          <a:effectLst>
            <a:outerShdw rotWithShape="0" algn="bl" dir="2700000" dist="20685">
              <a:srgbClr val="E6DED2"/>
            </a:outerShdw>
          </a:effectLst>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279" name="Google Shape;279;p29"/>
          <p:cNvSpPr txBox="1"/>
          <p:nvPr>
            <p:ph type="title"/>
          </p:nvPr>
        </p:nvSpPr>
        <p:spPr>
          <a:xfrm>
            <a:off x="408300" y="471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3467">
                <a:latin typeface="Bebas Neue"/>
                <a:ea typeface="Bebas Neue"/>
                <a:cs typeface="Bebas Neue"/>
                <a:sym typeface="Bebas Neue"/>
              </a:rPr>
              <a:t>Three Main Problems, That we will solve…</a:t>
            </a:r>
            <a:endParaRPr sz="3467">
              <a:latin typeface="Bebas Neue"/>
              <a:ea typeface="Bebas Neue"/>
              <a:cs typeface="Bebas Neue"/>
              <a:sym typeface="Bebas Neue"/>
            </a:endParaRPr>
          </a:p>
          <a:p>
            <a:pPr indent="0" lvl="0" marL="0" rtl="0" algn="l">
              <a:spcBef>
                <a:spcPts val="0"/>
              </a:spcBef>
              <a:spcAft>
                <a:spcPts val="0"/>
              </a:spcAft>
              <a:buNone/>
            </a:pPr>
            <a:r>
              <a:t/>
            </a:r>
            <a:endParaRPr>
              <a:solidFill>
                <a:srgbClr val="3A3A3A"/>
              </a:solidFill>
            </a:endParaRPr>
          </a:p>
        </p:txBody>
      </p:sp>
      <p:sp>
        <p:nvSpPr>
          <p:cNvPr id="280" name="Google Shape;280;p29"/>
          <p:cNvSpPr/>
          <p:nvPr/>
        </p:nvSpPr>
        <p:spPr>
          <a:xfrm>
            <a:off x="637043" y="3749509"/>
            <a:ext cx="1789800" cy="223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C"/>
              </a:buClr>
              <a:buSzPts val="1389"/>
              <a:buFont typeface="Arial"/>
              <a:buNone/>
            </a:pPr>
            <a:r>
              <a:rPr i="0" lang="es" sz="1389" u="none" cap="none" strike="noStrike">
                <a:solidFill>
                  <a:schemeClr val="dk1"/>
                </a:solidFill>
                <a:latin typeface="Poppins"/>
                <a:ea typeface="Poppins"/>
                <a:cs typeface="Poppins"/>
                <a:sym typeface="Poppins"/>
              </a:rPr>
              <a:t>Decision Fatigue</a:t>
            </a:r>
            <a:endParaRPr i="0" sz="1389" u="none" cap="none" strike="noStrike">
              <a:solidFill>
                <a:schemeClr val="dk1"/>
              </a:solidFill>
              <a:latin typeface="Poppins"/>
              <a:ea typeface="Poppins"/>
              <a:cs typeface="Poppins"/>
              <a:sym typeface="Poppins"/>
            </a:endParaRPr>
          </a:p>
        </p:txBody>
      </p:sp>
      <p:sp>
        <p:nvSpPr>
          <p:cNvPr id="281" name="Google Shape;281;p29"/>
          <p:cNvSpPr/>
          <p:nvPr/>
        </p:nvSpPr>
        <p:spPr>
          <a:xfrm>
            <a:off x="3342891" y="3848840"/>
            <a:ext cx="2458200" cy="223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C"/>
              </a:buClr>
              <a:buSzPts val="1389"/>
              <a:buFont typeface="Arial"/>
              <a:buNone/>
            </a:pPr>
            <a:r>
              <a:rPr i="0" lang="es" sz="1389" u="none" cap="none" strike="noStrike">
                <a:solidFill>
                  <a:schemeClr val="dk1"/>
                </a:solidFill>
                <a:latin typeface="Poppins"/>
                <a:ea typeface="Poppins"/>
                <a:cs typeface="Poppins"/>
                <a:sym typeface="Poppins"/>
              </a:rPr>
              <a:t>Rigid Rule-Based Models</a:t>
            </a:r>
            <a:endParaRPr i="0" sz="1389" u="none" cap="none" strike="noStrike">
              <a:solidFill>
                <a:schemeClr val="dk1"/>
              </a:solidFill>
              <a:latin typeface="Poppins"/>
              <a:ea typeface="Poppins"/>
              <a:cs typeface="Poppins"/>
              <a:sym typeface="Poppins"/>
            </a:endParaRPr>
          </a:p>
        </p:txBody>
      </p:sp>
      <p:sp>
        <p:nvSpPr>
          <p:cNvPr id="282" name="Google Shape;282;p29"/>
          <p:cNvSpPr/>
          <p:nvPr/>
        </p:nvSpPr>
        <p:spPr>
          <a:xfrm>
            <a:off x="6298202" y="3848840"/>
            <a:ext cx="2345400" cy="223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C"/>
              </a:buClr>
              <a:buSzPts val="1389"/>
              <a:buFont typeface="Arial"/>
              <a:buNone/>
            </a:pPr>
            <a:r>
              <a:rPr i="0" lang="es" sz="1389" u="none" cap="none" strike="noStrike">
                <a:solidFill>
                  <a:schemeClr val="dk1"/>
                </a:solidFill>
                <a:latin typeface="Poppins"/>
                <a:ea typeface="Poppins"/>
                <a:cs typeface="Poppins"/>
                <a:sym typeface="Poppins"/>
              </a:rPr>
              <a:t>Aptitude ≠ Satisfaction</a:t>
            </a:r>
            <a:endParaRPr i="0" sz="1389" u="none" cap="none" strike="noStrike">
              <a:solidFill>
                <a:schemeClr val="dk1"/>
              </a:solidFill>
              <a:latin typeface="Poppins"/>
              <a:ea typeface="Poppins"/>
              <a:cs typeface="Poppins"/>
              <a:sym typeface="Poppins"/>
            </a:endParaRPr>
          </a:p>
        </p:txBody>
      </p:sp>
      <p:sp>
        <p:nvSpPr>
          <p:cNvPr id="283" name="Google Shape;283;p29"/>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14</a:t>
            </a:r>
            <a:endParaRPr i="0" sz="1700" u="none" cap="none" strike="noStrike">
              <a:solidFill>
                <a:schemeClr val="dk1"/>
              </a:solidFill>
              <a:latin typeface="Bebas Neue"/>
              <a:ea typeface="Bebas Neue"/>
              <a:cs typeface="Bebas Neue"/>
              <a:sym typeface="Bebas Neue"/>
            </a:endParaRPr>
          </a:p>
        </p:txBody>
      </p:sp>
      <p:sp>
        <p:nvSpPr>
          <p:cNvPr id="284" name="Google Shape;284;p29"/>
          <p:cNvSpPr txBox="1"/>
          <p:nvPr/>
        </p:nvSpPr>
        <p:spPr>
          <a:xfrm>
            <a:off x="1061100" y="1044150"/>
            <a:ext cx="9417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5400">
                <a:solidFill>
                  <a:schemeClr val="dk1"/>
                </a:solidFill>
                <a:latin typeface="Bodoni Moda"/>
                <a:ea typeface="Bodoni Moda"/>
                <a:cs typeface="Bodoni Moda"/>
                <a:sym typeface="Bodoni Moda"/>
              </a:rPr>
              <a:t>1</a:t>
            </a:r>
            <a:endParaRPr sz="5700">
              <a:solidFill>
                <a:schemeClr val="dk1"/>
              </a:solidFill>
              <a:latin typeface="Bodoni Moda"/>
              <a:ea typeface="Bodoni Moda"/>
              <a:cs typeface="Bodoni Moda"/>
              <a:sym typeface="Bodoni Moda"/>
            </a:endParaRPr>
          </a:p>
        </p:txBody>
      </p:sp>
      <p:sp>
        <p:nvSpPr>
          <p:cNvPr id="285" name="Google Shape;285;p29"/>
          <p:cNvSpPr txBox="1"/>
          <p:nvPr/>
        </p:nvSpPr>
        <p:spPr>
          <a:xfrm>
            <a:off x="4006050" y="1044150"/>
            <a:ext cx="9417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5400">
                <a:solidFill>
                  <a:schemeClr val="dk1"/>
                </a:solidFill>
                <a:latin typeface="Bodoni Moda"/>
                <a:ea typeface="Bodoni Moda"/>
                <a:cs typeface="Bodoni Moda"/>
                <a:sym typeface="Bodoni Moda"/>
              </a:rPr>
              <a:t>2</a:t>
            </a:r>
            <a:endParaRPr sz="5700">
              <a:solidFill>
                <a:schemeClr val="dk1"/>
              </a:solidFill>
              <a:latin typeface="Bodoni Moda"/>
              <a:ea typeface="Bodoni Moda"/>
              <a:cs typeface="Bodoni Moda"/>
              <a:sym typeface="Bodoni Moda"/>
            </a:endParaRPr>
          </a:p>
        </p:txBody>
      </p:sp>
      <p:sp>
        <p:nvSpPr>
          <p:cNvPr id="286" name="Google Shape;286;p29"/>
          <p:cNvSpPr txBox="1"/>
          <p:nvPr/>
        </p:nvSpPr>
        <p:spPr>
          <a:xfrm>
            <a:off x="6831800" y="1044150"/>
            <a:ext cx="9417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5400">
                <a:solidFill>
                  <a:schemeClr val="dk1"/>
                </a:solidFill>
                <a:latin typeface="Bodoni Moda"/>
                <a:ea typeface="Bodoni Moda"/>
                <a:cs typeface="Bodoni Moda"/>
                <a:sym typeface="Bodoni Moda"/>
              </a:rPr>
              <a:t>3</a:t>
            </a:r>
            <a:endParaRPr sz="5700">
              <a:solidFill>
                <a:schemeClr val="dk1"/>
              </a:solidFill>
              <a:latin typeface="Bodoni Moda"/>
              <a:ea typeface="Bodoni Moda"/>
              <a:cs typeface="Bodoni Moda"/>
              <a:sym typeface="Bodoni Moda"/>
            </a:endParaRPr>
          </a:p>
        </p:txBody>
      </p:sp>
      <p:pic>
        <p:nvPicPr>
          <p:cNvPr id="287" name="Google Shape;287;p29"/>
          <p:cNvPicPr preferRelativeResize="0"/>
          <p:nvPr/>
        </p:nvPicPr>
        <p:blipFill rotWithShape="1">
          <a:blip r:embed="rId3">
            <a:alphaModFix/>
          </a:blip>
          <a:srcRect b="5150" l="0" r="0" t="0"/>
          <a:stretch/>
        </p:blipFill>
        <p:spPr>
          <a:xfrm>
            <a:off x="690925" y="2059950"/>
            <a:ext cx="1682050" cy="1361475"/>
          </a:xfrm>
          <a:prstGeom prst="rect">
            <a:avLst/>
          </a:prstGeom>
          <a:noFill/>
          <a:ln>
            <a:noFill/>
          </a:ln>
        </p:spPr>
      </p:pic>
      <p:pic>
        <p:nvPicPr>
          <p:cNvPr id="288" name="Google Shape;288;p29"/>
          <p:cNvPicPr preferRelativeResize="0"/>
          <p:nvPr/>
        </p:nvPicPr>
        <p:blipFill>
          <a:blip r:embed="rId4">
            <a:alphaModFix/>
          </a:blip>
          <a:stretch>
            <a:fillRect/>
          </a:stretch>
        </p:blipFill>
        <p:spPr>
          <a:xfrm>
            <a:off x="3719663" y="2204325"/>
            <a:ext cx="1514475" cy="1276350"/>
          </a:xfrm>
          <a:prstGeom prst="rect">
            <a:avLst/>
          </a:prstGeom>
          <a:noFill/>
          <a:ln>
            <a:noFill/>
          </a:ln>
        </p:spPr>
      </p:pic>
      <p:pic>
        <p:nvPicPr>
          <p:cNvPr id="289" name="Google Shape;289;p29"/>
          <p:cNvPicPr preferRelativeResize="0"/>
          <p:nvPr/>
        </p:nvPicPr>
        <p:blipFill>
          <a:blip r:embed="rId5">
            <a:alphaModFix/>
          </a:blip>
          <a:stretch>
            <a:fillRect/>
          </a:stretch>
        </p:blipFill>
        <p:spPr>
          <a:xfrm>
            <a:off x="6580813" y="2194800"/>
            <a:ext cx="1438275" cy="1295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0"/>
          <p:cNvSpPr txBox="1"/>
          <p:nvPr>
            <p:ph type="title"/>
          </p:nvPr>
        </p:nvSpPr>
        <p:spPr>
          <a:xfrm>
            <a:off x="311700" y="403800"/>
            <a:ext cx="8520600" cy="572700"/>
          </a:xfrm>
          <a:prstGeom prst="rect">
            <a:avLst/>
          </a:prstGeom>
        </p:spPr>
        <p:txBody>
          <a:bodyPr anchorCtr="0" anchor="t" bIns="91425" lIns="91425" spcFirstLastPara="1" rIns="91425" wrap="square" tIns="91425">
            <a:normAutofit fontScale="90000"/>
          </a:bodyPr>
          <a:lstStyle/>
          <a:p>
            <a:pPr indent="0" lvl="0" marL="0" marR="0" rtl="0" algn="ctr">
              <a:lnSpc>
                <a:spcPct val="100000"/>
              </a:lnSpc>
              <a:spcBef>
                <a:spcPts val="0"/>
              </a:spcBef>
              <a:spcAft>
                <a:spcPts val="0"/>
              </a:spcAft>
              <a:buNone/>
            </a:pPr>
            <a:r>
              <a:rPr lang="es" sz="3467">
                <a:latin typeface="Bebas Neue"/>
                <a:ea typeface="Bebas Neue"/>
                <a:cs typeface="Bebas Neue"/>
                <a:sym typeface="Bebas Neue"/>
              </a:rPr>
              <a:t>problem to be solved</a:t>
            </a:r>
            <a:endParaRPr sz="3467">
              <a:latin typeface="Bebas Neue"/>
              <a:ea typeface="Bebas Neue"/>
              <a:cs typeface="Bebas Neue"/>
              <a:sym typeface="Bebas Neue"/>
            </a:endParaRPr>
          </a:p>
        </p:txBody>
      </p:sp>
      <p:sp>
        <p:nvSpPr>
          <p:cNvPr id="295" name="Google Shape;295;p30"/>
          <p:cNvSpPr txBox="1"/>
          <p:nvPr>
            <p:ph idx="1" type="body"/>
          </p:nvPr>
        </p:nvSpPr>
        <p:spPr>
          <a:xfrm>
            <a:off x="846900" y="1054550"/>
            <a:ext cx="7450200" cy="1061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 sz="1400">
                <a:solidFill>
                  <a:schemeClr val="dk1"/>
                </a:solidFill>
                <a:latin typeface="Poppins"/>
                <a:ea typeface="Poppins"/>
                <a:cs typeface="Poppins"/>
                <a:sym typeface="Poppins"/>
              </a:rPr>
              <a:t>The </a:t>
            </a:r>
            <a:r>
              <a:rPr b="1" lang="es" sz="1400">
                <a:solidFill>
                  <a:schemeClr val="dk1"/>
                </a:solidFill>
                <a:latin typeface="Poppins"/>
                <a:ea typeface="Poppins"/>
                <a:cs typeface="Poppins"/>
                <a:sym typeface="Poppins"/>
              </a:rPr>
              <a:t>lack of</a:t>
            </a:r>
            <a:r>
              <a:rPr lang="es" sz="1400">
                <a:solidFill>
                  <a:schemeClr val="dk1"/>
                </a:solidFill>
                <a:latin typeface="Poppins"/>
                <a:ea typeface="Poppins"/>
                <a:cs typeface="Poppins"/>
                <a:sym typeface="Poppins"/>
              </a:rPr>
              <a:t> vocational </a:t>
            </a:r>
            <a:r>
              <a:rPr b="1" lang="es" sz="1400">
                <a:solidFill>
                  <a:schemeClr val="dk1"/>
                </a:solidFill>
                <a:latin typeface="Poppins"/>
                <a:ea typeface="Poppins"/>
                <a:cs typeface="Poppins"/>
                <a:sym typeface="Poppins"/>
              </a:rPr>
              <a:t>guidance tools</a:t>
            </a:r>
            <a:r>
              <a:rPr lang="es" sz="1400">
                <a:solidFill>
                  <a:schemeClr val="dk1"/>
                </a:solidFill>
                <a:latin typeface="Poppins"/>
                <a:ea typeface="Poppins"/>
                <a:cs typeface="Poppins"/>
                <a:sym typeface="Poppins"/>
              </a:rPr>
              <a:t> that integrate multi-stage quantitative data analysis and the prediction of subjective satisfaction, can </a:t>
            </a:r>
            <a:r>
              <a:rPr b="1" lang="es" sz="1400">
                <a:solidFill>
                  <a:schemeClr val="dk1"/>
                </a:solidFill>
                <a:latin typeface="Poppins"/>
                <a:ea typeface="Poppins"/>
                <a:cs typeface="Poppins"/>
                <a:sym typeface="Poppins"/>
              </a:rPr>
              <a:t>lead </a:t>
            </a:r>
            <a:r>
              <a:rPr lang="es" sz="1400">
                <a:solidFill>
                  <a:schemeClr val="dk1"/>
                </a:solidFill>
                <a:latin typeface="Poppins"/>
                <a:ea typeface="Poppins"/>
                <a:cs typeface="Poppins"/>
                <a:sym typeface="Poppins"/>
              </a:rPr>
              <a:t>to </a:t>
            </a:r>
            <a:r>
              <a:rPr b="1" lang="es" sz="1400">
                <a:solidFill>
                  <a:schemeClr val="dk1"/>
                </a:solidFill>
                <a:latin typeface="Poppins"/>
                <a:ea typeface="Poppins"/>
                <a:cs typeface="Poppins"/>
                <a:sym typeface="Poppins"/>
              </a:rPr>
              <a:t>dropout </a:t>
            </a:r>
            <a:r>
              <a:rPr lang="es" sz="1400">
                <a:solidFill>
                  <a:schemeClr val="dk1"/>
                </a:solidFill>
                <a:latin typeface="Poppins"/>
                <a:ea typeface="Poppins"/>
                <a:cs typeface="Poppins"/>
                <a:sym typeface="Poppins"/>
              </a:rPr>
              <a:t>or </a:t>
            </a:r>
            <a:r>
              <a:rPr b="1" lang="es" sz="1400">
                <a:solidFill>
                  <a:schemeClr val="dk1"/>
                </a:solidFill>
                <a:latin typeface="Poppins"/>
                <a:ea typeface="Poppins"/>
                <a:cs typeface="Poppins"/>
                <a:sym typeface="Poppins"/>
              </a:rPr>
              <a:t>poor career choices</a:t>
            </a:r>
            <a:r>
              <a:rPr lang="es" sz="1400">
                <a:solidFill>
                  <a:schemeClr val="dk1"/>
                </a:solidFill>
                <a:latin typeface="Poppins"/>
                <a:ea typeface="Poppins"/>
                <a:cs typeface="Poppins"/>
                <a:sym typeface="Poppins"/>
              </a:rPr>
              <a:t> based on incomplete information or decision fatigue.</a:t>
            </a:r>
            <a:endParaRPr sz="1400">
              <a:solidFill>
                <a:schemeClr val="dk1"/>
              </a:solidFill>
              <a:latin typeface="Poppins"/>
              <a:ea typeface="Poppins"/>
              <a:cs typeface="Poppins"/>
              <a:sym typeface="Poppins"/>
            </a:endParaRPr>
          </a:p>
        </p:txBody>
      </p:sp>
      <p:sp>
        <p:nvSpPr>
          <p:cNvPr id="296" name="Google Shape;296;p30"/>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15</a:t>
            </a:r>
            <a:endParaRPr i="0" sz="1700" u="none" cap="none" strike="noStrike">
              <a:solidFill>
                <a:schemeClr val="dk1"/>
              </a:solidFill>
              <a:latin typeface="Bebas Neue"/>
              <a:ea typeface="Bebas Neue"/>
              <a:cs typeface="Bebas Neue"/>
              <a:sym typeface="Bebas Neue"/>
            </a:endParaRPr>
          </a:p>
        </p:txBody>
      </p:sp>
      <p:pic>
        <p:nvPicPr>
          <p:cNvPr id="297" name="Google Shape;297;p30"/>
          <p:cNvPicPr preferRelativeResize="0"/>
          <p:nvPr/>
        </p:nvPicPr>
        <p:blipFill>
          <a:blip r:embed="rId3">
            <a:alphaModFix/>
          </a:blip>
          <a:stretch>
            <a:fillRect/>
          </a:stretch>
        </p:blipFill>
        <p:spPr>
          <a:xfrm>
            <a:off x="6343650" y="2090525"/>
            <a:ext cx="865800" cy="854256"/>
          </a:xfrm>
          <a:prstGeom prst="rect">
            <a:avLst/>
          </a:prstGeom>
          <a:noFill/>
          <a:ln>
            <a:noFill/>
          </a:ln>
        </p:spPr>
      </p:pic>
      <p:pic>
        <p:nvPicPr>
          <p:cNvPr id="298" name="Google Shape;298;p30" title="Captura de pantalla 2026-04-14 132348.png"/>
          <p:cNvPicPr preferRelativeResize="0"/>
          <p:nvPr/>
        </p:nvPicPr>
        <p:blipFill>
          <a:blip r:embed="rId4">
            <a:alphaModFix/>
          </a:blip>
          <a:stretch>
            <a:fillRect/>
          </a:stretch>
        </p:blipFill>
        <p:spPr>
          <a:xfrm>
            <a:off x="1934550" y="2072388"/>
            <a:ext cx="865800" cy="890537"/>
          </a:xfrm>
          <a:prstGeom prst="rect">
            <a:avLst/>
          </a:prstGeom>
          <a:noFill/>
          <a:ln>
            <a:noFill/>
          </a:ln>
        </p:spPr>
      </p:pic>
      <p:sp>
        <p:nvSpPr>
          <p:cNvPr id="299" name="Google Shape;299;p30"/>
          <p:cNvSpPr/>
          <p:nvPr/>
        </p:nvSpPr>
        <p:spPr>
          <a:xfrm>
            <a:off x="4139100" y="2090550"/>
            <a:ext cx="865800" cy="1659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30"/>
          <p:cNvSpPr txBox="1"/>
          <p:nvPr/>
        </p:nvSpPr>
        <p:spPr>
          <a:xfrm>
            <a:off x="3072000" y="4121825"/>
            <a:ext cx="30000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s" sz="2300">
                <a:solidFill>
                  <a:schemeClr val="dk1"/>
                </a:solidFill>
                <a:latin typeface="Bebas Neue"/>
                <a:ea typeface="Bebas Neue"/>
                <a:cs typeface="Bebas Neue"/>
                <a:sym typeface="Bebas Neue"/>
              </a:rPr>
              <a:t>OUR SOLUTION: ORIENT AI</a:t>
            </a:r>
            <a:endParaRPr sz="2300">
              <a:latin typeface="Bebas Neue"/>
              <a:ea typeface="Bebas Neue"/>
              <a:cs typeface="Bebas Neue"/>
              <a:sym typeface="Bebas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descr="preencoded.png" id="305" name="Google Shape;305;p31"/>
          <p:cNvPicPr preferRelativeResize="0"/>
          <p:nvPr/>
        </p:nvPicPr>
        <p:blipFill rotWithShape="1">
          <a:blip r:embed="rId3">
            <a:alphaModFix/>
          </a:blip>
          <a:srcRect b="0" l="0" r="0" t="0"/>
          <a:stretch/>
        </p:blipFill>
        <p:spPr>
          <a:xfrm>
            <a:off x="1321478" y="968271"/>
            <a:ext cx="6474098" cy="3842398"/>
          </a:xfrm>
          <a:prstGeom prst="rect">
            <a:avLst/>
          </a:prstGeom>
          <a:noFill/>
          <a:ln>
            <a:noFill/>
          </a:ln>
        </p:spPr>
      </p:pic>
      <p:pic>
        <p:nvPicPr>
          <p:cNvPr descr="preencoded.png" id="306" name="Google Shape;306;p31"/>
          <p:cNvPicPr preferRelativeResize="0"/>
          <p:nvPr/>
        </p:nvPicPr>
        <p:blipFill rotWithShape="1">
          <a:blip r:embed="rId4">
            <a:alphaModFix/>
          </a:blip>
          <a:srcRect b="0" l="0" r="0" t="0"/>
          <a:stretch/>
        </p:blipFill>
        <p:spPr>
          <a:xfrm>
            <a:off x="6299420" y="1918201"/>
            <a:ext cx="545117" cy="545117"/>
          </a:xfrm>
          <a:prstGeom prst="rect">
            <a:avLst/>
          </a:prstGeom>
          <a:noFill/>
          <a:ln>
            <a:noFill/>
          </a:ln>
        </p:spPr>
      </p:pic>
      <p:pic>
        <p:nvPicPr>
          <p:cNvPr descr="preencoded.png" id="307" name="Google Shape;307;p31"/>
          <p:cNvPicPr preferRelativeResize="0"/>
          <p:nvPr/>
        </p:nvPicPr>
        <p:blipFill rotWithShape="1">
          <a:blip r:embed="rId5">
            <a:alphaModFix/>
          </a:blip>
          <a:srcRect b="0" l="0" r="0" t="0"/>
          <a:stretch/>
        </p:blipFill>
        <p:spPr>
          <a:xfrm>
            <a:off x="4303756" y="1919223"/>
            <a:ext cx="545117" cy="545117"/>
          </a:xfrm>
          <a:prstGeom prst="rect">
            <a:avLst/>
          </a:prstGeom>
          <a:noFill/>
          <a:ln>
            <a:noFill/>
          </a:ln>
        </p:spPr>
      </p:pic>
      <p:pic>
        <p:nvPicPr>
          <p:cNvPr descr="preencoded.png" id="308" name="Google Shape;308;p31"/>
          <p:cNvPicPr preferRelativeResize="0"/>
          <p:nvPr/>
        </p:nvPicPr>
        <p:blipFill rotWithShape="1">
          <a:blip r:embed="rId6">
            <a:alphaModFix/>
          </a:blip>
          <a:srcRect b="0" l="0" r="0" t="0"/>
          <a:stretch/>
        </p:blipFill>
        <p:spPr>
          <a:xfrm>
            <a:off x="2297700" y="1919223"/>
            <a:ext cx="545117" cy="545117"/>
          </a:xfrm>
          <a:prstGeom prst="rect">
            <a:avLst/>
          </a:prstGeom>
          <a:noFill/>
          <a:ln>
            <a:noFill/>
          </a:ln>
        </p:spPr>
      </p:pic>
      <p:sp>
        <p:nvSpPr>
          <p:cNvPr id="309" name="Google Shape;309;p31"/>
          <p:cNvSpPr/>
          <p:nvPr/>
        </p:nvSpPr>
        <p:spPr>
          <a:xfrm>
            <a:off x="499650" y="3328649"/>
            <a:ext cx="2655600" cy="1090500"/>
          </a:xfrm>
          <a:prstGeom prst="roundRect">
            <a:avLst>
              <a:gd fmla="val 5058" name="adj"/>
            </a:avLst>
          </a:prstGeom>
          <a:solidFill>
            <a:srgbClr val="E6DED2">
              <a:alpha val="50199"/>
            </a:srgbClr>
          </a:solidFill>
          <a:ln cap="flat" cmpd="sng" w="6600">
            <a:solidFill>
              <a:srgbClr val="CCC4B8"/>
            </a:solidFill>
            <a:prstDash val="solid"/>
            <a:round/>
            <a:headEnd len="sm" w="sm" type="none"/>
            <a:tailEnd len="sm" w="sm" type="none"/>
          </a:ln>
          <a:effectLst>
            <a:outerShdw rotWithShape="0" algn="bl" dir="2700000" dist="14950">
              <a:srgbClr val="CCC4B8"/>
            </a:outerShdw>
          </a:effectLst>
        </p:spPr>
        <p:txBody>
          <a:bodyPr anchorCtr="0" anchor="ctr" bIns="63300" lIns="63300" spcFirstLastPara="1" rIns="63300" wrap="square" tIns="63300">
            <a:noAutofit/>
          </a:bodyPr>
          <a:lstStyle/>
          <a:p>
            <a:pPr indent="0" lvl="0" marL="0" rtl="0" algn="l">
              <a:spcBef>
                <a:spcPts val="0"/>
              </a:spcBef>
              <a:spcAft>
                <a:spcPts val="0"/>
              </a:spcAft>
              <a:buNone/>
            </a:pPr>
            <a:r>
              <a:t/>
            </a:r>
            <a:endParaRPr/>
          </a:p>
        </p:txBody>
      </p:sp>
      <p:sp>
        <p:nvSpPr>
          <p:cNvPr id="310" name="Google Shape;310;p31"/>
          <p:cNvSpPr/>
          <p:nvPr/>
        </p:nvSpPr>
        <p:spPr>
          <a:xfrm>
            <a:off x="622925" y="3798649"/>
            <a:ext cx="2409000" cy="870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000000"/>
              </a:buClr>
              <a:buSzPts val="900"/>
              <a:buFont typeface="Arial"/>
              <a:buNone/>
            </a:pPr>
            <a:r>
              <a:rPr i="0" lang="es" sz="1100" u="none" cap="none" strike="noStrike">
                <a:solidFill>
                  <a:schemeClr val="dk1"/>
                </a:solidFill>
                <a:latin typeface="Poppins"/>
                <a:ea typeface="Poppins"/>
                <a:cs typeface="Poppins"/>
                <a:sym typeface="Poppins"/>
              </a:rPr>
              <a:t>Cascading surveys </a:t>
            </a:r>
            <a:r>
              <a:rPr lang="es"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100">
                <a:solidFill>
                  <a:schemeClr val="dk1"/>
                </a:solidFill>
                <a:latin typeface="Poppins"/>
                <a:ea typeface="Poppins"/>
                <a:cs typeface="Poppins"/>
                <a:sym typeface="Poppins"/>
              </a:rPr>
              <a:t>Level 1: Scope →  Level 2: Specialty</a:t>
            </a:r>
            <a:endParaRPr sz="1100">
              <a:solidFill>
                <a:schemeClr val="dk1"/>
              </a:solidFill>
              <a:latin typeface="Poppins"/>
              <a:ea typeface="Poppins"/>
              <a:cs typeface="Poppins"/>
              <a:sym typeface="Poppins"/>
            </a:endParaRPr>
          </a:p>
        </p:txBody>
      </p:sp>
      <p:sp>
        <p:nvSpPr>
          <p:cNvPr id="311" name="Google Shape;311;p31"/>
          <p:cNvSpPr/>
          <p:nvPr/>
        </p:nvSpPr>
        <p:spPr>
          <a:xfrm>
            <a:off x="3244200" y="3328650"/>
            <a:ext cx="2655600" cy="1090500"/>
          </a:xfrm>
          <a:prstGeom prst="roundRect">
            <a:avLst>
              <a:gd fmla="val 5058" name="adj"/>
            </a:avLst>
          </a:prstGeom>
          <a:solidFill>
            <a:srgbClr val="E6DED2">
              <a:alpha val="50199"/>
            </a:srgbClr>
          </a:solidFill>
          <a:ln cap="flat" cmpd="sng" w="6600">
            <a:solidFill>
              <a:srgbClr val="CCC4B8"/>
            </a:solidFill>
            <a:prstDash val="solid"/>
            <a:round/>
            <a:headEnd len="sm" w="sm" type="none"/>
            <a:tailEnd len="sm" w="sm" type="none"/>
          </a:ln>
          <a:effectLst>
            <a:outerShdw rotWithShape="0" algn="bl" dir="2700000" dist="14950">
              <a:srgbClr val="CCC4B8"/>
            </a:outerShdw>
          </a:effectLst>
        </p:spPr>
        <p:txBody>
          <a:bodyPr anchorCtr="0" anchor="ctr" bIns="63300" lIns="63300" spcFirstLastPara="1" rIns="63300" wrap="square" tIns="63300">
            <a:noAutofit/>
          </a:bodyPr>
          <a:lstStyle/>
          <a:p>
            <a:pPr indent="0" lvl="0" marL="0" rtl="0" algn="l">
              <a:spcBef>
                <a:spcPts val="0"/>
              </a:spcBef>
              <a:spcAft>
                <a:spcPts val="0"/>
              </a:spcAft>
              <a:buNone/>
            </a:pPr>
            <a:r>
              <a:t/>
            </a:r>
            <a:endParaRPr/>
          </a:p>
        </p:txBody>
      </p:sp>
      <p:sp>
        <p:nvSpPr>
          <p:cNvPr id="312" name="Google Shape;312;p31"/>
          <p:cNvSpPr/>
          <p:nvPr/>
        </p:nvSpPr>
        <p:spPr>
          <a:xfrm>
            <a:off x="3367450" y="3772186"/>
            <a:ext cx="2409000" cy="647100"/>
          </a:xfrm>
          <a:prstGeom prst="rect">
            <a:avLst/>
          </a:prstGeom>
          <a:noFill/>
          <a:ln>
            <a:noFill/>
          </a:ln>
        </p:spPr>
        <p:txBody>
          <a:bodyPr anchorCtr="0" anchor="t" bIns="0" lIns="0" spcFirstLastPara="1" rIns="0" wrap="square" tIns="0">
            <a:noAutofit/>
          </a:bodyPr>
          <a:lstStyle/>
          <a:p>
            <a:pPr indent="0" lvl="0" marL="0" marR="0" rtl="0" algn="just">
              <a:lnSpc>
                <a:spcPct val="142307"/>
              </a:lnSpc>
              <a:spcBef>
                <a:spcPts val="0"/>
              </a:spcBef>
              <a:spcAft>
                <a:spcPts val="0"/>
              </a:spcAft>
              <a:buClr>
                <a:srgbClr val="000000"/>
              </a:buClr>
              <a:buSzPts val="900"/>
              <a:buFont typeface="Arial"/>
              <a:buNone/>
            </a:pPr>
            <a:r>
              <a:rPr lang="es" sz="1100">
                <a:solidFill>
                  <a:schemeClr val="dk1"/>
                </a:solidFill>
                <a:latin typeface="Poppins"/>
                <a:ea typeface="Poppins"/>
                <a:cs typeface="Poppins"/>
                <a:sym typeface="Poppins"/>
              </a:rPr>
              <a:t>multi-class </a:t>
            </a:r>
            <a:r>
              <a:rPr lang="es" sz="1100">
                <a:solidFill>
                  <a:schemeClr val="dk1"/>
                </a:solidFill>
                <a:latin typeface="Poppins"/>
                <a:ea typeface="Poppins"/>
                <a:cs typeface="Poppins"/>
                <a:sym typeface="Poppins"/>
              </a:rPr>
              <a:t>classification model</a:t>
            </a:r>
            <a:r>
              <a:rPr lang="es" sz="1100">
                <a:solidFill>
                  <a:schemeClr val="dk1"/>
                </a:solidFill>
                <a:latin typeface="Poppins"/>
                <a:ea typeface="Poppins"/>
                <a:cs typeface="Poppins"/>
                <a:sym typeface="Poppins"/>
              </a:rPr>
              <a:t> can </a:t>
            </a:r>
            <a:r>
              <a:rPr i="0" lang="es" sz="1100" u="none" cap="none" strike="noStrike">
                <a:solidFill>
                  <a:schemeClr val="dk1"/>
                </a:solidFill>
                <a:latin typeface="Poppins"/>
                <a:ea typeface="Poppins"/>
                <a:cs typeface="Poppins"/>
                <a:sym typeface="Poppins"/>
              </a:rPr>
              <a:t>identify profiles traditional tests miss</a:t>
            </a:r>
            <a:endParaRPr i="0" sz="1100" u="none" cap="none" strike="noStrike">
              <a:solidFill>
                <a:schemeClr val="dk1"/>
              </a:solidFill>
              <a:latin typeface="Poppins"/>
              <a:ea typeface="Poppins"/>
              <a:cs typeface="Poppins"/>
              <a:sym typeface="Poppins"/>
            </a:endParaRPr>
          </a:p>
        </p:txBody>
      </p:sp>
      <p:sp>
        <p:nvSpPr>
          <p:cNvPr id="313" name="Google Shape;313;p31"/>
          <p:cNvSpPr/>
          <p:nvPr/>
        </p:nvSpPr>
        <p:spPr>
          <a:xfrm>
            <a:off x="5988725" y="3328650"/>
            <a:ext cx="2655600" cy="1090500"/>
          </a:xfrm>
          <a:prstGeom prst="roundRect">
            <a:avLst>
              <a:gd fmla="val 5058" name="adj"/>
            </a:avLst>
          </a:prstGeom>
          <a:solidFill>
            <a:srgbClr val="E6DED2">
              <a:alpha val="50199"/>
            </a:srgbClr>
          </a:solidFill>
          <a:ln cap="flat" cmpd="sng" w="6600">
            <a:solidFill>
              <a:srgbClr val="CCC4B8"/>
            </a:solidFill>
            <a:prstDash val="solid"/>
            <a:round/>
            <a:headEnd len="sm" w="sm" type="none"/>
            <a:tailEnd len="sm" w="sm" type="none"/>
          </a:ln>
          <a:effectLst>
            <a:outerShdw rotWithShape="0" algn="bl" dir="2700000" dist="14950">
              <a:srgbClr val="CCC4B8"/>
            </a:outerShdw>
          </a:effectLst>
        </p:spPr>
        <p:txBody>
          <a:bodyPr anchorCtr="0" anchor="ctr" bIns="63300" lIns="63300" spcFirstLastPara="1" rIns="63300" wrap="square" tIns="63300">
            <a:noAutofit/>
          </a:bodyPr>
          <a:lstStyle/>
          <a:p>
            <a:pPr indent="0" lvl="0" marL="0" rtl="0" algn="l">
              <a:spcBef>
                <a:spcPts val="0"/>
              </a:spcBef>
              <a:spcAft>
                <a:spcPts val="0"/>
              </a:spcAft>
              <a:buNone/>
            </a:pPr>
            <a:r>
              <a:t/>
            </a:r>
            <a:endParaRPr/>
          </a:p>
        </p:txBody>
      </p:sp>
      <p:sp>
        <p:nvSpPr>
          <p:cNvPr id="314" name="Google Shape;314;p31"/>
          <p:cNvSpPr/>
          <p:nvPr/>
        </p:nvSpPr>
        <p:spPr>
          <a:xfrm>
            <a:off x="6111975" y="3772175"/>
            <a:ext cx="2409000" cy="7884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000000"/>
              </a:buClr>
              <a:buSzPts val="900"/>
              <a:buFont typeface="Arial"/>
              <a:buNone/>
            </a:pPr>
            <a:r>
              <a:rPr lang="es" sz="1100">
                <a:solidFill>
                  <a:schemeClr val="dk1"/>
                </a:solidFill>
                <a:latin typeface="Poppins"/>
                <a:ea typeface="Poppins"/>
                <a:cs typeface="Poppins"/>
                <a:sym typeface="Poppins"/>
              </a:rPr>
              <a:t>Not only suggests a career path but also quantifies the probability of the user feeling satisfie</a:t>
            </a:r>
            <a:r>
              <a:rPr lang="es" sz="1100">
                <a:solidFill>
                  <a:schemeClr val="dk1"/>
                </a:solidFill>
                <a:latin typeface="Poppins"/>
                <a:ea typeface="Poppins"/>
                <a:cs typeface="Poppins"/>
                <a:sym typeface="Poppins"/>
              </a:rPr>
              <a:t>d</a:t>
            </a:r>
            <a:endParaRPr i="0" sz="1100" u="none" cap="none" strike="noStrike">
              <a:solidFill>
                <a:schemeClr val="dk1"/>
              </a:solidFill>
              <a:latin typeface="Poppins"/>
              <a:ea typeface="Poppins"/>
              <a:cs typeface="Poppins"/>
              <a:sym typeface="Poppins"/>
            </a:endParaRPr>
          </a:p>
        </p:txBody>
      </p:sp>
      <p:sp>
        <p:nvSpPr>
          <p:cNvPr id="315" name="Google Shape;315;p31"/>
          <p:cNvSpPr/>
          <p:nvPr/>
        </p:nvSpPr>
        <p:spPr>
          <a:xfrm>
            <a:off x="8899300" y="4810675"/>
            <a:ext cx="1797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2800"/>
              <a:buFont typeface="Arial"/>
              <a:buNone/>
            </a:pPr>
            <a:r>
              <a:rPr lang="es" sz="1700">
                <a:solidFill>
                  <a:schemeClr val="dk1"/>
                </a:solidFill>
                <a:latin typeface="Bebas Neue"/>
                <a:ea typeface="Bebas Neue"/>
                <a:cs typeface="Bebas Neue"/>
                <a:sym typeface="Bebas Neue"/>
              </a:rPr>
              <a:t>16</a:t>
            </a:r>
            <a:endParaRPr i="0" sz="1700" u="none" cap="none" strike="noStrike">
              <a:solidFill>
                <a:schemeClr val="dk1"/>
              </a:solidFill>
              <a:latin typeface="Bebas Neue"/>
              <a:ea typeface="Bebas Neue"/>
              <a:cs typeface="Bebas Neue"/>
              <a:sym typeface="Bebas Neue"/>
            </a:endParaRPr>
          </a:p>
        </p:txBody>
      </p:sp>
      <p:sp>
        <p:nvSpPr>
          <p:cNvPr id="316" name="Google Shape;316;p31"/>
          <p:cNvSpPr/>
          <p:nvPr/>
        </p:nvSpPr>
        <p:spPr>
          <a:xfrm>
            <a:off x="6111975" y="3426575"/>
            <a:ext cx="1807200" cy="234900"/>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4C4C4C"/>
              </a:buClr>
              <a:buSzPts val="1456"/>
              <a:buFont typeface="Arial"/>
              <a:buNone/>
            </a:pPr>
            <a:r>
              <a:rPr i="0" lang="es" sz="1456" u="none" cap="none" strike="noStrike">
                <a:solidFill>
                  <a:schemeClr val="dk1"/>
                </a:solidFill>
                <a:latin typeface="Poppins"/>
                <a:ea typeface="Poppins"/>
                <a:cs typeface="Poppins"/>
                <a:sym typeface="Poppins"/>
              </a:rPr>
              <a:t>Career + Score</a:t>
            </a:r>
            <a:endParaRPr i="0" sz="1456" u="none" cap="none" strike="noStrike">
              <a:solidFill>
                <a:schemeClr val="dk1"/>
              </a:solidFill>
              <a:latin typeface="Poppins"/>
              <a:ea typeface="Poppins"/>
              <a:cs typeface="Poppins"/>
              <a:sym typeface="Poppins"/>
            </a:endParaRPr>
          </a:p>
        </p:txBody>
      </p:sp>
      <p:sp>
        <p:nvSpPr>
          <p:cNvPr id="317" name="Google Shape;317;p31"/>
          <p:cNvSpPr/>
          <p:nvPr/>
        </p:nvSpPr>
        <p:spPr>
          <a:xfrm>
            <a:off x="3367451" y="3426578"/>
            <a:ext cx="2128800" cy="234900"/>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4C4C4C"/>
              </a:buClr>
              <a:buSzPts val="1456"/>
              <a:buFont typeface="Arial"/>
              <a:buNone/>
            </a:pPr>
            <a:r>
              <a:rPr lang="es" sz="1456">
                <a:solidFill>
                  <a:schemeClr val="dk1"/>
                </a:solidFill>
                <a:latin typeface="Poppins"/>
                <a:ea typeface="Poppins"/>
                <a:cs typeface="Poppins"/>
                <a:sym typeface="Poppins"/>
              </a:rPr>
              <a:t>Nonlinear </a:t>
            </a:r>
            <a:r>
              <a:rPr i="0" lang="es" sz="1456" u="none" cap="none" strike="noStrike">
                <a:solidFill>
                  <a:schemeClr val="dk1"/>
                </a:solidFill>
                <a:latin typeface="Poppins"/>
                <a:ea typeface="Poppins"/>
                <a:cs typeface="Poppins"/>
                <a:sym typeface="Poppins"/>
              </a:rPr>
              <a:t>Model</a:t>
            </a:r>
            <a:endParaRPr i="0" sz="1456" u="none" cap="none" strike="noStrike">
              <a:solidFill>
                <a:schemeClr val="dk1"/>
              </a:solidFill>
              <a:latin typeface="Poppins"/>
              <a:ea typeface="Poppins"/>
              <a:cs typeface="Poppins"/>
              <a:sym typeface="Poppins"/>
            </a:endParaRPr>
          </a:p>
        </p:txBody>
      </p:sp>
      <p:sp>
        <p:nvSpPr>
          <p:cNvPr id="318" name="Google Shape;318;p31"/>
          <p:cNvSpPr/>
          <p:nvPr/>
        </p:nvSpPr>
        <p:spPr>
          <a:xfrm>
            <a:off x="622918" y="3426575"/>
            <a:ext cx="2409000" cy="234900"/>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4C4C4C"/>
              </a:buClr>
              <a:buSzPts val="1456"/>
              <a:buFont typeface="Arial"/>
              <a:buNone/>
            </a:pPr>
            <a:r>
              <a:rPr lang="es" sz="1456">
                <a:solidFill>
                  <a:schemeClr val="dk1"/>
                </a:solidFill>
                <a:latin typeface="Poppins"/>
                <a:ea typeface="Poppins"/>
                <a:cs typeface="Poppins"/>
                <a:sym typeface="Poppins"/>
              </a:rPr>
              <a:t>Data </a:t>
            </a:r>
            <a:r>
              <a:rPr i="0" lang="es" sz="1456" u="none" cap="none" strike="noStrike">
                <a:solidFill>
                  <a:schemeClr val="dk1"/>
                </a:solidFill>
                <a:latin typeface="Poppins"/>
                <a:ea typeface="Poppins"/>
                <a:cs typeface="Poppins"/>
                <a:sym typeface="Poppins"/>
              </a:rPr>
              <a:t>Input optimization</a:t>
            </a:r>
            <a:endParaRPr i="0" sz="1456" u="none" cap="none" strike="noStrike">
              <a:solidFill>
                <a:schemeClr val="dk1"/>
              </a:solidFill>
              <a:latin typeface="Poppins"/>
              <a:ea typeface="Poppins"/>
              <a:cs typeface="Poppins"/>
              <a:sym typeface="Poppins"/>
            </a:endParaRPr>
          </a:p>
        </p:txBody>
      </p:sp>
      <p:sp>
        <p:nvSpPr>
          <p:cNvPr id="319" name="Google Shape;319;p31"/>
          <p:cNvSpPr txBox="1"/>
          <p:nvPr/>
        </p:nvSpPr>
        <p:spPr>
          <a:xfrm>
            <a:off x="3072000" y="360800"/>
            <a:ext cx="3000000" cy="71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467">
                <a:solidFill>
                  <a:schemeClr val="dk1"/>
                </a:solidFill>
                <a:latin typeface="Bebas Neue"/>
                <a:ea typeface="Bebas Neue"/>
                <a:cs typeface="Bebas Neue"/>
                <a:sym typeface="Bebas Neue"/>
              </a:rPr>
              <a:t>ORIENT AI</a:t>
            </a:r>
            <a:endParaRPr sz="3467">
              <a:solidFill>
                <a:schemeClr val="dk1"/>
              </a:solidFill>
              <a:latin typeface="Bebas Neue"/>
              <a:ea typeface="Bebas Neue"/>
              <a:cs typeface="Bebas Neue"/>
              <a:sym typeface="Bebas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2"/>
          <p:cNvSpPr txBox="1"/>
          <p:nvPr>
            <p:ph type="title"/>
          </p:nvPr>
        </p:nvSpPr>
        <p:spPr>
          <a:xfrm>
            <a:off x="3188550" y="2185602"/>
            <a:ext cx="2766900" cy="6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620">
                <a:latin typeface="Bebas Neue"/>
                <a:ea typeface="Bebas Neue"/>
                <a:cs typeface="Bebas Neue"/>
                <a:sym typeface="Bebas Neue"/>
              </a:rPr>
              <a:t>ANY QUESTIONS ?</a:t>
            </a:r>
            <a:endParaRPr sz="3620">
              <a:latin typeface="Bebas Neue"/>
              <a:ea typeface="Bebas Neue"/>
              <a:cs typeface="Bebas Neue"/>
              <a:sym typeface="Bebas Neue"/>
            </a:endParaRPr>
          </a:p>
        </p:txBody>
      </p:sp>
      <p:pic>
        <p:nvPicPr>
          <p:cNvPr id="325" name="Google Shape;325;p32"/>
          <p:cNvPicPr preferRelativeResize="0"/>
          <p:nvPr/>
        </p:nvPicPr>
        <p:blipFill rotWithShape="1">
          <a:blip r:embed="rId3">
            <a:alphaModFix/>
          </a:blip>
          <a:srcRect b="22899" l="15649" r="25676" t="0"/>
          <a:stretch/>
        </p:blipFill>
        <p:spPr>
          <a:xfrm rot="-2042891">
            <a:off x="866008" y="1338524"/>
            <a:ext cx="961775" cy="1413444"/>
          </a:xfrm>
          <a:prstGeom prst="rect">
            <a:avLst/>
          </a:prstGeom>
          <a:noFill/>
          <a:ln>
            <a:noFill/>
          </a:ln>
        </p:spPr>
      </p:pic>
      <p:pic>
        <p:nvPicPr>
          <p:cNvPr id="326" name="Google Shape;326;p32"/>
          <p:cNvPicPr preferRelativeResize="0"/>
          <p:nvPr/>
        </p:nvPicPr>
        <p:blipFill>
          <a:blip r:embed="rId3">
            <a:alphaModFix/>
          </a:blip>
          <a:stretch>
            <a:fillRect/>
          </a:stretch>
        </p:blipFill>
        <p:spPr>
          <a:xfrm rot="-673289">
            <a:off x="4527272" y="423582"/>
            <a:ext cx="1321549" cy="1478133"/>
          </a:xfrm>
          <a:prstGeom prst="rect">
            <a:avLst/>
          </a:prstGeom>
          <a:noFill/>
          <a:ln>
            <a:noFill/>
          </a:ln>
        </p:spPr>
      </p:pic>
      <p:pic>
        <p:nvPicPr>
          <p:cNvPr id="327" name="Google Shape;327;p32"/>
          <p:cNvPicPr preferRelativeResize="0"/>
          <p:nvPr/>
        </p:nvPicPr>
        <p:blipFill rotWithShape="1">
          <a:blip r:embed="rId3">
            <a:alphaModFix/>
          </a:blip>
          <a:srcRect b="22899" l="15649" r="25676" t="0"/>
          <a:stretch/>
        </p:blipFill>
        <p:spPr>
          <a:xfrm rot="-379801">
            <a:off x="6931289" y="1335435"/>
            <a:ext cx="1191618" cy="1751259"/>
          </a:xfrm>
          <a:prstGeom prst="rect">
            <a:avLst/>
          </a:prstGeom>
          <a:noFill/>
          <a:ln>
            <a:noFill/>
          </a:ln>
        </p:spPr>
      </p:pic>
      <p:pic>
        <p:nvPicPr>
          <p:cNvPr id="328" name="Google Shape;328;p32"/>
          <p:cNvPicPr preferRelativeResize="0"/>
          <p:nvPr/>
        </p:nvPicPr>
        <p:blipFill rotWithShape="1">
          <a:blip r:embed="rId3">
            <a:alphaModFix/>
          </a:blip>
          <a:srcRect b="22899" l="15649" r="25676" t="0"/>
          <a:stretch/>
        </p:blipFill>
        <p:spPr>
          <a:xfrm rot="2699998">
            <a:off x="2863838" y="961829"/>
            <a:ext cx="523662" cy="769584"/>
          </a:xfrm>
          <a:prstGeom prst="rect">
            <a:avLst/>
          </a:prstGeom>
          <a:noFill/>
          <a:ln>
            <a:noFill/>
          </a:ln>
        </p:spPr>
      </p:pic>
      <p:pic>
        <p:nvPicPr>
          <p:cNvPr id="329" name="Google Shape;329;p32"/>
          <p:cNvPicPr preferRelativeResize="0"/>
          <p:nvPr/>
        </p:nvPicPr>
        <p:blipFill rotWithShape="1">
          <a:blip r:embed="rId3">
            <a:alphaModFix/>
          </a:blip>
          <a:srcRect b="22899" l="15649" r="25676" t="0"/>
          <a:stretch/>
        </p:blipFill>
        <p:spPr>
          <a:xfrm rot="-2042890">
            <a:off x="3668474" y="3418421"/>
            <a:ext cx="479655" cy="704912"/>
          </a:xfrm>
          <a:prstGeom prst="rect">
            <a:avLst/>
          </a:prstGeom>
          <a:noFill/>
          <a:ln>
            <a:noFill/>
          </a:ln>
        </p:spPr>
      </p:pic>
      <p:pic>
        <p:nvPicPr>
          <p:cNvPr id="330" name="Google Shape;330;p32"/>
          <p:cNvPicPr preferRelativeResize="0"/>
          <p:nvPr/>
        </p:nvPicPr>
        <p:blipFill rotWithShape="1">
          <a:blip r:embed="rId3">
            <a:alphaModFix/>
          </a:blip>
          <a:srcRect b="22899" l="15649" r="25676" t="0"/>
          <a:stretch/>
        </p:blipFill>
        <p:spPr>
          <a:xfrm rot="5262413">
            <a:off x="5626211" y="3039578"/>
            <a:ext cx="851214" cy="1250952"/>
          </a:xfrm>
          <a:prstGeom prst="rect">
            <a:avLst/>
          </a:prstGeom>
          <a:noFill/>
          <a:ln>
            <a:noFill/>
          </a:ln>
        </p:spPr>
      </p:pic>
      <p:pic>
        <p:nvPicPr>
          <p:cNvPr id="331" name="Google Shape;331;p32"/>
          <p:cNvPicPr preferRelativeResize="0"/>
          <p:nvPr/>
        </p:nvPicPr>
        <p:blipFill rotWithShape="1">
          <a:blip r:embed="rId3">
            <a:alphaModFix/>
          </a:blip>
          <a:srcRect b="22899" l="15649" r="25676" t="0"/>
          <a:stretch/>
        </p:blipFill>
        <p:spPr>
          <a:xfrm rot="10436808">
            <a:off x="1913281" y="3094378"/>
            <a:ext cx="776610" cy="114133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